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777240"/>
            <a:ext cx="1554480" cy="1554480"/>
          </a:xfrm>
          <a:prstGeom prst="ellipse">
            <a:avLst/>
          </a:prstGeom>
          <a:solidFill>
            <a:srgbClr val="007A6E"/>
          </a:solidFill>
          <a:ln w="38100">
            <a:solidFill>
              <a:srgbClr val="00A8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7772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34640" y="8229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LIBSEAT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834640" y="1783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A878"/>
                </a:solidFill>
              </a:rPr>
              <a:t>Library Seat &amp; Resource Management System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34640" y="2377440"/>
            <a:ext cx="5303520" cy="36576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4871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85"/>
                </a:solidFill>
              </a:rPr>
              <a:t>BITS Pilani Hyderabad  ·  Product Requirements Document  ·  PM Portfolio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301752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007A6E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3017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PostgreSQL Backend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28032" y="301752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007A6E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3017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Flask REST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21424" y="301752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007A6E"/>
          </a:solidFill>
          <a:ln/>
        </p:spPr>
      </p:sp>
      <p:sp>
        <p:nvSpPr>
          <p:cNvPr id="14" name="Text 12"/>
          <p:cNvSpPr/>
          <p:nvPr/>
        </p:nvSpPr>
        <p:spPr>
          <a:xfrm>
            <a:off x="6821424" y="3017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+ Librarian Portal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4709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2024  ·  Academic Product Case Study  ·  BITS Pilani Hyderabad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57200" cy="7498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893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Seat scarcity, book conflicts &amp; admin overhead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48840"/>
            <a:ext cx="457200" cy="7498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037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User Personas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542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Students, Librarians, Admins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457200" cy="7498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632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181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System Overview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4564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Architecture, tech stack &amp; data 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77640"/>
            <a:ext cx="457200" cy="7498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9776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0325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Core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3708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Booking, availability &amp; conflict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2344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234440"/>
            <a:ext cx="457200" cy="7498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2344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2893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Triggers &amp; Automation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1627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Auto-reassignment on seat/book removal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1488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148840"/>
            <a:ext cx="457200" cy="7498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1488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2037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Librarian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542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Stats, analytics &amp; holiday management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063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063240"/>
            <a:ext cx="457200" cy="7498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0632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31181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Success Metrics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34564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KPIs for adoption &amp; operational efficiency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9776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977640"/>
            <a:ext cx="457200" cy="7498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9776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0325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Roadmap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43708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Phase-wise delivery plan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"Students at BITS Pilani Hyderabad spend valuable time hunting for library seats and reference books with no centralised visibility into availability — leading to wasted trips, double-bookings, and frustrated librarians."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2651760" cy="251460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76272"/>
            <a:ext cx="265176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2860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🪑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75488" y="29809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Seat Visibility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3383280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E4DA"/>
                </a:solidFill>
              </a:rPr>
              <a:t>Students walk to the library only to find all seats occupied; zero real-time availability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176272"/>
            <a:ext cx="2651760" cy="251460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176272"/>
            <a:ext cx="265176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2860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10128" y="29809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Book Conflicts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3383280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E4DA"/>
                </a:solidFill>
              </a:rPr>
              <a:t>Multiple students reserve the same reference book for overlapping time slots causing disputes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176272"/>
            <a:ext cx="2651760" cy="251460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76272"/>
            <a:ext cx="26517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2860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44768" y="29809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Manual Overhead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3383280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E4DA"/>
                </a:solidFill>
              </a:rPr>
              <a:t>Librarians manually manage holiday cancellations, seat reassignments, and daily booking logs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PERSONAS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743200" cy="54864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261872"/>
            <a:ext cx="1005840" cy="1005840"/>
          </a:xfrm>
          <a:prstGeom prst="ellipse">
            <a:avLst/>
          </a:prstGeom>
          <a:solidFill>
            <a:srgbClr val="007A6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2618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9768" y="2359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Aryan, 2nd Year 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724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6E"/>
                </a:solidFill>
              </a:rPr>
              <a:t>Student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30632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26"/>
                </a:solidFill>
              </a:rPr>
              <a:t>Goals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3337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D26"/>
                </a:solidFill>
              </a:rPr>
              <a:t>• Book a seat + reference book together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3630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D26"/>
                </a:solidFill>
              </a:rPr>
              <a:t>• Check real-time seat availability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39227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D26"/>
                </a:solidFill>
              </a:rPr>
              <a:t>• See booking history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Pain Points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44805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• Wasted trips to full library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" y="47274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• Can't reserve books in advance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" y="4974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• No group seating coordination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64408" y="114300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1143000"/>
            <a:ext cx="27432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Shape 18"/>
          <p:cNvSpPr/>
          <p:nvPr/>
        </p:nvSpPr>
        <p:spPr>
          <a:xfrm>
            <a:off x="4133088" y="1261872"/>
            <a:ext cx="1005840" cy="10058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4133088" y="12618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74136" y="2359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Dr. Priya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74136" y="2724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Librarian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0632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26"/>
                </a:solidFill>
              </a:rPr>
              <a:t>Goals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337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D26"/>
                </a:solidFill>
              </a:rPr>
              <a:t>• Monitor seat occupancy by room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3630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D26"/>
                </a:solidFill>
              </a:rPr>
              <a:t>• Declare holidays &amp; auto-cancel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39227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D26"/>
                </a:solidFill>
              </a:rPr>
              <a:t>• Generate daily usage reports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Pain Points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44805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• Manual cancellation on holidays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29000" y="47274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• No live dashboard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29000" y="4974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• Book conflicts with same ISBN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08776" y="114300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08776" y="1143000"/>
            <a:ext cx="274320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4" name="Shape 32"/>
          <p:cNvSpPr/>
          <p:nvPr/>
        </p:nvSpPr>
        <p:spPr>
          <a:xfrm>
            <a:off x="7077456" y="1261872"/>
            <a:ext cx="1005840" cy="100584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35" name="Text 33"/>
          <p:cNvSpPr/>
          <p:nvPr/>
        </p:nvSpPr>
        <p:spPr>
          <a:xfrm>
            <a:off x="7077456" y="12618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318504" y="2359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Srinivas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18504" y="2724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8"/>
                </a:solidFill>
              </a:rPr>
              <a:t>System Admin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73368" y="30632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26"/>
                </a:solidFill>
              </a:rPr>
              <a:t>Goals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73368" y="3337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D26"/>
                </a:solidFill>
              </a:rPr>
              <a:t>• Add/remove seats and books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73368" y="3630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D26"/>
                </a:solidFill>
              </a:rPr>
              <a:t>• Manage student records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73368" y="39227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D26"/>
                </a:solidFill>
              </a:rPr>
              <a:t>• Ensure data integrity via triggers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73368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Pain Points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73368" y="44805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• Cascading conflicts on seat removal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73368" y="47274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• No automated reassignment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73368" y="4974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85"/>
                </a:solidFill>
              </a:rPr>
              <a:t>• Manual email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920240" cy="155448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192024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07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🐘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84632" y="18013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148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E4DA"/>
                </a:solidFill>
              </a:rPr>
              <a:t>Primary 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E4DA"/>
                </a:solidFill>
              </a:rPr>
              <a:t>Triggers &amp; Procedures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32888" y="1143000"/>
            <a:ext cx="1920240" cy="155448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32888" y="1143000"/>
            <a:ext cx="192024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2532888" y="1207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18013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Flask (Python)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148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E4DA"/>
                </a:solidFill>
              </a:rPr>
              <a:t>REST API Backend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E4DA"/>
                </a:solidFill>
              </a:rPr>
              <a:t>Route Handlers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1143000"/>
            <a:ext cx="1920240" cy="155448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143000"/>
            <a:ext cx="192024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6" name="Text 14"/>
          <p:cNvSpPr/>
          <p:nvPr/>
        </p:nvSpPr>
        <p:spPr>
          <a:xfrm>
            <a:off x="4654296" y="1207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27448" y="18013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 Frontend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7448" y="2148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E4DA"/>
                </a:solidFill>
              </a:rPr>
              <a:t>Student Portal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E4DA"/>
                </a:solidFill>
              </a:rPr>
              <a:t>Librarian Dashboard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75704" y="1143000"/>
            <a:ext cx="1920240" cy="155448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1143000"/>
            <a:ext cx="192024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21" name="Text 19"/>
          <p:cNvSpPr/>
          <p:nvPr/>
        </p:nvSpPr>
        <p:spPr>
          <a:xfrm>
            <a:off x="6775704" y="1207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48856" y="18013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48856" y="2148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E4DA"/>
                </a:solidFill>
              </a:rPr>
              <a:t>Email Validation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E4DA"/>
                </a:solidFill>
              </a:rPr>
              <a:t>@hyderabad.bits-pilani.ac.in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</a:rPr>
              <a:t>Core Data Model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1600200" cy="150876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91840"/>
            <a:ext cx="1600200" cy="329184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2918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" y="36758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student_id (PK)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40233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name, email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" y="43708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@bits email enforced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0" y="3291840"/>
            <a:ext cx="1600200" cy="150876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11680" y="3291840"/>
            <a:ext cx="1600200" cy="32918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3" name="Text 31"/>
          <p:cNvSpPr/>
          <p:nvPr/>
        </p:nvSpPr>
        <p:spPr>
          <a:xfrm>
            <a:off x="2011680" y="32918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4832" y="36758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seat_id (PK)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84832" y="40233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seat_no, location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84832" y="43708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managed by trigger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0" y="3291840"/>
            <a:ext cx="1600200" cy="150876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49040" y="3291840"/>
            <a:ext cx="1600200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9" name="Text 37"/>
          <p:cNvSpPr/>
          <p:nvPr/>
        </p:nvSpPr>
        <p:spPr>
          <a:xfrm>
            <a:off x="3749040" y="32918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22192" y="36758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b_id (PK)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22192" y="40233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isbn, b_name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22192" y="43708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authors, category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0" y="3291840"/>
            <a:ext cx="1600200" cy="150876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3291840"/>
            <a:ext cx="1600200" cy="32918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0" y="32918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59552" y="36758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student_id (FK)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59552" y="40233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seat_id (FK)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59552" y="43708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start_time, end_time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23760" y="3291840"/>
            <a:ext cx="1600200" cy="150876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23760" y="3291840"/>
            <a:ext cx="1600200" cy="329184"/>
          </a:xfrm>
          <a:prstGeom prst="rect">
            <a:avLst/>
          </a:prstGeom>
          <a:solidFill>
            <a:srgbClr val="3D5A6C"/>
          </a:solidFill>
          <a:ln/>
        </p:spPr>
      </p:sp>
      <p:sp>
        <p:nvSpPr>
          <p:cNvPr id="51" name="Text 49"/>
          <p:cNvSpPr/>
          <p:nvPr/>
        </p:nvSpPr>
        <p:spPr>
          <a:xfrm>
            <a:off x="7223760" y="32918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BookingBook_ID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296912" y="36758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student_id (FK)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96912" y="40233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book_id (FK)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96912" y="43708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DA"/>
                </a:solidFill>
              </a:rPr>
              <a:t>start_time, end_time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874520" y="40416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78"/>
                </a:solidFill>
              </a:rPr>
              <a:t>→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611880" y="40416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78"/>
                </a:solidFill>
              </a:rPr>
              <a:t>→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349240" y="40416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78"/>
                </a:solidFill>
              </a:rPr>
              <a:t>→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086600" y="40416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78"/>
                </a:solidFill>
              </a:rPr>
              <a:t>→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CORE FEATURES — BOOKING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54864" cy="16642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6" name="Shape 4"/>
          <p:cNvSpPr/>
          <p:nvPr/>
        </p:nvSpPr>
        <p:spPr>
          <a:xfrm>
            <a:off x="2258568" y="1261872"/>
            <a:ext cx="658368" cy="237744"/>
          </a:xfrm>
          <a:prstGeom prst="roundRect">
            <a:avLst>
              <a:gd name="adj" fmla="val 30769"/>
            </a:avLst>
          </a:prstGeom>
          <a:solidFill>
            <a:srgbClr val="007A6E"/>
          </a:solidFill>
          <a:ln/>
        </p:spPr>
      </p:sp>
      <p:sp>
        <p:nvSpPr>
          <p:cNvPr id="7" name="Text 5"/>
          <p:cNvSpPr/>
          <p:nvPr/>
        </p:nvSpPr>
        <p:spPr>
          <a:xfrm>
            <a:off x="2258568" y="1261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P0 · MVP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48056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🪑 Seat Availability Check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6E"/>
                </a:solidFill>
              </a:rPr>
              <a:t>/available-seats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19933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5"/>
                </a:solidFill>
              </a:rPr>
              <a:t>Real-time query returns all seats not booked during the requested time window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54864" cy="1664208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3" name="Shape 11"/>
          <p:cNvSpPr/>
          <p:nvPr/>
        </p:nvSpPr>
        <p:spPr>
          <a:xfrm>
            <a:off x="5184648" y="1261872"/>
            <a:ext cx="658368" cy="237744"/>
          </a:xfrm>
          <a:prstGeom prst="roundRect">
            <a:avLst>
              <a:gd name="adj" fmla="val 30769"/>
            </a:avLst>
          </a:prstGeom>
          <a:solidFill>
            <a:srgbClr val="00A878"/>
          </a:solidFill>
          <a:ln/>
        </p:spPr>
      </p:sp>
      <p:sp>
        <p:nvSpPr>
          <p:cNvPr id="14" name="Text 12"/>
          <p:cNvSpPr/>
          <p:nvPr/>
        </p:nvSpPr>
        <p:spPr>
          <a:xfrm>
            <a:off x="5184648" y="1261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P0 · MVP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74136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📖 Book Availability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74136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78"/>
                </a:solidFill>
              </a:rPr>
              <a:t>/available-books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74136" y="19933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5"/>
                </a:solidFill>
              </a:rPr>
              <a:t>Returns books not currently assigned to any booking overlapping the requested slot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18872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188720"/>
            <a:ext cx="54864" cy="16642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0728" y="1261872"/>
            <a:ext cx="658368" cy="237744"/>
          </a:xfrm>
          <a:prstGeom prst="roundRect">
            <a:avLst>
              <a:gd name="adj" fmla="val 30769"/>
            </a:avLst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8110728" y="1261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P0 · MVP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00216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⏱ Conflict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0216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/check-booking-conflict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0216" y="19933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5"/>
                </a:solidFill>
              </a:rPr>
              <a:t>PostgreSQL function validates no time-overlap exists for the student before confirming booking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17520"/>
            <a:ext cx="54864" cy="16642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Shape 25"/>
          <p:cNvSpPr/>
          <p:nvPr/>
        </p:nvSpPr>
        <p:spPr>
          <a:xfrm>
            <a:off x="2258568" y="3090672"/>
            <a:ext cx="658368" cy="237744"/>
          </a:xfrm>
          <a:prstGeom prst="roundRect">
            <a:avLst>
              <a:gd name="adj" fmla="val 30769"/>
            </a:avLst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2258568" y="30906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P0 · MVP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48056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📋 Booking History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/booking-history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" y="38221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5"/>
                </a:solidFill>
              </a:rPr>
              <a:t>Full join across booking, seat, and book tables returns paginated history for any student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01752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017520"/>
            <a:ext cx="54864" cy="1664208"/>
          </a:xfrm>
          <a:prstGeom prst="rect">
            <a:avLst/>
          </a:prstGeom>
          <a:solidFill>
            <a:srgbClr val="3D5A6C"/>
          </a:solidFill>
          <a:ln/>
        </p:spPr>
      </p:sp>
      <p:sp>
        <p:nvSpPr>
          <p:cNvPr id="34" name="Shape 32"/>
          <p:cNvSpPr/>
          <p:nvPr/>
        </p:nvSpPr>
        <p:spPr>
          <a:xfrm>
            <a:off x="5184648" y="3090672"/>
            <a:ext cx="658368" cy="237744"/>
          </a:xfrm>
          <a:prstGeom prst="roundRect">
            <a:avLst>
              <a:gd name="adj" fmla="val 30769"/>
            </a:avLst>
          </a:prstGeom>
          <a:solidFill>
            <a:srgbClr val="3D5A6C"/>
          </a:solidFill>
          <a:ln/>
        </p:spPr>
      </p:sp>
      <p:sp>
        <p:nvSpPr>
          <p:cNvPr id="35" name="Text 33"/>
          <p:cNvSpPr/>
          <p:nvPr/>
        </p:nvSpPr>
        <p:spPr>
          <a:xfrm>
            <a:off x="5184648" y="30906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74136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📌 Current Booking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74136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6C"/>
                </a:solidFill>
              </a:rPr>
              <a:t>/current-booking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74136" y="38221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5"/>
                </a:solidFill>
              </a:rPr>
              <a:t>Retrieves the student's most recent active booking with seat and book details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3017520"/>
            <a:ext cx="26974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3017520"/>
            <a:ext cx="54864" cy="1664208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41" name="Shape 39"/>
          <p:cNvSpPr/>
          <p:nvPr/>
        </p:nvSpPr>
        <p:spPr>
          <a:xfrm>
            <a:off x="8110728" y="3090672"/>
            <a:ext cx="658368" cy="237744"/>
          </a:xfrm>
          <a:prstGeom prst="roundRect">
            <a:avLst>
              <a:gd name="adj" fmla="val 30769"/>
            </a:avLst>
          </a:prstGeom>
          <a:solidFill>
            <a:srgbClr val="007A6E"/>
          </a:solidFill>
          <a:ln/>
        </p:spPr>
      </p:sp>
      <p:sp>
        <p:nvSpPr>
          <p:cNvPr id="42" name="Text 40"/>
          <p:cNvSpPr/>
          <p:nvPr/>
        </p:nvSpPr>
        <p:spPr>
          <a:xfrm>
            <a:off x="8110728" y="30906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00216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26"/>
                </a:solidFill>
              </a:rPr>
              <a:t>🏖️ Holiday Declaration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00216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6E"/>
                </a:solidFill>
              </a:rPr>
              <a:t>Stored Procedure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0216" y="38221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5"/>
                </a:solidFill>
              </a:rPr>
              <a:t>Librarian triggers procedure that deletes all next-day bookings when holiday is declared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TRIGGERS &amp; AUTOMATION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69080" cy="361188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6908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6" name="Shape 4"/>
          <p:cNvSpPr/>
          <p:nvPr/>
        </p:nvSpPr>
        <p:spPr>
          <a:xfrm>
            <a:off x="2788920" y="1234440"/>
            <a:ext cx="1554480" cy="274320"/>
          </a:xfrm>
          <a:prstGeom prst="roundRect">
            <a:avLst>
              <a:gd name="adj" fmla="val 33333"/>
            </a:avLst>
          </a:prstGeom>
          <a:solidFill>
            <a:srgbClr val="00A878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BEFORE DELETE ON seat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Seat Deletion → Auto-Reassign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T-01 — Logic Flow: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256032" cy="256032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084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06654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Admin deletes a seat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340864"/>
            <a:ext cx="0" cy="256032"/>
          </a:xfrm>
          <a:prstGeom prst="line">
            <a:avLst/>
          </a:prstGeom>
          <a:noFill/>
          <a:ln w="19050">
            <a:solidFill>
              <a:srgbClr val="00A87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66928" y="2615184"/>
            <a:ext cx="256032" cy="256032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615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59689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Trigger fires BEFORE DELETE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871216"/>
            <a:ext cx="0" cy="256032"/>
          </a:xfrm>
          <a:prstGeom prst="line">
            <a:avLst/>
          </a:prstGeom>
          <a:noFill/>
          <a:ln w="19050">
            <a:solidFill>
              <a:srgbClr val="00A87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66928" y="3145536"/>
            <a:ext cx="256032" cy="256032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1272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Finds next available free seat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3401568"/>
            <a:ext cx="0" cy="256032"/>
          </a:xfrm>
          <a:prstGeom prst="line">
            <a:avLst/>
          </a:prstGeom>
          <a:noFill/>
          <a:ln w="19050">
            <a:solidFill>
              <a:srgbClr val="00A87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66928" y="3675888"/>
            <a:ext cx="256032" cy="256032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675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6576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Reassigns all affected bookings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3931920"/>
            <a:ext cx="0" cy="256032"/>
          </a:xfrm>
          <a:prstGeom prst="line">
            <a:avLst/>
          </a:prstGeom>
          <a:noFill/>
          <a:ln w="19050">
            <a:solidFill>
              <a:srgbClr val="00A87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66928" y="4206240"/>
            <a:ext cx="256032" cy="256032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206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41879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Cancels bookings with no alternative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1143000"/>
            <a:ext cx="4069080" cy="361188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143000"/>
            <a:ext cx="406908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Shape 29"/>
          <p:cNvSpPr/>
          <p:nvPr/>
        </p:nvSpPr>
        <p:spPr>
          <a:xfrm>
            <a:off x="7223760" y="1234440"/>
            <a:ext cx="1554480" cy="274320"/>
          </a:xfrm>
          <a:prstGeom prst="roundRect">
            <a:avLst>
              <a:gd name="adj" fmla="val 33333"/>
            </a:avLst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BEFORE DELETE ON book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83480" y="12618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📚 Book Deletion → ISBN Match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T-02 — Logic Flow: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01768" y="2084832"/>
            <a:ext cx="256032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6" name="Text 34"/>
          <p:cNvSpPr/>
          <p:nvPr/>
        </p:nvSpPr>
        <p:spPr>
          <a:xfrm>
            <a:off x="5001768" y="2084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49240" y="206654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Librarian removes a book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20640" y="2340864"/>
            <a:ext cx="0" cy="256032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001768" y="2615184"/>
            <a:ext cx="256032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0" name="Text 38"/>
          <p:cNvSpPr/>
          <p:nvPr/>
        </p:nvSpPr>
        <p:spPr>
          <a:xfrm>
            <a:off x="5001768" y="2615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259689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Trigger fires BEFORE DELETE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2871216"/>
            <a:ext cx="0" cy="256032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001768" y="3145536"/>
            <a:ext cx="256032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4" name="Text 42"/>
          <p:cNvSpPr/>
          <p:nvPr/>
        </p:nvSpPr>
        <p:spPr>
          <a:xfrm>
            <a:off x="5001768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49240" y="31272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Finds same-ISBN copy that's free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120640" y="3401568"/>
            <a:ext cx="0" cy="256032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001768" y="3675888"/>
            <a:ext cx="256032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8" name="Text 46"/>
          <p:cNvSpPr/>
          <p:nvPr/>
        </p:nvSpPr>
        <p:spPr>
          <a:xfrm>
            <a:off x="5001768" y="3675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49240" y="36576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Reassigns all affected BookingBook_IDs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120640" y="3931920"/>
            <a:ext cx="0" cy="256032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001768" y="4206240"/>
            <a:ext cx="256032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2" name="Text 50"/>
          <p:cNvSpPr/>
          <p:nvPr/>
        </p:nvSpPr>
        <p:spPr>
          <a:xfrm>
            <a:off x="5001768" y="4206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49240" y="41879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Cancels booking-books with no copy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7E4DA"/>
                </a:solidFill>
              </a:rPr>
              <a:t>💡  Both triggers follow a Try-Reassign-Then-Cancel pattern — zero data loss, maximum service continuity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LIBRARIAN DASHBOARD &amp; ANALYTICS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114800" cy="54864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2527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3075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Hourly Occupancy Stats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At each 1-hour interval, shows total seats occupied across all locations — enables librarians to identify peak usage windows and plan staffing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411480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2527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13075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Room Occupancy 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Percentage of seats occupied per room/location at each hour — identifies underutilised spaces and bottleneck rooms for capacity planning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148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1148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31272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97280" y="31821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Last Seat Alert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" y="3703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Trigger-driven alert fires when only 1 seat remains in a given location — displayed on dashboard and optionally sent to the waiting list queue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148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41148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31272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🏖️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31821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Holiday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18888" y="3703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Stored procedure deletes all next-day bookings in a single atomic transaction when librarian declares a holiday — with audit log entry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SUCCESS METRICS &amp; KPIs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69164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78"/>
                </a:solidFill>
              </a:rPr>
              <a:t>🎓  Student Experience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55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Seat Booking Completion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07792" y="1700784"/>
            <a:ext cx="1325880" cy="27432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07792" y="170078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&gt; 90% successful bookings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2039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Avg. Time to Find Available Seat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07792" y="2084832"/>
            <a:ext cx="1325880" cy="27432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07792" y="20848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30 seconds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Double-Booking Incidents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07792" y="2468880"/>
            <a:ext cx="1325880" cy="27432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07792" y="24688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 conflicts post-launch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023360" cy="169164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402336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📋  Librarian Efficiency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1655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Holiday Cancellation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96912" y="1700784"/>
            <a:ext cx="1325880" cy="27432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96912" y="170078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10 seconds (vs. hours manually)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19472" y="2039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Manual Intervention 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96912" y="2084832"/>
            <a:ext cx="1325880" cy="27432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96912" y="20848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5% of daily bookings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19472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Dashboard Load Time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96912" y="2468880"/>
            <a:ext cx="1325880" cy="274320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96912" y="24688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2 seconds for hourly stats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971800"/>
            <a:ext cx="4023360" cy="169164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971800"/>
            <a:ext cx="4023360" cy="54864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063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6E"/>
                </a:solidFill>
              </a:rPr>
              <a:t>⚙️  System Health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" y="3483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Trigger Execution Success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07792" y="3529584"/>
            <a:ext cx="1325880" cy="27432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07792" y="352958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&gt; 99.9%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0352" y="38679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Seat Reassignment Rate on Deletion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07792" y="3913632"/>
            <a:ext cx="1325880" cy="27432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07792" y="39136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&gt; 80% auto-resolved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0352" y="4251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Database Query Response Time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07792" y="4297680"/>
            <a:ext cx="1325880" cy="274320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907792" y="42976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500ms for availability queries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2971800"/>
            <a:ext cx="4023360" cy="1691640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971800"/>
            <a:ext cx="40233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063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📈  Adoption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919472" y="3483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Weekly Active Students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96912" y="3529584"/>
            <a:ext cx="1325880" cy="27432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296912" y="352958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&gt; 60% of enrolled using portal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19472" y="38679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Repeat Booking Rate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96912" y="3913632"/>
            <a:ext cx="1325880" cy="274320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296912" y="39136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&gt; 70% of users book again in 7 days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19472" y="4251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Librarian Dashboard DAU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96912" y="4297680"/>
            <a:ext cx="1325880" cy="274320"/>
          </a:xfrm>
          <a:prstGeom prst="rect">
            <a:avLst/>
          </a:prstGeom>
          <a:solidFill>
            <a:srgbClr val="007A6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296912" y="42976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100% of librarians daily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TECHNICAL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0690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069080" cy="54864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D26"/>
                </a:solidFill>
              </a:rPr>
              <a:t>⚡  PostgreSQL Functions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3840480" cy="868680"/>
          </a:xfrm>
          <a:prstGeom prst="rect">
            <a:avLst/>
          </a:prstGeom>
          <a:solidFill>
            <a:srgbClr val="F2FAF8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19072"/>
            <a:ext cx="54864" cy="868680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check_booking_conflict()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482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5"/>
                </a:solidFill>
              </a:rPr>
              <a:t>Returns BOOLEAN — checks if student has overlapping booking. Called before every INSERT into booking table.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724912"/>
            <a:ext cx="3840480" cy="868680"/>
          </a:xfrm>
          <a:prstGeom prst="rect">
            <a:avLst/>
          </a:prstGeom>
          <a:solidFill>
            <a:srgbClr val="F2FAF8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724912"/>
            <a:ext cx="54864" cy="868680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get_seat_count()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0540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5"/>
                </a:solidFill>
              </a:rPr>
              <a:t>Returns INT count of seats in a given location. Used internally by get_next_available_seat().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730752"/>
            <a:ext cx="3840480" cy="868680"/>
          </a:xfrm>
          <a:prstGeom prst="rect">
            <a:avLst/>
          </a:prstGeom>
          <a:solidFill>
            <a:srgbClr val="F2FAF8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730752"/>
            <a:ext cx="54864" cy="868680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get_next_available_seat()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0599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85"/>
                </a:solidFill>
              </a:rPr>
              <a:t>Uses generate_series() to find the lowest-numbered unoccupied seat_no in a location. Supports auto-assignment.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0690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43000"/>
            <a:ext cx="406908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D26"/>
                </a:solidFill>
              </a:rPr>
              <a:t>🔌  API Endpoints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691640"/>
            <a:ext cx="3840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173736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07A6E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7373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68112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/available-seats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24928" y="1737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85"/>
                </a:solidFill>
              </a:rPr>
              <a:t>Check free seats for time window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2194560"/>
            <a:ext cx="3840480" cy="41148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224028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07A6E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2402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68112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/available-books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24928" y="22402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85"/>
                </a:solidFill>
              </a:rPr>
              <a:t>Check free books for time window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2697480"/>
            <a:ext cx="3840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892040" y="274320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07A6E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743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68112" y="2743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/check-booking-conflict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24928" y="2743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85"/>
                </a:solidFill>
              </a:rPr>
              <a:t>Validate no overlap before booking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200400"/>
            <a:ext cx="3840480" cy="41148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2040" y="32461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07A6E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2461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68112" y="3246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/booking-history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24928" y="32461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85"/>
                </a:solidFill>
              </a:rPr>
              <a:t>Full history for a student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3703320"/>
            <a:ext cx="3840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892040" y="3749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07A6E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749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68112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/current-booking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24928" y="37490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85"/>
                </a:solidFill>
              </a:rPr>
              <a:t>Active booking for a student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0" y="4206240"/>
            <a:ext cx="3840480" cy="411480"/>
          </a:xfrm>
          <a:prstGeom prst="rect">
            <a:avLst/>
          </a:prstGeom>
          <a:solidFill>
            <a:srgbClr val="F2FAF8"/>
          </a:solidFill>
          <a:ln/>
        </p:spPr>
      </p:sp>
      <p:sp>
        <p:nvSpPr>
          <p:cNvPr id="48" name="Shape 46"/>
          <p:cNvSpPr/>
          <p:nvPr/>
        </p:nvSpPr>
        <p:spPr>
          <a:xfrm>
            <a:off x="4892040" y="425196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42519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468112" y="4251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/declare-holiday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24928" y="42519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85"/>
                </a:solidFill>
              </a:rPr>
              <a:t>Trigger holiday procedure (Librarian)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8412480" cy="73152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19456" cy="219456"/>
          </a:xfrm>
          <a:prstGeom prst="ellipse">
            <a:avLst/>
          </a:prstGeom>
          <a:solidFill>
            <a:srgbClr val="007A6E"/>
          </a:solidFill>
          <a:ln/>
        </p:spPr>
      </p:sp>
      <p:sp>
        <p:nvSpPr>
          <p:cNvPr id="6" name="Shape 4"/>
          <p:cNvSpPr/>
          <p:nvPr/>
        </p:nvSpPr>
        <p:spPr>
          <a:xfrm>
            <a:off x="3063240" y="1097280"/>
            <a:ext cx="219456" cy="219456"/>
          </a:xfrm>
          <a:prstGeom prst="ellipse">
            <a:avLst/>
          </a:prstGeom>
          <a:solidFill>
            <a:srgbClr val="007A6E"/>
          </a:solidFill>
          <a:ln/>
        </p:spPr>
      </p:sp>
      <p:sp>
        <p:nvSpPr>
          <p:cNvPr id="7" name="Shape 5"/>
          <p:cNvSpPr/>
          <p:nvPr/>
        </p:nvSpPr>
        <p:spPr>
          <a:xfrm>
            <a:off x="5897880" y="1097280"/>
            <a:ext cx="219456" cy="219456"/>
          </a:xfrm>
          <a:prstGeom prst="ellipse">
            <a:avLst/>
          </a:prstGeom>
          <a:solidFill>
            <a:srgbClr val="007A6E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26464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26464"/>
            <a:ext cx="2697480" cy="54864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361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6E"/>
                </a:solidFill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536192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Week 1–3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8653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Core Booking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6E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Student registration with email validation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7340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6E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Seat availability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136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6E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Book availability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6E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Conflict detection function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9410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6E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Basic booking creation 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544568"/>
            <a:ext cx="2697480" cy="256032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4544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✅ Validate core booking + conflict detection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426464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426464"/>
            <a:ext cx="2697480" cy="54864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15361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78"/>
                </a:solidFill>
              </a:rPr>
              <a:t>Phase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536192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Week 4–6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18653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Automation &amp; Triggers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55848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Seat deletion trigger (auto-reassign)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5848" y="27340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Book deletion trigger (ISBN match)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3136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Holiday declaration procedure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55848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Last-seat alert trigger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39410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Booking history &amp; current booking APIs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544568"/>
            <a:ext cx="2697480" cy="25603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1" name="Text 29"/>
          <p:cNvSpPr/>
          <p:nvPr/>
        </p:nvSpPr>
        <p:spPr>
          <a:xfrm>
            <a:off x="3319272" y="4544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✅ Zero-touch seat &amp; book reassignment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1426464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426464"/>
            <a:ext cx="269748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15361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Phase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1536192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5"/>
                </a:solidFill>
              </a:rPr>
              <a:t>Week 7–8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18653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26"/>
                </a:solidFill>
              </a:rPr>
              <a:t>Analytics &amp; Dashboard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6208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Hourly occupancy stats query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27340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Room-level occupancy % report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3136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Librarian web dashboard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Export booking reports (CSV)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39410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2D26"/>
                </a:solidFill>
              </a:rPr>
              <a:t>Mobile-responsive student portal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4544568"/>
            <a:ext cx="269748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3" name="Text 41"/>
          <p:cNvSpPr/>
          <p:nvPr/>
        </p:nvSpPr>
        <p:spPr>
          <a:xfrm>
            <a:off x="6199632" y="4544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✅ Librarian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LIBSEAT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27632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1627632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</a:rPr>
              <a:t>Resilient by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E4DA"/>
                </a:solidFill>
              </a:rPr>
              <a:t>BEFORE DELETE triggers ensure no student ever loses a booking without an alternative — the system degrades gracefully, not catastrophically.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627632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02920" cy="1627632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801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325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</a:rPr>
              <a:t>Sub-Second Availability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69164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E4DA"/>
                </a:solidFill>
              </a:rPr>
              <a:t>Optimised NOT IN subqueries with time-overlap logic deliver real-time seat and book availability without full table scans.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023360" cy="1627632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502920" cy="1627632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</a:rPr>
              <a:t>Domain-Specific Auth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E4DA"/>
                </a:solidFill>
              </a:rPr>
              <a:t>Email validation enforced at the procedure level ensures only legitimate BITS Pilani Hyderabad students can register — no application-layer loophole.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023360" cy="1627632"/>
          </a:xfrm>
          <a:prstGeom prst="rect">
            <a:avLst/>
          </a:prstGeom>
          <a:solidFill>
            <a:srgbClr val="121E30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502920" cy="1627632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108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78"/>
                </a:solidFill>
              </a:rPr>
              <a:t>Built-in 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47472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E4DA"/>
                </a:solidFill>
              </a:rPr>
              <a:t>Hourly occupancy and room utilisation queries are native SQL — no external BI tool needed for the librarian to make data-driven decisions.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07A6E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LibSeat  ·  PM Portfolio  ·  BITS Pilani Hyderabad  ·  Library Seat Management System  ·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LibSeat – Library Seat Management System</dc:title>
  <dc:subject>PptxGenJS Presentation</dc:subject>
  <dc:creator>PptxGenJS</dc:creator>
  <cp:lastModifiedBy>PptxGenJS</cp:lastModifiedBy>
  <cp:revision>1</cp:revision>
  <dcterms:created xsi:type="dcterms:W3CDTF">2026-04-04T03:19:44Z</dcterms:created>
  <dcterms:modified xsi:type="dcterms:W3CDTF">2026-04-04T03:19:44Z</dcterms:modified>
</cp:coreProperties>
</file>