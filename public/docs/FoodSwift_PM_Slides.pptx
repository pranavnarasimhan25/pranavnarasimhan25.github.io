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57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1">
                <a:solidFill>
                  <a:srgbClr val="A9A9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1">
                <a:solidFill>
                  <a:srgbClr val="A9A9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355" y="2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631" y="0"/>
                </a:moveTo>
                <a:lnTo>
                  <a:pt x="0" y="0"/>
                </a:lnTo>
                <a:lnTo>
                  <a:pt x="0" y="685444"/>
                </a:lnTo>
                <a:lnTo>
                  <a:pt x="4572000" y="685444"/>
                </a:lnTo>
                <a:lnTo>
                  <a:pt x="9143631" y="685444"/>
                </a:lnTo>
                <a:lnTo>
                  <a:pt x="9143631" y="0"/>
                </a:lnTo>
                <a:close/>
              </a:path>
            </a:pathLst>
          </a:custGeom>
          <a:solidFill>
            <a:srgbClr val="1B22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96" y="909258"/>
            <a:ext cx="8258606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2696" y="1451777"/>
            <a:ext cx="7279005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1">
                <a:solidFill>
                  <a:srgbClr val="A9A9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B22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-353"/>
            <a:ext cx="228600" cy="5143500"/>
          </a:xfrm>
          <a:custGeom>
            <a:avLst/>
            <a:gdLst/>
            <a:ahLst/>
            <a:cxnLst/>
            <a:rect l="l" t="t" r="r" b="b"/>
            <a:pathLst>
              <a:path w="228600" h="5143500">
                <a:moveTo>
                  <a:pt x="228244" y="0"/>
                </a:moveTo>
                <a:lnTo>
                  <a:pt x="0" y="0"/>
                </a:lnTo>
                <a:lnTo>
                  <a:pt x="0" y="5143309"/>
                </a:lnTo>
                <a:lnTo>
                  <a:pt x="114122" y="5143309"/>
                </a:lnTo>
                <a:lnTo>
                  <a:pt x="228244" y="5143309"/>
                </a:lnTo>
                <a:lnTo>
                  <a:pt x="228244" y="0"/>
                </a:lnTo>
                <a:close/>
              </a:path>
            </a:pathLst>
          </a:custGeom>
          <a:solidFill>
            <a:srgbClr val="E7611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131964" y="14"/>
            <a:ext cx="2011680" cy="2103120"/>
            <a:chOff x="7131964" y="14"/>
            <a:chExt cx="2011680" cy="2103120"/>
          </a:xfrm>
        </p:grpSpPr>
        <p:sp>
          <p:nvSpPr>
            <p:cNvPr id="5" name="object 5"/>
            <p:cNvSpPr/>
            <p:nvPr/>
          </p:nvSpPr>
          <p:spPr>
            <a:xfrm>
              <a:off x="7131964" y="14"/>
              <a:ext cx="2011680" cy="2103120"/>
            </a:xfrm>
            <a:custGeom>
              <a:avLst/>
              <a:gdLst/>
              <a:ahLst/>
              <a:cxnLst/>
              <a:rect l="l" t="t" r="r" b="b"/>
              <a:pathLst>
                <a:path w="2011679" h="2103120">
                  <a:moveTo>
                    <a:pt x="2011667" y="0"/>
                  </a:moveTo>
                  <a:lnTo>
                    <a:pt x="81137" y="0"/>
                  </a:lnTo>
                  <a:lnTo>
                    <a:pt x="75215" y="17665"/>
                  </a:lnTo>
                  <a:lnTo>
                    <a:pt x="61037" y="64726"/>
                  </a:lnTo>
                  <a:lnTo>
                    <a:pt x="48316" y="112196"/>
                  </a:lnTo>
                  <a:lnTo>
                    <a:pt x="37060" y="160042"/>
                  </a:lnTo>
                  <a:lnTo>
                    <a:pt x="27278" y="208228"/>
                  </a:lnTo>
                  <a:lnTo>
                    <a:pt x="18978" y="256720"/>
                  </a:lnTo>
                  <a:lnTo>
                    <a:pt x="12168" y="305483"/>
                  </a:lnTo>
                  <a:lnTo>
                    <a:pt x="6857" y="354482"/>
                  </a:lnTo>
                  <a:lnTo>
                    <a:pt x="3053" y="403683"/>
                  </a:lnTo>
                  <a:lnTo>
                    <a:pt x="764" y="453051"/>
                  </a:lnTo>
                  <a:lnTo>
                    <a:pt x="0" y="502551"/>
                  </a:lnTo>
                  <a:lnTo>
                    <a:pt x="764" y="552049"/>
                  </a:lnTo>
                  <a:lnTo>
                    <a:pt x="3053" y="601416"/>
                  </a:lnTo>
                  <a:lnTo>
                    <a:pt x="6857" y="650617"/>
                  </a:lnTo>
                  <a:lnTo>
                    <a:pt x="12168" y="699619"/>
                  </a:lnTo>
                  <a:lnTo>
                    <a:pt x="18978" y="748386"/>
                  </a:lnTo>
                  <a:lnTo>
                    <a:pt x="27278" y="796884"/>
                  </a:lnTo>
                  <a:lnTo>
                    <a:pt x="37060" y="845080"/>
                  </a:lnTo>
                  <a:lnTo>
                    <a:pt x="48316" y="892938"/>
                  </a:lnTo>
                  <a:lnTo>
                    <a:pt x="61037" y="940425"/>
                  </a:lnTo>
                  <a:lnTo>
                    <a:pt x="75215" y="987506"/>
                  </a:lnTo>
                  <a:lnTo>
                    <a:pt x="90842" y="1034147"/>
                  </a:lnTo>
                  <a:lnTo>
                    <a:pt x="107908" y="1080313"/>
                  </a:lnTo>
                  <a:lnTo>
                    <a:pt x="126407" y="1125971"/>
                  </a:lnTo>
                  <a:lnTo>
                    <a:pt x="146329" y="1171086"/>
                  </a:lnTo>
                  <a:lnTo>
                    <a:pt x="167667" y="1215623"/>
                  </a:lnTo>
                  <a:lnTo>
                    <a:pt x="190411" y="1259549"/>
                  </a:lnTo>
                  <a:lnTo>
                    <a:pt x="214553" y="1302829"/>
                  </a:lnTo>
                  <a:lnTo>
                    <a:pt x="239965" y="1345281"/>
                  </a:lnTo>
                  <a:lnTo>
                    <a:pt x="266629" y="1386857"/>
                  </a:lnTo>
                  <a:lnTo>
                    <a:pt x="294523" y="1427530"/>
                  </a:lnTo>
                  <a:lnTo>
                    <a:pt x="323621" y="1467275"/>
                  </a:lnTo>
                  <a:lnTo>
                    <a:pt x="353899" y="1506068"/>
                  </a:lnTo>
                  <a:lnTo>
                    <a:pt x="385332" y="1543884"/>
                  </a:lnTo>
                  <a:lnTo>
                    <a:pt x="417895" y="1580697"/>
                  </a:lnTo>
                  <a:lnTo>
                    <a:pt x="451564" y="1616483"/>
                  </a:lnTo>
                  <a:lnTo>
                    <a:pt x="486314" y="1651217"/>
                  </a:lnTo>
                  <a:lnTo>
                    <a:pt x="522121" y="1684872"/>
                  </a:lnTo>
                  <a:lnTo>
                    <a:pt x="558959" y="1717425"/>
                  </a:lnTo>
                  <a:lnTo>
                    <a:pt x="596805" y="1748851"/>
                  </a:lnTo>
                  <a:lnTo>
                    <a:pt x="635633" y="1779123"/>
                  </a:lnTo>
                  <a:lnTo>
                    <a:pt x="675419" y="1808218"/>
                  </a:lnTo>
                  <a:lnTo>
                    <a:pt x="716138" y="1836110"/>
                  </a:lnTo>
                  <a:lnTo>
                    <a:pt x="757766" y="1862774"/>
                  </a:lnTo>
                  <a:lnTo>
                    <a:pt x="800277" y="1888185"/>
                  </a:lnTo>
                  <a:lnTo>
                    <a:pt x="843498" y="1912329"/>
                  </a:lnTo>
                  <a:lnTo>
                    <a:pt x="887371" y="1935075"/>
                  </a:lnTo>
                  <a:lnTo>
                    <a:pt x="931862" y="1956414"/>
                  </a:lnTo>
                  <a:lnTo>
                    <a:pt x="976937" y="1976338"/>
                  </a:lnTo>
                  <a:lnTo>
                    <a:pt x="1022560" y="1994838"/>
                  </a:lnTo>
                  <a:lnTo>
                    <a:pt x="1068697" y="2011906"/>
                  </a:lnTo>
                  <a:lnTo>
                    <a:pt x="1115313" y="2027533"/>
                  </a:lnTo>
                  <a:lnTo>
                    <a:pt x="1162374" y="2041712"/>
                  </a:lnTo>
                  <a:lnTo>
                    <a:pt x="1209845" y="2054434"/>
                  </a:lnTo>
                  <a:lnTo>
                    <a:pt x="1257691" y="2065690"/>
                  </a:lnTo>
                  <a:lnTo>
                    <a:pt x="1305877" y="2075472"/>
                  </a:lnTo>
                  <a:lnTo>
                    <a:pt x="1354369" y="2083773"/>
                  </a:lnTo>
                  <a:lnTo>
                    <a:pt x="1403131" y="2090583"/>
                  </a:lnTo>
                  <a:lnTo>
                    <a:pt x="1452131" y="2095894"/>
                  </a:lnTo>
                  <a:lnTo>
                    <a:pt x="1501332" y="2099698"/>
                  </a:lnTo>
                  <a:lnTo>
                    <a:pt x="1550699" y="2101987"/>
                  </a:lnTo>
                  <a:lnTo>
                    <a:pt x="1600200" y="2102751"/>
                  </a:lnTo>
                  <a:lnTo>
                    <a:pt x="1649698" y="2101987"/>
                  </a:lnTo>
                  <a:lnTo>
                    <a:pt x="1699065" y="2099698"/>
                  </a:lnTo>
                  <a:lnTo>
                    <a:pt x="1748266" y="2095894"/>
                  </a:lnTo>
                  <a:lnTo>
                    <a:pt x="1797267" y="2090583"/>
                  </a:lnTo>
                  <a:lnTo>
                    <a:pt x="1846034" y="2083773"/>
                  </a:lnTo>
                  <a:lnTo>
                    <a:pt x="1894532" y="2075472"/>
                  </a:lnTo>
                  <a:lnTo>
                    <a:pt x="1942728" y="2065690"/>
                  </a:lnTo>
                  <a:lnTo>
                    <a:pt x="1990586" y="2054434"/>
                  </a:lnTo>
                  <a:lnTo>
                    <a:pt x="2011667" y="2048786"/>
                  </a:lnTo>
                  <a:lnTo>
                    <a:pt x="2011667" y="0"/>
                  </a:lnTo>
                  <a:close/>
                </a:path>
              </a:pathLst>
            </a:custGeom>
            <a:solidFill>
              <a:srgbClr val="E76119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80604" y="14"/>
              <a:ext cx="1463040" cy="1554480"/>
            </a:xfrm>
            <a:custGeom>
              <a:avLst/>
              <a:gdLst/>
              <a:ahLst/>
              <a:cxnLst/>
              <a:rect l="l" t="t" r="r" b="b"/>
              <a:pathLst>
                <a:path w="1463040" h="1554480">
                  <a:moveTo>
                    <a:pt x="1463027" y="0"/>
                  </a:moveTo>
                  <a:lnTo>
                    <a:pt x="162504" y="0"/>
                  </a:lnTo>
                  <a:lnTo>
                    <a:pt x="162332" y="249"/>
                  </a:lnTo>
                  <a:lnTo>
                    <a:pt x="134632" y="45351"/>
                  </a:lnTo>
                  <a:lnTo>
                    <a:pt x="109430" y="91848"/>
                  </a:lnTo>
                  <a:lnTo>
                    <a:pt x="86761" y="139471"/>
                  </a:lnTo>
                  <a:lnTo>
                    <a:pt x="66655" y="188113"/>
                  </a:lnTo>
                  <a:lnTo>
                    <a:pt x="49138" y="237670"/>
                  </a:lnTo>
                  <a:lnTo>
                    <a:pt x="34240" y="288034"/>
                  </a:lnTo>
                  <a:lnTo>
                    <a:pt x="21988" y="339100"/>
                  </a:lnTo>
                  <a:lnTo>
                    <a:pt x="12410" y="390763"/>
                  </a:lnTo>
                  <a:lnTo>
                    <a:pt x="5534" y="442916"/>
                  </a:lnTo>
                  <a:lnTo>
                    <a:pt x="1388" y="495454"/>
                  </a:lnTo>
                  <a:lnTo>
                    <a:pt x="0" y="548271"/>
                  </a:lnTo>
                  <a:lnTo>
                    <a:pt x="1388" y="601085"/>
                  </a:lnTo>
                  <a:lnTo>
                    <a:pt x="5534" y="653620"/>
                  </a:lnTo>
                  <a:lnTo>
                    <a:pt x="12410" y="705771"/>
                  </a:lnTo>
                  <a:lnTo>
                    <a:pt x="21988" y="757433"/>
                  </a:lnTo>
                  <a:lnTo>
                    <a:pt x="34240" y="808499"/>
                  </a:lnTo>
                  <a:lnTo>
                    <a:pt x="49138" y="858864"/>
                  </a:lnTo>
                  <a:lnTo>
                    <a:pt x="66655" y="908421"/>
                  </a:lnTo>
                  <a:lnTo>
                    <a:pt x="86761" y="957065"/>
                  </a:lnTo>
                  <a:lnTo>
                    <a:pt x="109430" y="1004691"/>
                  </a:lnTo>
                  <a:lnTo>
                    <a:pt x="134632" y="1051191"/>
                  </a:lnTo>
                  <a:lnTo>
                    <a:pt x="162332" y="1096290"/>
                  </a:lnTo>
                  <a:lnTo>
                    <a:pt x="192251" y="1139741"/>
                  </a:lnTo>
                  <a:lnTo>
                    <a:pt x="224317" y="1181473"/>
                  </a:lnTo>
                  <a:lnTo>
                    <a:pt x="258459" y="1221414"/>
                  </a:lnTo>
                  <a:lnTo>
                    <a:pt x="294606" y="1259493"/>
                  </a:lnTo>
                  <a:lnTo>
                    <a:pt x="332687" y="1295640"/>
                  </a:lnTo>
                  <a:lnTo>
                    <a:pt x="372630" y="1329781"/>
                  </a:lnTo>
                  <a:lnTo>
                    <a:pt x="414363" y="1361847"/>
                  </a:lnTo>
                  <a:lnTo>
                    <a:pt x="457817" y="1391766"/>
                  </a:lnTo>
                  <a:lnTo>
                    <a:pt x="502919" y="1419466"/>
                  </a:lnTo>
                  <a:lnTo>
                    <a:pt x="549417" y="1444669"/>
                  </a:lnTo>
                  <a:lnTo>
                    <a:pt x="597039" y="1467338"/>
                  </a:lnTo>
                  <a:lnTo>
                    <a:pt x="645682" y="1487446"/>
                  </a:lnTo>
                  <a:lnTo>
                    <a:pt x="695238" y="1504964"/>
                  </a:lnTo>
                  <a:lnTo>
                    <a:pt x="745602" y="1519864"/>
                  </a:lnTo>
                  <a:lnTo>
                    <a:pt x="796669" y="1532118"/>
                  </a:lnTo>
                  <a:lnTo>
                    <a:pt x="848331" y="1541698"/>
                  </a:lnTo>
                  <a:lnTo>
                    <a:pt x="900485" y="1548575"/>
                  </a:lnTo>
                  <a:lnTo>
                    <a:pt x="953023" y="1552723"/>
                  </a:lnTo>
                  <a:lnTo>
                    <a:pt x="1005839" y="1554111"/>
                  </a:lnTo>
                  <a:lnTo>
                    <a:pt x="1058653" y="1552723"/>
                  </a:lnTo>
                  <a:lnTo>
                    <a:pt x="1111188" y="1548575"/>
                  </a:lnTo>
                  <a:lnTo>
                    <a:pt x="1163340" y="1541698"/>
                  </a:lnTo>
                  <a:lnTo>
                    <a:pt x="1215001" y="1532118"/>
                  </a:lnTo>
                  <a:lnTo>
                    <a:pt x="1266067" y="1519864"/>
                  </a:lnTo>
                  <a:lnTo>
                    <a:pt x="1316432" y="1504964"/>
                  </a:lnTo>
                  <a:lnTo>
                    <a:pt x="1365989" y="1487446"/>
                  </a:lnTo>
                  <a:lnTo>
                    <a:pt x="1414634" y="1467338"/>
                  </a:lnTo>
                  <a:lnTo>
                    <a:pt x="1462259" y="1444669"/>
                  </a:lnTo>
                  <a:lnTo>
                    <a:pt x="1463027" y="1444253"/>
                  </a:lnTo>
                  <a:lnTo>
                    <a:pt x="1463027" y="0"/>
                  </a:lnTo>
                  <a:close/>
                </a:path>
              </a:pathLst>
            </a:custGeom>
            <a:solidFill>
              <a:srgbClr val="E76119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9856" y="466828"/>
            <a:ext cx="33210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6745" algn="l"/>
                <a:tab pos="2092960" algn="l"/>
              </a:tabLst>
            </a:pP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P</a:t>
            </a:r>
            <a:r>
              <a:rPr sz="900" b="1" spc="8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900" b="1" spc="9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900" b="1" spc="10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D</a:t>
            </a:r>
            <a:r>
              <a:rPr sz="900" b="1" spc="9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U</a:t>
            </a:r>
            <a:r>
              <a:rPr sz="900" b="1" spc="9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C</a:t>
            </a:r>
            <a:r>
              <a:rPr sz="900" b="1" spc="9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r>
              <a:rPr sz="900" b="1" spc="190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C</a:t>
            </a:r>
            <a:r>
              <a:rPr sz="900" b="1" spc="9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A</a:t>
            </a:r>
            <a:r>
              <a:rPr sz="900" b="1" spc="9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900" b="1" spc="9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900" b="1" spc="190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900" b="1" spc="9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r>
              <a:rPr sz="900" b="1" spc="9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U</a:t>
            </a:r>
            <a:r>
              <a:rPr sz="900" b="1" spc="9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D</a:t>
            </a:r>
            <a:r>
              <a:rPr sz="900" b="1" spc="6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E76119"/>
                </a:solidFill>
                <a:latin typeface="Calibri"/>
                <a:cs typeface="Calibri"/>
              </a:rPr>
              <a:t>Y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	</a:t>
            </a:r>
            <a:r>
              <a:rPr sz="900" b="1" spc="-50" dirty="0">
                <a:solidFill>
                  <a:srgbClr val="E76119"/>
                </a:solidFill>
                <a:latin typeface="Calibri"/>
                <a:cs typeface="Calibri"/>
              </a:rPr>
              <a:t>·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	F</a:t>
            </a:r>
            <a:r>
              <a:rPr sz="900" b="1" spc="8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900" b="1" spc="10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900" b="1" spc="8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D</a:t>
            </a:r>
            <a:r>
              <a:rPr sz="900" b="1" spc="195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D</a:t>
            </a:r>
            <a:r>
              <a:rPr sz="900" b="1" spc="9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900" b="1" spc="8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L</a:t>
            </a:r>
            <a:r>
              <a:rPr sz="900" b="1" spc="10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I</a:t>
            </a:r>
            <a:r>
              <a:rPr sz="900" b="1" spc="9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V</a:t>
            </a:r>
            <a:r>
              <a:rPr sz="900" b="1" spc="10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900" b="1" spc="8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900" b="1" spc="7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E76119"/>
                </a:solidFill>
                <a:latin typeface="Calibri"/>
                <a:cs typeface="Calibri"/>
              </a:rPr>
              <a:t>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9856" y="908765"/>
            <a:ext cx="6365875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100"/>
              </a:spcBef>
              <a:tabLst>
                <a:tab pos="1162050" algn="l"/>
                <a:tab pos="2638425" algn="l"/>
                <a:tab pos="4742180" algn="l"/>
              </a:tabLst>
            </a:pPr>
            <a:r>
              <a:rPr sz="4600" spc="495" dirty="0"/>
              <a:t>Solving</a:t>
            </a:r>
            <a:r>
              <a:rPr sz="4600" dirty="0"/>
              <a:t>	</a:t>
            </a:r>
            <a:r>
              <a:rPr sz="4600" spc="445" dirty="0"/>
              <a:t>Order</a:t>
            </a:r>
            <a:r>
              <a:rPr sz="4600" dirty="0"/>
              <a:t>	</a:t>
            </a:r>
            <a:r>
              <a:rPr sz="4600" spc="445" dirty="0"/>
              <a:t>Drop </a:t>
            </a:r>
            <a:r>
              <a:rPr sz="4600" spc="365" dirty="0">
                <a:solidFill>
                  <a:srgbClr val="E76119"/>
                </a:solidFill>
              </a:rPr>
              <a:t>for</a:t>
            </a:r>
            <a:r>
              <a:rPr sz="4600" dirty="0">
                <a:solidFill>
                  <a:srgbClr val="E76119"/>
                </a:solidFill>
              </a:rPr>
              <a:t>	</a:t>
            </a:r>
            <a:r>
              <a:rPr sz="4600" spc="445" dirty="0">
                <a:solidFill>
                  <a:srgbClr val="E76119"/>
                </a:solidFill>
              </a:rPr>
              <a:t>FoodSwift</a:t>
            </a:r>
            <a:endParaRPr sz="4600"/>
          </a:p>
        </p:txBody>
      </p:sp>
      <p:sp>
        <p:nvSpPr>
          <p:cNvPr id="9" name="object 9"/>
          <p:cNvSpPr txBox="1"/>
          <p:nvPr/>
        </p:nvSpPr>
        <p:spPr>
          <a:xfrm>
            <a:off x="579856" y="2707108"/>
            <a:ext cx="55181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How</a:t>
            </a:r>
            <a:r>
              <a:rPr sz="1500" i="1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BABACC"/>
                </a:solidFill>
                <a:latin typeface="Calibri"/>
                <a:cs typeface="Calibri"/>
              </a:rPr>
              <a:t>reliability</a:t>
            </a:r>
            <a:r>
              <a:rPr sz="1500" i="1" spc="-4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BABACC"/>
                </a:solidFill>
                <a:latin typeface="Calibri"/>
                <a:cs typeface="Calibri"/>
              </a:rPr>
              <a:t>failures</a:t>
            </a:r>
            <a:r>
              <a:rPr sz="1500" i="1" spc="-3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silently</a:t>
            </a:r>
            <a:r>
              <a:rPr sz="1500" i="1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churn</a:t>
            </a:r>
            <a:r>
              <a:rPr sz="1500" i="1" spc="-4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your</a:t>
            </a:r>
            <a:r>
              <a:rPr sz="1500" i="1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best</a:t>
            </a:r>
            <a:r>
              <a:rPr sz="1500" i="1" spc="-3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users</a:t>
            </a:r>
            <a:r>
              <a:rPr sz="1500" i="1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—</a:t>
            </a:r>
            <a:r>
              <a:rPr sz="1500" i="1" spc="-4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and</a:t>
            </a:r>
            <a:r>
              <a:rPr sz="1500" i="1" spc="-3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how</a:t>
            </a:r>
            <a:r>
              <a:rPr sz="1500" i="1" spc="-3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to</a:t>
            </a:r>
            <a:r>
              <a:rPr sz="1500" i="1" spc="-4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BABACC"/>
                </a:solidFill>
                <a:latin typeface="Calibri"/>
                <a:cs typeface="Calibri"/>
              </a:rPr>
              <a:t>fix</a:t>
            </a:r>
            <a:r>
              <a:rPr sz="1500" i="1" spc="-25" dirty="0">
                <a:solidFill>
                  <a:srgbClr val="BABACC"/>
                </a:solidFill>
                <a:latin typeface="Calibri"/>
                <a:cs typeface="Calibri"/>
              </a:rPr>
              <a:t> it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2564" y="3154326"/>
            <a:ext cx="2286000" cy="36830"/>
          </a:xfrm>
          <a:custGeom>
            <a:avLst/>
            <a:gdLst/>
            <a:ahLst/>
            <a:cxnLst/>
            <a:rect l="l" t="t" r="r" b="b"/>
            <a:pathLst>
              <a:path w="2286000" h="36830">
                <a:moveTo>
                  <a:pt x="2285631" y="0"/>
                </a:moveTo>
                <a:lnTo>
                  <a:pt x="0" y="0"/>
                </a:lnTo>
                <a:lnTo>
                  <a:pt x="0" y="36360"/>
                </a:lnTo>
                <a:lnTo>
                  <a:pt x="1143000" y="36360"/>
                </a:lnTo>
                <a:lnTo>
                  <a:pt x="2285631" y="36360"/>
                </a:lnTo>
                <a:lnTo>
                  <a:pt x="2285631" y="0"/>
                </a:lnTo>
                <a:close/>
              </a:path>
            </a:pathLst>
          </a:custGeom>
          <a:solidFill>
            <a:srgbClr val="E761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9856" y="3377782"/>
            <a:ext cx="309054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4395" y="4039909"/>
            <a:ext cx="2123440" cy="952500"/>
            <a:chOff x="374395" y="4039909"/>
            <a:chExt cx="2123440" cy="95250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395" y="4039909"/>
              <a:ext cx="2122919" cy="9522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2564" y="4114801"/>
              <a:ext cx="1920239" cy="749935"/>
            </a:xfrm>
            <a:custGeom>
              <a:avLst/>
              <a:gdLst/>
              <a:ahLst/>
              <a:cxnLst/>
              <a:rect l="l" t="t" r="r" b="b"/>
              <a:pathLst>
                <a:path w="1920239" h="749935">
                  <a:moveTo>
                    <a:pt x="1919871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960119" y="749515"/>
                  </a:lnTo>
                  <a:lnTo>
                    <a:pt x="1919871" y="749515"/>
                  </a:lnTo>
                  <a:lnTo>
                    <a:pt x="1919871" y="0"/>
                  </a:lnTo>
                  <a:close/>
                </a:path>
              </a:pathLst>
            </a:custGeom>
            <a:solidFill>
              <a:srgbClr val="131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86294" y="4156826"/>
            <a:ext cx="953769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270" dirty="0">
                <a:solidFill>
                  <a:srgbClr val="E76119"/>
                </a:solidFill>
                <a:latin typeface="Cambria"/>
                <a:cs typeface="Cambria"/>
              </a:rPr>
              <a:t>↓0.4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900" spc="-10" dirty="0">
                <a:solidFill>
                  <a:srgbClr val="9999A9"/>
                </a:solidFill>
                <a:latin typeface="Calibri"/>
                <a:cs typeface="Calibri"/>
              </a:rPr>
              <a:t>Orders/Month</a:t>
            </a:r>
            <a:r>
              <a:rPr sz="900" spc="5" dirty="0">
                <a:solidFill>
                  <a:srgbClr val="9999A9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9999A9"/>
                </a:solidFill>
                <a:latin typeface="Calibri"/>
                <a:cs typeface="Calibri"/>
              </a:rPr>
              <a:t>Drop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50604" y="4039909"/>
            <a:ext cx="2123440" cy="952500"/>
            <a:chOff x="2550604" y="4039909"/>
            <a:chExt cx="2123440" cy="95250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0604" y="4039909"/>
              <a:ext cx="2122919" cy="95220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678760" y="4114801"/>
              <a:ext cx="1920239" cy="749935"/>
            </a:xfrm>
            <a:custGeom>
              <a:avLst/>
              <a:gdLst/>
              <a:ahLst/>
              <a:cxnLst/>
              <a:rect l="l" t="t" r="r" b="b"/>
              <a:pathLst>
                <a:path w="1920239" h="749935">
                  <a:moveTo>
                    <a:pt x="1919884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960120" y="749515"/>
                  </a:lnTo>
                  <a:lnTo>
                    <a:pt x="1919884" y="749515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31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57905" y="4156826"/>
            <a:ext cx="760730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85" dirty="0">
                <a:solidFill>
                  <a:srgbClr val="E76119"/>
                </a:solidFill>
                <a:latin typeface="Cambria"/>
                <a:cs typeface="Cambria"/>
              </a:rPr>
              <a:t>↓NPS</a:t>
            </a:r>
            <a:endParaRPr sz="1800">
              <a:latin typeface="Cambria"/>
              <a:cs typeface="Cambria"/>
            </a:endParaRPr>
          </a:p>
          <a:p>
            <a:pPr marL="80010">
              <a:lnSpc>
                <a:spcPct val="100000"/>
              </a:lnSpc>
              <a:spcBef>
                <a:spcPts val="755"/>
              </a:spcBef>
            </a:pPr>
            <a:r>
              <a:rPr sz="900" spc="-10" dirty="0">
                <a:solidFill>
                  <a:srgbClr val="9999A9"/>
                </a:solidFill>
                <a:latin typeface="Calibri"/>
                <a:cs typeface="Calibri"/>
              </a:rPr>
              <a:t>Trust</a:t>
            </a:r>
            <a:r>
              <a:rPr sz="900" spc="-35" dirty="0">
                <a:solidFill>
                  <a:srgbClr val="9999A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9999A9"/>
                </a:solidFill>
                <a:latin typeface="Calibri"/>
                <a:cs typeface="Calibri"/>
              </a:rPr>
              <a:t>Erosion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26800" y="4039909"/>
            <a:ext cx="2123440" cy="952500"/>
            <a:chOff x="4726800" y="4039909"/>
            <a:chExt cx="2123440" cy="9525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6800" y="4039909"/>
              <a:ext cx="2122919" cy="95220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54955" y="4114801"/>
              <a:ext cx="1920239" cy="749935"/>
            </a:xfrm>
            <a:custGeom>
              <a:avLst/>
              <a:gdLst/>
              <a:ahLst/>
              <a:cxnLst/>
              <a:rect l="l" t="t" r="r" b="b"/>
              <a:pathLst>
                <a:path w="1920240" h="749935">
                  <a:moveTo>
                    <a:pt x="1919884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960120" y="749515"/>
                  </a:lnTo>
                  <a:lnTo>
                    <a:pt x="1919884" y="749515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31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88381" y="4156826"/>
            <a:ext cx="852169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29" dirty="0">
                <a:solidFill>
                  <a:srgbClr val="E76119"/>
                </a:solidFill>
                <a:latin typeface="Cambria"/>
                <a:cs typeface="Cambria"/>
              </a:rPr>
              <a:t>~₹450</a:t>
            </a:r>
            <a:endParaRPr sz="1800">
              <a:latin typeface="Cambria"/>
              <a:cs typeface="Cambria"/>
            </a:endParaRPr>
          </a:p>
          <a:p>
            <a:pPr marL="53340">
              <a:lnSpc>
                <a:spcPct val="100000"/>
              </a:lnSpc>
              <a:spcBef>
                <a:spcPts val="755"/>
              </a:spcBef>
            </a:pPr>
            <a:r>
              <a:rPr sz="900" spc="-10" dirty="0">
                <a:solidFill>
                  <a:srgbClr val="9999A9"/>
                </a:solidFill>
                <a:latin typeface="Calibri"/>
                <a:cs typeface="Calibri"/>
              </a:rPr>
              <a:t>Avg</a:t>
            </a:r>
            <a:r>
              <a:rPr sz="900" spc="-35" dirty="0">
                <a:solidFill>
                  <a:srgbClr val="9999A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9999A9"/>
                </a:solidFill>
                <a:latin typeface="Calibri"/>
                <a:cs typeface="Calibri"/>
              </a:rPr>
              <a:t>Order</a:t>
            </a:r>
            <a:r>
              <a:rPr sz="900" spc="-40" dirty="0">
                <a:solidFill>
                  <a:srgbClr val="9999A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9999A9"/>
                </a:solidFill>
                <a:latin typeface="Calibri"/>
                <a:cs typeface="Calibri"/>
              </a:rPr>
              <a:t>Value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903364" y="4039909"/>
            <a:ext cx="2123440" cy="952500"/>
            <a:chOff x="6903364" y="4039909"/>
            <a:chExt cx="2123440" cy="95250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3364" y="4039909"/>
              <a:ext cx="2122919" cy="95220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031520" y="4114801"/>
              <a:ext cx="1920239" cy="749935"/>
            </a:xfrm>
            <a:custGeom>
              <a:avLst/>
              <a:gdLst/>
              <a:ahLst/>
              <a:cxnLst/>
              <a:rect l="l" t="t" r="r" b="b"/>
              <a:pathLst>
                <a:path w="1920240" h="749935">
                  <a:moveTo>
                    <a:pt x="1919884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960120" y="749515"/>
                  </a:lnTo>
                  <a:lnTo>
                    <a:pt x="1919884" y="749515"/>
                  </a:lnTo>
                  <a:lnTo>
                    <a:pt x="1919884" y="0"/>
                  </a:lnTo>
                  <a:close/>
                </a:path>
              </a:pathLst>
            </a:custGeom>
            <a:solidFill>
              <a:srgbClr val="131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584744" y="4156826"/>
            <a:ext cx="81470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130" dirty="0">
                <a:solidFill>
                  <a:srgbClr val="E76119"/>
                </a:solidFill>
                <a:latin typeface="Cambria"/>
                <a:cs typeface="Cambria"/>
              </a:rPr>
              <a:t>3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900" dirty="0">
                <a:solidFill>
                  <a:srgbClr val="9999A9"/>
                </a:solidFill>
                <a:latin typeface="Calibri"/>
                <a:cs typeface="Calibri"/>
              </a:rPr>
              <a:t>Root</a:t>
            </a:r>
            <a:r>
              <a:rPr sz="900" spc="-45" dirty="0">
                <a:solidFill>
                  <a:srgbClr val="9999A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9999A9"/>
                </a:solidFill>
                <a:latin typeface="Calibri"/>
                <a:cs typeface="Calibri"/>
              </a:rPr>
              <a:t>Hypotheses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3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2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631" y="0"/>
                </a:moveTo>
                <a:lnTo>
                  <a:pt x="0" y="0"/>
                </a:lnTo>
                <a:lnTo>
                  <a:pt x="0" y="685444"/>
                </a:lnTo>
                <a:lnTo>
                  <a:pt x="4572000" y="685444"/>
                </a:lnTo>
                <a:lnTo>
                  <a:pt x="9143631" y="685444"/>
                </a:lnTo>
                <a:lnTo>
                  <a:pt x="9143631" y="0"/>
                </a:lnTo>
                <a:close/>
              </a:path>
            </a:pathLst>
          </a:custGeom>
          <a:solidFill>
            <a:srgbClr val="1B22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2696" y="246153"/>
            <a:ext cx="1238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H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1100" b="1" spc="170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P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B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L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E76119"/>
                </a:solidFill>
                <a:latin typeface="Calibri"/>
                <a:cs typeface="Calibri"/>
              </a:rPr>
              <a:t>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53745" y="253709"/>
            <a:ext cx="16478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alibri"/>
                <a:cs typeface="Calibri"/>
              </a:rPr>
              <a:t>FoodSwift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·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Order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Drop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Analysis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2696" y="924371"/>
            <a:ext cx="61366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97660" algn="l"/>
                <a:tab pos="2468880" algn="l"/>
                <a:tab pos="4073525" algn="l"/>
                <a:tab pos="4587240" algn="l"/>
              </a:tabLst>
            </a:pPr>
            <a:r>
              <a:rPr sz="3000" spc="285" dirty="0">
                <a:solidFill>
                  <a:srgbClr val="1B223F"/>
                </a:solidFill>
              </a:rPr>
              <a:t>Orders</a:t>
            </a:r>
            <a:r>
              <a:rPr sz="3000" dirty="0">
                <a:solidFill>
                  <a:srgbClr val="1B223F"/>
                </a:solidFill>
              </a:rPr>
              <a:t>	</a:t>
            </a:r>
            <a:r>
              <a:rPr sz="3000" spc="265" dirty="0">
                <a:solidFill>
                  <a:srgbClr val="1B223F"/>
                </a:solidFill>
              </a:rPr>
              <a:t>Are</a:t>
            </a:r>
            <a:r>
              <a:rPr sz="3000" dirty="0">
                <a:solidFill>
                  <a:srgbClr val="1B223F"/>
                </a:solidFill>
              </a:rPr>
              <a:t>	</a:t>
            </a:r>
            <a:r>
              <a:rPr sz="3000" spc="290" dirty="0">
                <a:solidFill>
                  <a:srgbClr val="1B223F"/>
                </a:solidFill>
              </a:rPr>
              <a:t>Falling</a:t>
            </a:r>
            <a:r>
              <a:rPr sz="3000" dirty="0">
                <a:solidFill>
                  <a:srgbClr val="1B223F"/>
                </a:solidFill>
              </a:rPr>
              <a:t>	</a:t>
            </a:r>
            <a:r>
              <a:rPr sz="3000" spc="-50" dirty="0">
                <a:solidFill>
                  <a:srgbClr val="1B223F"/>
                </a:solidFill>
              </a:rPr>
              <a:t>—</a:t>
            </a:r>
            <a:r>
              <a:rPr sz="3000" dirty="0">
                <a:solidFill>
                  <a:srgbClr val="1B223F"/>
                </a:solidFill>
              </a:rPr>
              <a:t>	</a:t>
            </a:r>
            <a:r>
              <a:rPr sz="3000" spc="275" dirty="0">
                <a:solidFill>
                  <a:srgbClr val="1B223F"/>
                </a:solidFill>
              </a:rPr>
              <a:t>Quietly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442696" y="1587146"/>
            <a:ext cx="5050155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A717F"/>
                </a:solidFill>
                <a:latin typeface="Calibri"/>
                <a:cs typeface="Calibri"/>
              </a:rPr>
              <a:t>FoodSwift</a:t>
            </a:r>
            <a:r>
              <a:rPr sz="130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saw</a:t>
            </a:r>
            <a:r>
              <a:rPr sz="1300" spc="-4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sharp</a:t>
            </a:r>
            <a:r>
              <a:rPr sz="1300" spc="-5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metric</a:t>
            </a:r>
            <a:r>
              <a:rPr sz="13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A717F"/>
                </a:solidFill>
                <a:latin typeface="Calibri"/>
                <a:cs typeface="Calibri"/>
              </a:rPr>
              <a:t>deterioration</a:t>
            </a:r>
            <a:r>
              <a:rPr sz="1300" spc="-5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Jan</a:t>
            </a:r>
            <a:r>
              <a:rPr sz="1300" spc="-5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→</a:t>
            </a:r>
            <a:r>
              <a:rPr sz="130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March.</a:t>
            </a:r>
            <a:r>
              <a:rPr sz="1300" spc="-5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Users</a:t>
            </a:r>
            <a:r>
              <a:rPr sz="13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A717F"/>
                </a:solidFill>
                <a:latin typeface="Calibri"/>
                <a:cs typeface="Calibri"/>
              </a:rPr>
              <a:t>aren't leaving</a:t>
            </a:r>
            <a:r>
              <a:rPr sz="13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A717F"/>
                </a:solidFill>
                <a:latin typeface="Calibri"/>
                <a:cs typeface="Calibri"/>
              </a:rPr>
              <a:t>they're</a:t>
            </a:r>
            <a:r>
              <a:rPr sz="13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A717F"/>
                </a:solidFill>
                <a:latin typeface="Calibri"/>
                <a:cs typeface="Calibri"/>
              </a:rPr>
              <a:t>ordering</a:t>
            </a:r>
            <a:r>
              <a:rPr sz="13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less.</a:t>
            </a:r>
            <a:r>
              <a:rPr sz="13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This</a:t>
            </a:r>
            <a:r>
              <a:rPr sz="13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A717F"/>
                </a:solidFill>
                <a:latin typeface="Calibri"/>
                <a:cs typeface="Calibri"/>
              </a:rPr>
              <a:t>'silent</a:t>
            </a:r>
            <a:r>
              <a:rPr sz="13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churn':</a:t>
            </a:r>
            <a:r>
              <a:rPr sz="13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trust</a:t>
            </a:r>
            <a:r>
              <a:rPr sz="13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A717F"/>
                </a:solidFill>
                <a:latin typeface="Calibri"/>
                <a:cs typeface="Calibri"/>
              </a:rPr>
              <a:t>fracture</a:t>
            </a:r>
            <a:r>
              <a:rPr sz="13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6A717F"/>
                </a:solidFill>
                <a:latin typeface="Calibri"/>
                <a:cs typeface="Calibri"/>
              </a:rPr>
              <a:t>that </a:t>
            </a:r>
            <a:r>
              <a:rPr sz="1300" spc="-10" dirty="0">
                <a:solidFill>
                  <a:srgbClr val="6A717F"/>
                </a:solidFill>
                <a:latin typeface="Calibri"/>
                <a:cs typeface="Calibri"/>
              </a:rPr>
              <a:t>doesn't</a:t>
            </a:r>
            <a:r>
              <a:rPr sz="13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show</a:t>
            </a:r>
            <a:r>
              <a:rPr sz="13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up</a:t>
            </a:r>
            <a:r>
              <a:rPr sz="13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A717F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A717F"/>
                </a:solidFill>
                <a:latin typeface="Calibri"/>
                <a:cs typeface="Calibri"/>
              </a:rPr>
              <a:t>uninstalls.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7236" y="2348270"/>
            <a:ext cx="2854960" cy="1619885"/>
            <a:chOff x="237236" y="2348270"/>
            <a:chExt cx="2854960" cy="161988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236" y="2348270"/>
              <a:ext cx="2854439" cy="16196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5404" y="2423162"/>
              <a:ext cx="2651760" cy="1417320"/>
            </a:xfrm>
            <a:custGeom>
              <a:avLst/>
              <a:gdLst/>
              <a:ahLst/>
              <a:cxnLst/>
              <a:rect l="l" t="t" r="r" b="b"/>
              <a:pathLst>
                <a:path w="2651760" h="1417320">
                  <a:moveTo>
                    <a:pt x="2651391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1325880" y="1416964"/>
                  </a:lnTo>
                  <a:lnTo>
                    <a:pt x="2651391" y="1416964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5404" y="2422806"/>
              <a:ext cx="2651760" cy="91440"/>
            </a:xfrm>
            <a:custGeom>
              <a:avLst/>
              <a:gdLst/>
              <a:ahLst/>
              <a:cxnLst/>
              <a:rect l="l" t="t" r="r" b="b"/>
              <a:pathLst>
                <a:path w="2651760" h="91439">
                  <a:moveTo>
                    <a:pt x="2651391" y="0"/>
                  </a:moveTo>
                  <a:lnTo>
                    <a:pt x="0" y="0"/>
                  </a:lnTo>
                  <a:lnTo>
                    <a:pt x="0" y="91071"/>
                  </a:lnTo>
                  <a:lnTo>
                    <a:pt x="1325880" y="91071"/>
                  </a:lnTo>
                  <a:lnTo>
                    <a:pt x="2651391" y="91071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E7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40663" y="2604860"/>
            <a:ext cx="1300480" cy="593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200" dirty="0">
                <a:solidFill>
                  <a:srgbClr val="E73F3F"/>
                </a:solidFill>
                <a:latin typeface="Cambria"/>
                <a:cs typeface="Cambria"/>
              </a:rPr>
              <a:t>3.2</a:t>
            </a:r>
            <a:r>
              <a:rPr sz="2000" b="1" spc="250" dirty="0">
                <a:solidFill>
                  <a:srgbClr val="E73F3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E73F3F"/>
                </a:solidFill>
                <a:latin typeface="Cambria"/>
                <a:cs typeface="Cambria"/>
              </a:rPr>
              <a:t>→</a:t>
            </a:r>
            <a:r>
              <a:rPr sz="2000" b="1" spc="254" dirty="0">
                <a:solidFill>
                  <a:srgbClr val="E73F3F"/>
                </a:solidFill>
                <a:latin typeface="Cambria"/>
                <a:cs typeface="Cambria"/>
              </a:rPr>
              <a:t> </a:t>
            </a:r>
            <a:r>
              <a:rPr sz="2000" b="1" spc="185" dirty="0">
                <a:solidFill>
                  <a:srgbClr val="E73F3F"/>
                </a:solidFill>
                <a:latin typeface="Cambria"/>
                <a:cs typeface="Cambria"/>
              </a:rPr>
              <a:t>2.8</a:t>
            </a:r>
            <a:endParaRPr sz="2000">
              <a:latin typeface="Cambria"/>
              <a:cs typeface="Cambria"/>
            </a:endParaRPr>
          </a:p>
          <a:p>
            <a:pPr marL="239395">
              <a:lnSpc>
                <a:spcPct val="100000"/>
              </a:lnSpc>
              <a:spcBef>
                <a:spcPts val="865"/>
              </a:spcBef>
            </a:pPr>
            <a:r>
              <a:rPr sz="1000" b="1" dirty="0">
                <a:solidFill>
                  <a:srgbClr val="1B223F"/>
                </a:solidFill>
                <a:latin typeface="Calibri"/>
                <a:cs typeface="Calibri"/>
              </a:rPr>
              <a:t>Orders</a:t>
            </a:r>
            <a:r>
              <a:rPr sz="1000" b="1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B223F"/>
                </a:solidFill>
                <a:latin typeface="Calibri"/>
                <a:cs typeface="Calibri"/>
              </a:rPr>
              <a:t>/</a:t>
            </a:r>
            <a:r>
              <a:rPr sz="1000" b="1" spc="-3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B223F"/>
                </a:solidFill>
                <a:latin typeface="Calibri"/>
                <a:cs typeface="Calibri"/>
              </a:rPr>
              <a:t>Month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9942" y="3398306"/>
            <a:ext cx="165988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A717F"/>
                </a:solidFill>
                <a:latin typeface="Calibri"/>
                <a:cs typeface="Calibri"/>
              </a:rPr>
              <a:t>12.5%</a:t>
            </a:r>
            <a:r>
              <a:rPr sz="9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717F"/>
                </a:solidFill>
                <a:latin typeface="Calibri"/>
                <a:cs typeface="Calibri"/>
              </a:rPr>
              <a:t>drop</a:t>
            </a:r>
            <a:r>
              <a:rPr sz="9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717F"/>
                </a:solidFill>
                <a:latin typeface="Calibri"/>
                <a:cs typeface="Calibri"/>
              </a:rPr>
              <a:t>in</a:t>
            </a:r>
            <a:r>
              <a:rPr sz="9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717F"/>
                </a:solidFill>
                <a:latin typeface="Calibri"/>
                <a:cs typeface="Calibri"/>
              </a:rPr>
              <a:t>ordering</a:t>
            </a:r>
            <a:r>
              <a:rPr sz="9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717F"/>
                </a:solidFill>
                <a:latin typeface="Calibri"/>
                <a:cs typeface="Calibri"/>
              </a:rPr>
              <a:t>frequency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90240" y="2348270"/>
            <a:ext cx="2854960" cy="1619885"/>
            <a:chOff x="3090240" y="2348270"/>
            <a:chExt cx="2854960" cy="161988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0240" y="2348270"/>
              <a:ext cx="2854439" cy="16196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18395" y="2423162"/>
              <a:ext cx="2651760" cy="1417320"/>
            </a:xfrm>
            <a:custGeom>
              <a:avLst/>
              <a:gdLst/>
              <a:ahLst/>
              <a:cxnLst/>
              <a:rect l="l" t="t" r="r" b="b"/>
              <a:pathLst>
                <a:path w="2651760" h="1417320">
                  <a:moveTo>
                    <a:pt x="2651404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1325880" y="1416964"/>
                  </a:lnTo>
                  <a:lnTo>
                    <a:pt x="2651404" y="1416964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18395" y="2422806"/>
              <a:ext cx="2651760" cy="91440"/>
            </a:xfrm>
            <a:custGeom>
              <a:avLst/>
              <a:gdLst/>
              <a:ahLst/>
              <a:cxnLst/>
              <a:rect l="l" t="t" r="r" b="b"/>
              <a:pathLst>
                <a:path w="2651760" h="91439">
                  <a:moveTo>
                    <a:pt x="2651404" y="0"/>
                  </a:moveTo>
                  <a:lnTo>
                    <a:pt x="0" y="0"/>
                  </a:lnTo>
                  <a:lnTo>
                    <a:pt x="0" y="91071"/>
                  </a:lnTo>
                  <a:lnTo>
                    <a:pt x="1325880" y="91071"/>
                  </a:lnTo>
                  <a:lnTo>
                    <a:pt x="2651404" y="91071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E761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32466" y="2604860"/>
            <a:ext cx="1423670" cy="593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380" dirty="0">
                <a:solidFill>
                  <a:srgbClr val="E76119"/>
                </a:solidFill>
                <a:latin typeface="Cambria"/>
                <a:cs typeface="Cambria"/>
              </a:rPr>
              <a:t>NPS</a:t>
            </a:r>
            <a:r>
              <a:rPr sz="2000" b="1" spc="245" dirty="0">
                <a:solidFill>
                  <a:srgbClr val="E76119"/>
                </a:solidFill>
                <a:latin typeface="Cambria"/>
                <a:cs typeface="Cambria"/>
              </a:rPr>
              <a:t> </a:t>
            </a:r>
            <a:r>
              <a:rPr sz="2000" b="1" spc="185" dirty="0">
                <a:solidFill>
                  <a:srgbClr val="E76119"/>
                </a:solidFill>
                <a:latin typeface="Cambria"/>
                <a:cs typeface="Cambria"/>
              </a:rPr>
              <a:t>Drop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1000" b="1" dirty="0">
                <a:solidFill>
                  <a:srgbClr val="1B223F"/>
                </a:solidFill>
                <a:latin typeface="Calibri"/>
                <a:cs typeface="Calibri"/>
              </a:rPr>
              <a:t>User</a:t>
            </a:r>
            <a:r>
              <a:rPr sz="1000" b="1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1B223F"/>
                </a:solidFill>
                <a:latin typeface="Calibri"/>
                <a:cs typeface="Calibri"/>
              </a:rPr>
              <a:t>Trust</a:t>
            </a:r>
            <a:r>
              <a:rPr sz="1000" b="1" spc="-10" dirty="0">
                <a:solidFill>
                  <a:srgbClr val="1B223F"/>
                </a:solidFill>
                <a:latin typeface="Calibri"/>
                <a:cs typeface="Calibri"/>
              </a:rPr>
              <a:t> Score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01415" y="3398306"/>
            <a:ext cx="16827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A717F"/>
                </a:solidFill>
                <a:latin typeface="Calibri"/>
                <a:cs typeface="Calibri"/>
              </a:rPr>
              <a:t>Ratings</a:t>
            </a:r>
            <a:r>
              <a:rPr sz="9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717F"/>
                </a:solidFill>
                <a:latin typeface="Calibri"/>
                <a:cs typeface="Calibri"/>
              </a:rPr>
              <a:t>fell</a:t>
            </a:r>
            <a:r>
              <a:rPr sz="9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717F"/>
                </a:solidFill>
                <a:latin typeface="Calibri"/>
                <a:cs typeface="Calibri"/>
              </a:rPr>
              <a:t>after</a:t>
            </a:r>
            <a:r>
              <a:rPr sz="9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6A717F"/>
                </a:solidFill>
                <a:latin typeface="Calibri"/>
                <a:cs typeface="Calibri"/>
              </a:rPr>
              <a:t>post-</a:t>
            </a:r>
            <a:r>
              <a:rPr sz="950" dirty="0">
                <a:solidFill>
                  <a:srgbClr val="6A717F"/>
                </a:solidFill>
                <a:latin typeface="Calibri"/>
                <a:cs typeface="Calibri"/>
              </a:rPr>
              <a:t>March</a:t>
            </a:r>
            <a:r>
              <a:rPr sz="9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6A717F"/>
                </a:solidFill>
                <a:latin typeface="Calibri"/>
                <a:cs typeface="Calibri"/>
              </a:rPr>
              <a:t>wave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43244" y="2348270"/>
            <a:ext cx="2854960" cy="1619885"/>
            <a:chOff x="5943244" y="2348270"/>
            <a:chExt cx="2854960" cy="161988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244" y="2348270"/>
              <a:ext cx="2854439" cy="161965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071399" y="2423162"/>
              <a:ext cx="2651760" cy="1417320"/>
            </a:xfrm>
            <a:custGeom>
              <a:avLst/>
              <a:gdLst/>
              <a:ahLst/>
              <a:cxnLst/>
              <a:rect l="l" t="t" r="r" b="b"/>
              <a:pathLst>
                <a:path w="2651759" h="1417320">
                  <a:moveTo>
                    <a:pt x="2651404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1325879" y="1416964"/>
                  </a:lnTo>
                  <a:lnTo>
                    <a:pt x="2651404" y="1416964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71399" y="2422806"/>
              <a:ext cx="2651760" cy="91440"/>
            </a:xfrm>
            <a:custGeom>
              <a:avLst/>
              <a:gdLst/>
              <a:ahLst/>
              <a:cxnLst/>
              <a:rect l="l" t="t" r="r" b="b"/>
              <a:pathLst>
                <a:path w="2651759" h="91439">
                  <a:moveTo>
                    <a:pt x="2651404" y="0"/>
                  </a:moveTo>
                  <a:lnTo>
                    <a:pt x="0" y="0"/>
                  </a:lnTo>
                  <a:lnTo>
                    <a:pt x="0" y="91071"/>
                  </a:lnTo>
                  <a:lnTo>
                    <a:pt x="1325879" y="91071"/>
                  </a:lnTo>
                  <a:lnTo>
                    <a:pt x="2651404" y="91071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1B2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41465" y="2604860"/>
            <a:ext cx="1711960" cy="593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190" dirty="0">
                <a:solidFill>
                  <a:srgbClr val="1B223F"/>
                </a:solidFill>
                <a:latin typeface="Cambria"/>
                <a:cs typeface="Cambria"/>
              </a:rPr>
              <a:t>Post-</a:t>
            </a:r>
            <a:r>
              <a:rPr sz="2000" b="1" spc="240" dirty="0">
                <a:solidFill>
                  <a:srgbClr val="1B223F"/>
                </a:solidFill>
                <a:latin typeface="Cambria"/>
                <a:cs typeface="Cambria"/>
              </a:rPr>
              <a:t>Cancel</a:t>
            </a:r>
            <a:endParaRPr sz="20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865"/>
              </a:spcBef>
            </a:pPr>
            <a:r>
              <a:rPr sz="1000" b="1" spc="-20" dirty="0">
                <a:solidFill>
                  <a:srgbClr val="1B223F"/>
                </a:solidFill>
                <a:latin typeface="Calibri"/>
                <a:cs typeface="Calibri"/>
              </a:rPr>
              <a:t>Re-</a:t>
            </a:r>
            <a:r>
              <a:rPr sz="1000" b="1" dirty="0">
                <a:solidFill>
                  <a:srgbClr val="1B223F"/>
                </a:solidFill>
                <a:latin typeface="Calibri"/>
                <a:cs typeface="Calibri"/>
              </a:rPr>
              <a:t>order</a:t>
            </a:r>
            <a:r>
              <a:rPr sz="1000" b="1" spc="-1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1B223F"/>
                </a:solidFill>
                <a:latin typeface="Calibri"/>
                <a:cs typeface="Calibri"/>
              </a:rPr>
              <a:t>Rate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37782" y="3398306"/>
            <a:ext cx="19164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6A717F"/>
                </a:solidFill>
                <a:latin typeface="Calibri"/>
                <a:cs typeface="Calibri"/>
              </a:rPr>
              <a:t>Low</a:t>
            </a:r>
            <a:r>
              <a:rPr sz="9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717F"/>
                </a:solidFill>
                <a:latin typeface="Calibri"/>
                <a:cs typeface="Calibri"/>
              </a:rPr>
              <a:t>re-engagement</a:t>
            </a:r>
            <a:r>
              <a:rPr sz="9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717F"/>
                </a:solidFill>
                <a:latin typeface="Calibri"/>
                <a:cs typeface="Calibri"/>
              </a:rPr>
              <a:t>after</a:t>
            </a:r>
            <a:r>
              <a:rPr sz="9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717F"/>
                </a:solidFill>
                <a:latin typeface="Calibri"/>
                <a:cs typeface="Calibri"/>
              </a:rPr>
              <a:t>cancellations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37236" y="3966821"/>
            <a:ext cx="8615680" cy="1007110"/>
            <a:chOff x="237236" y="3966821"/>
            <a:chExt cx="8615680" cy="100711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236" y="3966821"/>
              <a:ext cx="8615159" cy="10069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5404" y="4041726"/>
              <a:ext cx="8412480" cy="804545"/>
            </a:xfrm>
            <a:custGeom>
              <a:avLst/>
              <a:gdLst/>
              <a:ahLst/>
              <a:cxnLst/>
              <a:rect l="l" t="t" r="r" b="b"/>
              <a:pathLst>
                <a:path w="8412480" h="804545">
                  <a:moveTo>
                    <a:pt x="841211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4206240" y="804240"/>
                  </a:lnTo>
                  <a:lnTo>
                    <a:pt x="8412111" y="80424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FCE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5760" y="4041726"/>
              <a:ext cx="109855" cy="804545"/>
            </a:xfrm>
            <a:custGeom>
              <a:avLst/>
              <a:gdLst/>
              <a:ahLst/>
              <a:cxnLst/>
              <a:rect l="l" t="t" r="r" b="b"/>
              <a:pathLst>
                <a:path w="109854" h="804545">
                  <a:moveTo>
                    <a:pt x="10943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54724" y="804240"/>
                  </a:lnTo>
                  <a:lnTo>
                    <a:pt x="109435" y="804240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E761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71296" y="4061716"/>
            <a:ext cx="7491095" cy="6680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000" b="1" dirty="0">
                <a:solidFill>
                  <a:srgbClr val="E76119"/>
                </a:solidFill>
                <a:latin typeface="Calibri"/>
                <a:cs typeface="Calibri"/>
              </a:rPr>
              <a:t>Root</a:t>
            </a:r>
            <a:r>
              <a:rPr sz="1000" b="1" spc="-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76119"/>
                </a:solidFill>
                <a:latin typeface="Calibri"/>
                <a:cs typeface="Calibri"/>
              </a:rPr>
              <a:t>Cause</a:t>
            </a:r>
            <a:r>
              <a:rPr sz="1000" b="1" spc="-3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76119"/>
                </a:solidFill>
                <a:latin typeface="Calibri"/>
                <a:cs typeface="Calibri"/>
              </a:rPr>
              <a:t>Hypothesis: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35"/>
              </a:spcBef>
            </a:pP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Post-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payment</a:t>
            </a:r>
            <a:r>
              <a:rPr sz="1100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order</a:t>
            </a:r>
            <a:r>
              <a:rPr sz="1100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cancellations</a:t>
            </a:r>
            <a:r>
              <a:rPr sz="1100" spc="-3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—</a:t>
            </a:r>
            <a:r>
              <a:rPr sz="1100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caused</a:t>
            </a:r>
            <a:r>
              <a:rPr sz="1100" spc="-3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by</a:t>
            </a:r>
            <a:r>
              <a:rPr sz="1100" spc="-3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kitchen</a:t>
            </a:r>
            <a:r>
              <a:rPr sz="1100" spc="-3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unavailability</a:t>
            </a:r>
            <a:r>
              <a:rPr sz="1100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—</a:t>
            </a: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erode</a:t>
            </a: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user</a:t>
            </a:r>
            <a:r>
              <a:rPr sz="1100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trust</a:t>
            </a:r>
            <a:r>
              <a:rPr sz="1100" spc="-3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and</a:t>
            </a:r>
            <a:r>
              <a:rPr sz="1100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reduce</a:t>
            </a:r>
            <a:r>
              <a:rPr sz="1100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repeat</a:t>
            </a:r>
            <a:r>
              <a:rPr sz="1100" spc="-3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ordering</a:t>
            </a:r>
            <a:r>
              <a:rPr sz="1100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frequency</a:t>
            </a:r>
            <a:r>
              <a:rPr sz="1100" spc="-3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over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subsequent</a:t>
            </a:r>
            <a:r>
              <a:rPr sz="1100" spc="-4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weeks.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696" y="246153"/>
            <a:ext cx="4438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U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9688" y="246153"/>
            <a:ext cx="8121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P</a:t>
            </a:r>
            <a:r>
              <a:rPr sz="1100" b="1" spc="3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N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E76119"/>
                </a:solidFill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5795" y="793790"/>
            <a:ext cx="3403600" cy="4180204"/>
            <a:chOff x="145795" y="793790"/>
            <a:chExt cx="3403600" cy="41802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795" y="793790"/>
              <a:ext cx="3403079" cy="41799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3964" y="868682"/>
              <a:ext cx="3200400" cy="3977640"/>
            </a:xfrm>
            <a:custGeom>
              <a:avLst/>
              <a:gdLst/>
              <a:ahLst/>
              <a:cxnLst/>
              <a:rect l="l" t="t" r="r" b="b"/>
              <a:pathLst>
                <a:path w="3200400" h="3977640">
                  <a:moveTo>
                    <a:pt x="3200031" y="0"/>
                  </a:moveTo>
                  <a:lnTo>
                    <a:pt x="0" y="0"/>
                  </a:lnTo>
                  <a:lnTo>
                    <a:pt x="0" y="3977284"/>
                  </a:lnTo>
                  <a:lnTo>
                    <a:pt x="1600200" y="3977284"/>
                  </a:lnTo>
                  <a:lnTo>
                    <a:pt x="3200031" y="3977284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1B2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96924" y="1051206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777240" y="0"/>
                  </a:moveTo>
                  <a:lnTo>
                    <a:pt x="726216" y="1679"/>
                  </a:lnTo>
                  <a:lnTo>
                    <a:pt x="675585" y="6686"/>
                  </a:lnTo>
                  <a:lnTo>
                    <a:pt x="625503" y="14976"/>
                  </a:lnTo>
                  <a:lnTo>
                    <a:pt x="576127" y="26501"/>
                  </a:lnTo>
                  <a:lnTo>
                    <a:pt x="527612" y="41216"/>
                  </a:lnTo>
                  <a:lnTo>
                    <a:pt x="480115" y="59075"/>
                  </a:lnTo>
                  <a:lnTo>
                    <a:pt x="433791" y="80031"/>
                  </a:lnTo>
                  <a:lnTo>
                    <a:pt x="388797" y="104038"/>
                  </a:lnTo>
                  <a:lnTo>
                    <a:pt x="345362" y="131055"/>
                  </a:lnTo>
                  <a:lnTo>
                    <a:pt x="303956" y="160733"/>
                  </a:lnTo>
                  <a:lnTo>
                    <a:pt x="264684" y="192968"/>
                  </a:lnTo>
                  <a:lnTo>
                    <a:pt x="227653" y="227653"/>
                  </a:lnTo>
                  <a:lnTo>
                    <a:pt x="192968" y="264684"/>
                  </a:lnTo>
                  <a:lnTo>
                    <a:pt x="160733" y="303956"/>
                  </a:lnTo>
                  <a:lnTo>
                    <a:pt x="131055" y="345362"/>
                  </a:lnTo>
                  <a:lnTo>
                    <a:pt x="104038" y="388797"/>
                  </a:lnTo>
                  <a:lnTo>
                    <a:pt x="80031" y="433791"/>
                  </a:lnTo>
                  <a:lnTo>
                    <a:pt x="59145" y="479959"/>
                  </a:lnTo>
                  <a:lnTo>
                    <a:pt x="41216" y="527612"/>
                  </a:lnTo>
                  <a:lnTo>
                    <a:pt x="26501" y="576127"/>
                  </a:lnTo>
                  <a:lnTo>
                    <a:pt x="14976" y="625503"/>
                  </a:lnTo>
                  <a:lnTo>
                    <a:pt x="6686" y="675585"/>
                  </a:lnTo>
                  <a:lnTo>
                    <a:pt x="1679" y="726216"/>
                  </a:lnTo>
                  <a:lnTo>
                    <a:pt x="0" y="777240"/>
                  </a:lnTo>
                  <a:lnTo>
                    <a:pt x="1679" y="828260"/>
                  </a:lnTo>
                  <a:lnTo>
                    <a:pt x="6686" y="878892"/>
                  </a:lnTo>
                  <a:lnTo>
                    <a:pt x="14976" y="928985"/>
                  </a:lnTo>
                  <a:lnTo>
                    <a:pt x="26501" y="978387"/>
                  </a:lnTo>
                  <a:lnTo>
                    <a:pt x="41216" y="1026945"/>
                  </a:lnTo>
                  <a:lnTo>
                    <a:pt x="59075" y="1074507"/>
                  </a:lnTo>
                  <a:lnTo>
                    <a:pt x="80031" y="1120922"/>
                  </a:lnTo>
                  <a:lnTo>
                    <a:pt x="104038" y="1166037"/>
                  </a:lnTo>
                  <a:lnTo>
                    <a:pt x="131055" y="1209352"/>
                  </a:lnTo>
                  <a:lnTo>
                    <a:pt x="160733" y="1250668"/>
                  </a:lnTo>
                  <a:lnTo>
                    <a:pt x="192968" y="1289876"/>
                  </a:lnTo>
                  <a:lnTo>
                    <a:pt x="227653" y="1326865"/>
                  </a:lnTo>
                  <a:lnTo>
                    <a:pt x="264684" y="1361527"/>
                  </a:lnTo>
                  <a:lnTo>
                    <a:pt x="303956" y="1393750"/>
                  </a:lnTo>
                  <a:lnTo>
                    <a:pt x="345362" y="1423425"/>
                  </a:lnTo>
                  <a:lnTo>
                    <a:pt x="388797" y="1450441"/>
                  </a:lnTo>
                  <a:lnTo>
                    <a:pt x="433791" y="1474445"/>
                  </a:lnTo>
                  <a:lnTo>
                    <a:pt x="480115" y="1495399"/>
                  </a:lnTo>
                  <a:lnTo>
                    <a:pt x="527612" y="1513257"/>
                  </a:lnTo>
                  <a:lnTo>
                    <a:pt x="576127" y="1527973"/>
                  </a:lnTo>
                  <a:lnTo>
                    <a:pt x="625503" y="1539500"/>
                  </a:lnTo>
                  <a:lnTo>
                    <a:pt x="675585" y="1547791"/>
                  </a:lnTo>
                  <a:lnTo>
                    <a:pt x="726216" y="1552800"/>
                  </a:lnTo>
                  <a:lnTo>
                    <a:pt x="777240" y="1554480"/>
                  </a:lnTo>
                  <a:lnTo>
                    <a:pt x="828260" y="1552800"/>
                  </a:lnTo>
                  <a:lnTo>
                    <a:pt x="878892" y="1547791"/>
                  </a:lnTo>
                  <a:lnTo>
                    <a:pt x="928985" y="1539500"/>
                  </a:lnTo>
                  <a:lnTo>
                    <a:pt x="978387" y="1527973"/>
                  </a:lnTo>
                  <a:lnTo>
                    <a:pt x="1026945" y="1513257"/>
                  </a:lnTo>
                  <a:lnTo>
                    <a:pt x="1074507" y="1495399"/>
                  </a:lnTo>
                  <a:lnTo>
                    <a:pt x="1120922" y="1474445"/>
                  </a:lnTo>
                  <a:lnTo>
                    <a:pt x="1166037" y="1450441"/>
                  </a:lnTo>
                  <a:lnTo>
                    <a:pt x="1209352" y="1423425"/>
                  </a:lnTo>
                  <a:lnTo>
                    <a:pt x="1250668" y="1393750"/>
                  </a:lnTo>
                  <a:lnTo>
                    <a:pt x="1289876" y="1361527"/>
                  </a:lnTo>
                  <a:lnTo>
                    <a:pt x="1326865" y="1326865"/>
                  </a:lnTo>
                  <a:lnTo>
                    <a:pt x="1361527" y="1289876"/>
                  </a:lnTo>
                  <a:lnTo>
                    <a:pt x="1393750" y="1250668"/>
                  </a:lnTo>
                  <a:lnTo>
                    <a:pt x="1423425" y="1209352"/>
                  </a:lnTo>
                  <a:lnTo>
                    <a:pt x="1450441" y="1166037"/>
                  </a:lnTo>
                  <a:lnTo>
                    <a:pt x="1474445" y="1120922"/>
                  </a:lnTo>
                  <a:lnTo>
                    <a:pt x="1495399" y="1074507"/>
                  </a:lnTo>
                  <a:lnTo>
                    <a:pt x="1513257" y="1026945"/>
                  </a:lnTo>
                  <a:lnTo>
                    <a:pt x="1527973" y="978387"/>
                  </a:lnTo>
                  <a:lnTo>
                    <a:pt x="1539500" y="928985"/>
                  </a:lnTo>
                  <a:lnTo>
                    <a:pt x="1547791" y="878892"/>
                  </a:lnTo>
                  <a:lnTo>
                    <a:pt x="1552800" y="828260"/>
                  </a:lnTo>
                  <a:lnTo>
                    <a:pt x="1554480" y="777240"/>
                  </a:lnTo>
                  <a:lnTo>
                    <a:pt x="1552800" y="726216"/>
                  </a:lnTo>
                  <a:lnTo>
                    <a:pt x="1547791" y="675585"/>
                  </a:lnTo>
                  <a:lnTo>
                    <a:pt x="1539503" y="625503"/>
                  </a:lnTo>
                  <a:lnTo>
                    <a:pt x="1527984" y="576127"/>
                  </a:lnTo>
                  <a:lnTo>
                    <a:pt x="1513284" y="527612"/>
                  </a:lnTo>
                  <a:lnTo>
                    <a:pt x="1495457" y="480115"/>
                  </a:lnTo>
                  <a:lnTo>
                    <a:pt x="1474556" y="433791"/>
                  </a:lnTo>
                  <a:lnTo>
                    <a:pt x="1450441" y="388429"/>
                  </a:lnTo>
                  <a:lnTo>
                    <a:pt x="1423424" y="345115"/>
                  </a:lnTo>
                  <a:lnTo>
                    <a:pt x="1393856" y="303956"/>
                  </a:lnTo>
                  <a:lnTo>
                    <a:pt x="1361581" y="264684"/>
                  </a:lnTo>
                  <a:lnTo>
                    <a:pt x="1326862" y="227653"/>
                  </a:lnTo>
                  <a:lnTo>
                    <a:pt x="1289807" y="192968"/>
                  </a:lnTo>
                  <a:lnTo>
                    <a:pt x="1250520" y="160733"/>
                  </a:lnTo>
                  <a:lnTo>
                    <a:pt x="1209106" y="131055"/>
                  </a:lnTo>
                  <a:lnTo>
                    <a:pt x="1165669" y="104038"/>
                  </a:lnTo>
                  <a:lnTo>
                    <a:pt x="1120675" y="80031"/>
                  </a:lnTo>
                  <a:lnTo>
                    <a:pt x="1074352" y="59075"/>
                  </a:lnTo>
                  <a:lnTo>
                    <a:pt x="1026855" y="41216"/>
                  </a:lnTo>
                  <a:lnTo>
                    <a:pt x="978341" y="26501"/>
                  </a:lnTo>
                  <a:lnTo>
                    <a:pt x="928966" y="14976"/>
                  </a:lnTo>
                  <a:lnTo>
                    <a:pt x="878887" y="6686"/>
                  </a:lnTo>
                  <a:lnTo>
                    <a:pt x="828259" y="1679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E7611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76336" y="1506332"/>
            <a:ext cx="594995" cy="671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00" spc="200" dirty="0">
                <a:latin typeface="MingLiU_HKSCS-ExtB"/>
                <a:cs typeface="MingLiU_HKSCS-ExtB"/>
              </a:rPr>
              <a:t>👤</a:t>
            </a:r>
            <a:endParaRPr sz="4200">
              <a:latin typeface="MingLiU_HKSCS-ExtB"/>
              <a:cs typeface="MingLiU_HKSCS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6782" y="2768665"/>
            <a:ext cx="2192020" cy="544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7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600" b="1" spc="20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180" dirty="0">
                <a:solidFill>
                  <a:srgbClr val="FFFFFF"/>
                </a:solidFill>
                <a:latin typeface="Cambria"/>
                <a:cs typeface="Cambria"/>
              </a:rPr>
              <a:t>Urban</a:t>
            </a:r>
            <a:r>
              <a:rPr sz="1600" b="1" spc="2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140" dirty="0">
                <a:solidFill>
                  <a:srgbClr val="FFFFFF"/>
                </a:solidFill>
                <a:latin typeface="Cambria"/>
                <a:cs typeface="Cambria"/>
              </a:rPr>
              <a:t>Orderer</a:t>
            </a:r>
            <a:endParaRPr sz="1600">
              <a:latin typeface="Cambria"/>
              <a:cs typeface="Cambria"/>
            </a:endParaRPr>
          </a:p>
          <a:p>
            <a:pPr marL="18415">
              <a:lnSpc>
                <a:spcPct val="100000"/>
              </a:lnSpc>
              <a:spcBef>
                <a:spcPts val="1025"/>
              </a:spcBef>
            </a:pPr>
            <a:r>
              <a:rPr sz="950" dirty="0">
                <a:solidFill>
                  <a:srgbClr val="E76119"/>
                </a:solidFill>
                <a:latin typeface="Calibri"/>
                <a:cs typeface="Calibri"/>
              </a:rPr>
              <a:t>Age</a:t>
            </a:r>
            <a:r>
              <a:rPr sz="950" spc="-3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76119"/>
                </a:solidFill>
                <a:latin typeface="Calibri"/>
                <a:cs typeface="Calibri"/>
              </a:rPr>
              <a:t>20–35</a:t>
            </a:r>
            <a:r>
              <a:rPr sz="950" spc="-2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76119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76119"/>
                </a:solidFill>
                <a:latin typeface="Calibri"/>
                <a:cs typeface="Calibri"/>
              </a:rPr>
              <a:t>Tier-</a:t>
            </a:r>
            <a:r>
              <a:rPr sz="950" dirty="0">
                <a:solidFill>
                  <a:srgbClr val="E76119"/>
                </a:solidFill>
                <a:latin typeface="Calibri"/>
                <a:cs typeface="Calibri"/>
              </a:rPr>
              <a:t>1</a:t>
            </a:r>
            <a:r>
              <a:rPr sz="950" spc="-2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76119"/>
                </a:solidFill>
                <a:latin typeface="Calibri"/>
                <a:cs typeface="Calibri"/>
              </a:rPr>
              <a:t>Cities</a:t>
            </a:r>
            <a:r>
              <a:rPr sz="950" spc="-2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76119"/>
                </a:solidFill>
                <a:latin typeface="Calibri"/>
                <a:cs typeface="Calibri"/>
              </a:rPr>
              <a:t>·</a:t>
            </a:r>
            <a:r>
              <a:rPr sz="950" spc="-3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E76119"/>
                </a:solidFill>
                <a:latin typeface="Calibri"/>
                <a:cs typeface="Calibri"/>
              </a:rPr>
              <a:t>2–4</a:t>
            </a:r>
            <a:r>
              <a:rPr sz="950" spc="-2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76119"/>
                </a:solidFill>
                <a:latin typeface="Calibri"/>
                <a:cs typeface="Calibri"/>
              </a:rPr>
              <a:t>orders/month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1480" y="3493098"/>
            <a:ext cx="164465" cy="1124585"/>
          </a:xfrm>
          <a:custGeom>
            <a:avLst/>
            <a:gdLst/>
            <a:ahLst/>
            <a:cxnLst/>
            <a:rect l="l" t="t" r="r" b="b"/>
            <a:pathLst>
              <a:path w="164465" h="1124585">
                <a:moveTo>
                  <a:pt x="164160" y="960107"/>
                </a:moveTo>
                <a:lnTo>
                  <a:pt x="0" y="960107"/>
                </a:lnTo>
                <a:lnTo>
                  <a:pt x="0" y="1124267"/>
                </a:lnTo>
                <a:lnTo>
                  <a:pt x="82080" y="1124267"/>
                </a:lnTo>
                <a:lnTo>
                  <a:pt x="164160" y="1124267"/>
                </a:lnTo>
                <a:lnTo>
                  <a:pt x="164160" y="960107"/>
                </a:lnTo>
                <a:close/>
              </a:path>
              <a:path w="164465" h="1124585">
                <a:moveTo>
                  <a:pt x="164160" y="640067"/>
                </a:moveTo>
                <a:lnTo>
                  <a:pt x="0" y="640067"/>
                </a:lnTo>
                <a:lnTo>
                  <a:pt x="0" y="804227"/>
                </a:lnTo>
                <a:lnTo>
                  <a:pt x="82080" y="804227"/>
                </a:lnTo>
                <a:lnTo>
                  <a:pt x="164160" y="804227"/>
                </a:lnTo>
                <a:lnTo>
                  <a:pt x="164160" y="640067"/>
                </a:lnTo>
                <a:close/>
              </a:path>
              <a:path w="164465" h="1124585">
                <a:moveTo>
                  <a:pt x="164160" y="320027"/>
                </a:moveTo>
                <a:lnTo>
                  <a:pt x="0" y="320027"/>
                </a:lnTo>
                <a:lnTo>
                  <a:pt x="0" y="484187"/>
                </a:lnTo>
                <a:lnTo>
                  <a:pt x="82080" y="484187"/>
                </a:lnTo>
                <a:lnTo>
                  <a:pt x="164160" y="484187"/>
                </a:lnTo>
                <a:lnTo>
                  <a:pt x="164160" y="320027"/>
                </a:lnTo>
                <a:close/>
              </a:path>
              <a:path w="164465" h="1124585">
                <a:moveTo>
                  <a:pt x="164160" y="0"/>
                </a:moveTo>
                <a:lnTo>
                  <a:pt x="0" y="0"/>
                </a:lnTo>
                <a:lnTo>
                  <a:pt x="0" y="164147"/>
                </a:lnTo>
                <a:lnTo>
                  <a:pt x="82080" y="164147"/>
                </a:lnTo>
                <a:lnTo>
                  <a:pt x="164160" y="164147"/>
                </a:lnTo>
                <a:lnTo>
                  <a:pt x="164160" y="0"/>
                </a:lnTo>
                <a:close/>
              </a:path>
            </a:pathLst>
          </a:custGeom>
          <a:solidFill>
            <a:srgbClr val="E761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5380" y="3517457"/>
            <a:ext cx="17113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Student</a:t>
            </a:r>
            <a:r>
              <a:rPr sz="950" spc="-5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/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 Early-</a:t>
            </a: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career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 professional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5380" y="3837497"/>
            <a:ext cx="19094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AOV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 ~₹450</a:t>
            </a: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(solo/light</a:t>
            </a:r>
            <a:r>
              <a:rPr sz="950" spc="-5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2-person</a:t>
            </a:r>
            <a:r>
              <a:rPr sz="950" spc="-5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meals)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5380" y="4157537"/>
            <a:ext cx="15582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Values</a:t>
            </a:r>
            <a:r>
              <a:rPr sz="950" spc="-35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reliability</a:t>
            </a:r>
            <a:r>
              <a:rPr sz="950" spc="-35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over</a:t>
            </a:r>
            <a:r>
              <a:rPr sz="950" spc="-30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discounts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5380" y="4477577"/>
            <a:ext cx="21812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Does</a:t>
            </a:r>
            <a:r>
              <a:rPr sz="950" spc="-15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NOT</a:t>
            </a:r>
            <a:r>
              <a:rPr sz="950" spc="-20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uninstall </a:t>
            </a: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CCDC"/>
                </a:solidFill>
                <a:latin typeface="Calibri"/>
                <a:cs typeface="Calibri"/>
              </a:rPr>
              <a:t>silently</a:t>
            </a:r>
            <a:r>
              <a:rPr sz="950" spc="-25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CCDC"/>
                </a:solidFill>
                <a:latin typeface="Calibri"/>
                <a:cs typeface="Calibri"/>
              </a:rPr>
              <a:t>reduces</a:t>
            </a:r>
            <a:r>
              <a:rPr sz="950" spc="-15" dirty="0">
                <a:solidFill>
                  <a:srgbClr val="CCCCDC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CCCCDC"/>
                </a:solidFill>
                <a:latin typeface="Calibri"/>
                <a:cs typeface="Calibri"/>
              </a:rPr>
              <a:t>usage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48684" y="868682"/>
            <a:ext cx="5120640" cy="347345"/>
          </a:xfrm>
          <a:custGeom>
            <a:avLst/>
            <a:gdLst/>
            <a:ahLst/>
            <a:cxnLst/>
            <a:rect l="l" t="t" r="r" b="b"/>
            <a:pathLst>
              <a:path w="5120640" h="347344">
                <a:moveTo>
                  <a:pt x="5120271" y="0"/>
                </a:moveTo>
                <a:lnTo>
                  <a:pt x="0" y="0"/>
                </a:lnTo>
                <a:lnTo>
                  <a:pt x="0" y="347040"/>
                </a:lnTo>
                <a:lnTo>
                  <a:pt x="2560319" y="347040"/>
                </a:lnTo>
                <a:lnTo>
                  <a:pt x="5120271" y="347040"/>
                </a:lnTo>
                <a:lnTo>
                  <a:pt x="5120271" y="0"/>
                </a:lnTo>
                <a:close/>
              </a:path>
            </a:pathLst>
          </a:custGeom>
          <a:solidFill>
            <a:srgbClr val="1CB87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8844" y="1298157"/>
            <a:ext cx="109791" cy="10980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963136" y="945631"/>
            <a:ext cx="2660015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Motivations</a:t>
            </a:r>
            <a:endParaRPr sz="110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  <a:spcBef>
                <a:spcPts val="1270"/>
              </a:spcBef>
            </a:pP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Convenience-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first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—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quick</a:t>
            </a:r>
            <a:r>
              <a:rPr sz="1100" spc="-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decision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order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8844" y="1608838"/>
            <a:ext cx="109791" cy="10980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118660" y="1585711"/>
            <a:ext cx="2670810" cy="50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High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expectation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fulfillment</a:t>
            </a:r>
            <a:r>
              <a:rPr sz="1100" spc="-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once</a:t>
            </a:r>
            <a:r>
              <a:rPr sz="1100" spc="-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confirmed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Consistent,</a:t>
            </a:r>
            <a:r>
              <a:rPr sz="1100" spc="-5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predictable</a:t>
            </a:r>
            <a:r>
              <a:rPr sz="1100" spc="-5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delivery</a:t>
            </a:r>
            <a:r>
              <a:rPr sz="1100" spc="-5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experience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58844" y="1920242"/>
            <a:ext cx="109791" cy="109804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3748684" y="2313357"/>
            <a:ext cx="5120640" cy="347345"/>
          </a:xfrm>
          <a:custGeom>
            <a:avLst/>
            <a:gdLst/>
            <a:ahLst/>
            <a:cxnLst/>
            <a:rect l="l" t="t" r="r" b="b"/>
            <a:pathLst>
              <a:path w="5120640" h="347344">
                <a:moveTo>
                  <a:pt x="5120271" y="0"/>
                </a:moveTo>
                <a:lnTo>
                  <a:pt x="0" y="0"/>
                </a:lnTo>
                <a:lnTo>
                  <a:pt x="0" y="347040"/>
                </a:lnTo>
                <a:lnTo>
                  <a:pt x="2560319" y="347040"/>
                </a:lnTo>
                <a:lnTo>
                  <a:pt x="5120271" y="347040"/>
                </a:lnTo>
                <a:lnTo>
                  <a:pt x="5120271" y="0"/>
                </a:lnTo>
                <a:close/>
              </a:path>
            </a:pathLst>
          </a:custGeom>
          <a:solidFill>
            <a:srgbClr val="E73F3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963136" y="2390307"/>
            <a:ext cx="6673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Pain</a:t>
            </a:r>
            <a:r>
              <a:rPr sz="11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8844" y="2742846"/>
            <a:ext cx="109791" cy="10979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118660" y="2719351"/>
            <a:ext cx="255079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Item</a:t>
            </a:r>
            <a:r>
              <a:rPr sz="1100" spc="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unavailability</a:t>
            </a:r>
            <a:r>
              <a:rPr sz="1100" spc="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discovered</a:t>
            </a:r>
            <a:r>
              <a:rPr sz="1100" spc="1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after</a:t>
            </a:r>
            <a:r>
              <a:rPr sz="1100" spc="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payment</a:t>
            </a:r>
            <a:endParaRPr sz="1100">
              <a:latin typeface="Calibri"/>
              <a:cs typeface="Calibri"/>
            </a:endParaRPr>
          </a:p>
          <a:p>
            <a:pPr marL="12700" marR="75565">
              <a:lnSpc>
                <a:spcPct val="185500"/>
              </a:lnSpc>
            </a:pP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Restaurant-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side cancellations at peak</a:t>
            </a:r>
            <a:r>
              <a:rPr sz="1100" spc="1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hours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Time</a:t>
            </a:r>
            <a:r>
              <a:rPr sz="1100" spc="-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wasted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due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late-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stage</a:t>
            </a: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failures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8844" y="3053882"/>
            <a:ext cx="109791" cy="10980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8844" y="3364562"/>
            <a:ext cx="109791" cy="109804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3748684" y="3758046"/>
            <a:ext cx="5120640" cy="347345"/>
          </a:xfrm>
          <a:custGeom>
            <a:avLst/>
            <a:gdLst/>
            <a:ahLst/>
            <a:cxnLst/>
            <a:rect l="l" t="t" r="r" b="b"/>
            <a:pathLst>
              <a:path w="5120640" h="347345">
                <a:moveTo>
                  <a:pt x="5120271" y="0"/>
                </a:moveTo>
                <a:lnTo>
                  <a:pt x="0" y="0"/>
                </a:lnTo>
                <a:lnTo>
                  <a:pt x="0" y="347040"/>
                </a:lnTo>
                <a:lnTo>
                  <a:pt x="2560319" y="347040"/>
                </a:lnTo>
                <a:lnTo>
                  <a:pt x="5120271" y="347040"/>
                </a:lnTo>
                <a:lnTo>
                  <a:pt x="5120271" y="0"/>
                </a:lnTo>
                <a:close/>
              </a:path>
            </a:pathLst>
          </a:custGeom>
          <a:solidFill>
            <a:srgbClr val="E7611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963136" y="3834982"/>
            <a:ext cx="18072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Behavioral</a:t>
            </a:r>
            <a:r>
              <a:rPr sz="11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r>
              <a:rPr sz="11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Failure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58844" y="4187877"/>
            <a:ext cx="109791" cy="10980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118660" y="4164383"/>
            <a:ext cx="3048000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Does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not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uninstall</a:t>
            </a: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—</a:t>
            </a:r>
            <a:r>
              <a:rPr sz="1100" spc="-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'silent</a:t>
            </a:r>
            <a:r>
              <a:rPr sz="1100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churn'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ts val="2450"/>
              </a:lnSpc>
              <a:spcBef>
                <a:spcPts val="95"/>
              </a:spcBef>
            </a:pP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Reduced</a:t>
            </a:r>
            <a:r>
              <a:rPr sz="1100" spc="-4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ordering</a:t>
            </a:r>
            <a:r>
              <a:rPr sz="1100" spc="-3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frequency</a:t>
            </a:r>
            <a:r>
              <a:rPr sz="1100" spc="-4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in</a:t>
            </a:r>
            <a:r>
              <a:rPr sz="1100" spc="-4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following</a:t>
            </a:r>
            <a:r>
              <a:rPr sz="1100" spc="-3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B223F"/>
                </a:solidFill>
                <a:latin typeface="Calibri"/>
                <a:cs typeface="Calibri"/>
              </a:rPr>
              <a:t>weeks</a:t>
            </a:r>
            <a:r>
              <a:rPr sz="1100" spc="50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Lower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NPS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→</a:t>
            </a:r>
            <a:r>
              <a:rPr sz="1100" spc="-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fewer recommendations</a:t>
            </a:r>
            <a:r>
              <a:rPr sz="1100" spc="-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→</a:t>
            </a:r>
            <a:r>
              <a:rPr sz="1100" spc="-1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223F"/>
                </a:solidFill>
                <a:latin typeface="Calibri"/>
                <a:cs typeface="Calibri"/>
              </a:rPr>
              <a:t>lower</a:t>
            </a:r>
            <a:r>
              <a:rPr sz="1100" spc="-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B223F"/>
                </a:solidFill>
                <a:latin typeface="Calibri"/>
                <a:cs typeface="Calibri"/>
              </a:rPr>
              <a:t>GMV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58844" y="4498926"/>
            <a:ext cx="109791" cy="10979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58844" y="4809606"/>
            <a:ext cx="109791" cy="1097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3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2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631" y="0"/>
                </a:moveTo>
                <a:lnTo>
                  <a:pt x="0" y="0"/>
                </a:lnTo>
                <a:lnTo>
                  <a:pt x="0" y="685444"/>
                </a:lnTo>
                <a:lnTo>
                  <a:pt x="4572000" y="685444"/>
                </a:lnTo>
                <a:lnTo>
                  <a:pt x="9143631" y="685444"/>
                </a:lnTo>
                <a:lnTo>
                  <a:pt x="9143631" y="0"/>
                </a:lnTo>
                <a:close/>
              </a:path>
            </a:pathLst>
          </a:custGeom>
          <a:solidFill>
            <a:srgbClr val="1B22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2696" y="246153"/>
            <a:ext cx="20389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2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5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2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r>
              <a:rPr sz="1100" b="1" spc="170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C</a:t>
            </a:r>
            <a:r>
              <a:rPr sz="1100" b="1" spc="5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A</a:t>
            </a:r>
            <a:r>
              <a:rPr sz="1100" b="1" spc="2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U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5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1100" b="1" spc="165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A</a:t>
            </a:r>
            <a:r>
              <a:rPr sz="1100" b="1" spc="6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N</a:t>
            </a:r>
            <a:r>
              <a:rPr sz="1100" b="1" spc="5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A</a:t>
            </a:r>
            <a:r>
              <a:rPr sz="1100" b="1" spc="3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L</a:t>
            </a:r>
            <a:r>
              <a:rPr sz="1100" b="1" spc="-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Y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I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260" dirty="0">
                <a:solidFill>
                  <a:srgbClr val="1B223F"/>
                </a:solidFill>
              </a:rPr>
              <a:t>3</a:t>
            </a:r>
            <a:r>
              <a:rPr sz="2600" spc="330" dirty="0">
                <a:solidFill>
                  <a:srgbClr val="1B223F"/>
                </a:solidFill>
              </a:rPr>
              <a:t> </a:t>
            </a:r>
            <a:r>
              <a:rPr sz="2600" spc="285" dirty="0">
                <a:solidFill>
                  <a:srgbClr val="1B223F"/>
                </a:solidFill>
              </a:rPr>
              <a:t>Hypotheses</a:t>
            </a:r>
            <a:r>
              <a:rPr sz="2600" spc="345" dirty="0">
                <a:solidFill>
                  <a:srgbClr val="1B223F"/>
                </a:solidFill>
              </a:rPr>
              <a:t> </a:t>
            </a:r>
            <a:r>
              <a:rPr sz="2600" spc="280" dirty="0">
                <a:solidFill>
                  <a:srgbClr val="1B223F"/>
                </a:solidFill>
              </a:rPr>
              <a:t>Explaining</a:t>
            </a:r>
            <a:r>
              <a:rPr sz="2600" spc="340" dirty="0">
                <a:solidFill>
                  <a:srgbClr val="1B223F"/>
                </a:solidFill>
              </a:rPr>
              <a:t> </a:t>
            </a:r>
            <a:r>
              <a:rPr sz="2600" spc="280" dirty="0">
                <a:solidFill>
                  <a:srgbClr val="1B223F"/>
                </a:solidFill>
              </a:rPr>
              <a:t>the</a:t>
            </a:r>
            <a:r>
              <a:rPr sz="2600" spc="340" dirty="0">
                <a:solidFill>
                  <a:srgbClr val="1B223F"/>
                </a:solidFill>
              </a:rPr>
              <a:t> </a:t>
            </a:r>
            <a:r>
              <a:rPr sz="2600" spc="250" dirty="0">
                <a:solidFill>
                  <a:srgbClr val="1B223F"/>
                </a:solidFill>
              </a:rPr>
              <a:t>Drop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145795" y="1433870"/>
            <a:ext cx="2946400" cy="3448685"/>
            <a:chOff x="145795" y="1433870"/>
            <a:chExt cx="2946400" cy="34486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795" y="1433870"/>
              <a:ext cx="2945879" cy="34484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3964" y="1508762"/>
              <a:ext cx="2743200" cy="3246120"/>
            </a:xfrm>
            <a:custGeom>
              <a:avLst/>
              <a:gdLst/>
              <a:ahLst/>
              <a:cxnLst/>
              <a:rect l="l" t="t" r="r" b="b"/>
              <a:pathLst>
                <a:path w="2743200" h="3246120">
                  <a:moveTo>
                    <a:pt x="2742831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1371600" y="3245764"/>
                  </a:lnTo>
                  <a:lnTo>
                    <a:pt x="2742831" y="3245764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3964" y="1508762"/>
              <a:ext cx="2743200" cy="475615"/>
            </a:xfrm>
            <a:custGeom>
              <a:avLst/>
              <a:gdLst/>
              <a:ahLst/>
              <a:cxnLst/>
              <a:rect l="l" t="t" r="r" b="b"/>
              <a:pathLst>
                <a:path w="2743200" h="475614">
                  <a:moveTo>
                    <a:pt x="2742831" y="0"/>
                  </a:moveTo>
                  <a:lnTo>
                    <a:pt x="0" y="0"/>
                  </a:lnTo>
                  <a:lnTo>
                    <a:pt x="0" y="475195"/>
                  </a:lnTo>
                  <a:lnTo>
                    <a:pt x="1371600" y="475195"/>
                  </a:lnTo>
                  <a:lnTo>
                    <a:pt x="2742831" y="475195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0C9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73340" y="1653745"/>
            <a:ext cx="142303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January</a:t>
            </a:r>
            <a:r>
              <a:rPr sz="10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Stability</a:t>
            </a:r>
            <a:r>
              <a:rPr sz="10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Baseline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060" y="1398500"/>
            <a:ext cx="289560" cy="86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b="1" spc="425" dirty="0">
                <a:solidFill>
                  <a:srgbClr val="FFFFFF"/>
                </a:solidFill>
                <a:latin typeface="Cambria"/>
                <a:cs typeface="Cambria"/>
              </a:rPr>
              <a:t>H </a:t>
            </a:r>
            <a:r>
              <a:rPr sz="2200" b="1" spc="17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2200">
              <a:latin typeface="Cambria"/>
              <a:cs typeface="Cambria"/>
            </a:endParaRPr>
          </a:p>
          <a:p>
            <a:pPr marL="40005">
              <a:lnSpc>
                <a:spcPct val="100000"/>
              </a:lnSpc>
              <a:spcBef>
                <a:spcPts val="334"/>
              </a:spcBef>
            </a:pPr>
            <a:r>
              <a:rPr sz="800" b="1" spc="35" dirty="0">
                <a:solidFill>
                  <a:srgbClr val="0C9A89"/>
                </a:solidFill>
                <a:latin typeface="Calibri"/>
                <a:cs typeface="Calibri"/>
              </a:rPr>
              <a:t>WHY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784" y="2455470"/>
            <a:ext cx="227076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Holiday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spending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spill-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over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+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return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work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routines creates</a:t>
            </a:r>
            <a:r>
              <a:rPr sz="1000" spc="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consistent,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predictable demand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784" y="3227300"/>
            <a:ext cx="3835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0C9A89"/>
                </a:solidFill>
                <a:latin typeface="Calibri"/>
                <a:cs typeface="Calibri"/>
              </a:rPr>
              <a:t>EF</a:t>
            </a:r>
            <a:r>
              <a:rPr sz="800" b="1" spc="-25" dirty="0">
                <a:solidFill>
                  <a:srgbClr val="0C9A89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A89"/>
                </a:solidFill>
                <a:latin typeface="Calibri"/>
                <a:cs typeface="Calibri"/>
              </a:rPr>
              <a:t>F</a:t>
            </a:r>
            <a:r>
              <a:rPr sz="800" b="1" spc="-25" dirty="0">
                <a:solidFill>
                  <a:srgbClr val="0C9A89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A89"/>
                </a:solidFill>
                <a:latin typeface="Calibri"/>
                <a:cs typeface="Calibri"/>
              </a:rPr>
              <a:t>EC</a:t>
            </a:r>
            <a:r>
              <a:rPr sz="800" b="1" spc="-20" dirty="0">
                <a:solidFill>
                  <a:srgbClr val="0C9A89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0C9A89"/>
                </a:solidFill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8784" y="3555989"/>
            <a:ext cx="22923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Higher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weekday ordering,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willingness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add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 sides,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stable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AOV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1124" y="4462197"/>
            <a:ext cx="2468880" cy="228600"/>
          </a:xfrm>
          <a:custGeom>
            <a:avLst/>
            <a:gdLst/>
            <a:ahLst/>
            <a:cxnLst/>
            <a:rect l="l" t="t" r="r" b="b"/>
            <a:pathLst>
              <a:path w="2468880" h="228600">
                <a:moveTo>
                  <a:pt x="2468511" y="0"/>
                </a:moveTo>
                <a:lnTo>
                  <a:pt x="0" y="0"/>
                </a:lnTo>
                <a:lnTo>
                  <a:pt x="0" y="228244"/>
                </a:lnTo>
                <a:lnTo>
                  <a:pt x="1234440" y="228244"/>
                </a:lnTo>
                <a:lnTo>
                  <a:pt x="2468511" y="228244"/>
                </a:lnTo>
                <a:lnTo>
                  <a:pt x="2468511" y="0"/>
                </a:lnTo>
                <a:close/>
              </a:path>
            </a:pathLst>
          </a:custGeom>
          <a:solidFill>
            <a:srgbClr val="0C9A89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8416" y="4498824"/>
            <a:ext cx="132969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 indent="-120650">
              <a:lnSpc>
                <a:spcPct val="100000"/>
              </a:lnSpc>
              <a:spcBef>
                <a:spcPts val="100"/>
              </a:spcBef>
              <a:buChar char="➔"/>
              <a:tabLst>
                <a:tab pos="133350" algn="l"/>
              </a:tabLst>
            </a:pPr>
            <a:r>
              <a:rPr sz="850" b="1" dirty="0">
                <a:solidFill>
                  <a:srgbClr val="0C9A89"/>
                </a:solidFill>
                <a:latin typeface="Calibri"/>
                <a:cs typeface="Calibri"/>
              </a:rPr>
              <a:t>Jan</a:t>
            </a:r>
            <a:r>
              <a:rPr sz="850" b="1" spc="-5" dirty="0">
                <a:solidFill>
                  <a:srgbClr val="0C9A89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C9A89"/>
                </a:solidFill>
                <a:latin typeface="Calibri"/>
                <a:cs typeface="Calibri"/>
              </a:rPr>
              <a:t>=</a:t>
            </a:r>
            <a:r>
              <a:rPr sz="850" b="1" spc="5" dirty="0">
                <a:solidFill>
                  <a:srgbClr val="0C9A89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A89"/>
                </a:solidFill>
                <a:latin typeface="Calibri"/>
                <a:cs typeface="Calibri"/>
              </a:rPr>
              <a:t>stable control</a:t>
            </a:r>
            <a:r>
              <a:rPr sz="850" b="1" dirty="0">
                <a:solidFill>
                  <a:srgbClr val="0C9A89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C9A89"/>
                </a:solidFill>
                <a:latin typeface="Calibri"/>
                <a:cs typeface="Calibri"/>
              </a:rPr>
              <a:t>period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99244" y="1433870"/>
            <a:ext cx="2946400" cy="3448685"/>
            <a:chOff x="3099244" y="1433870"/>
            <a:chExt cx="2946400" cy="344868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9244" y="1433870"/>
              <a:ext cx="2945879" cy="34484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27400" y="1508762"/>
              <a:ext cx="2743200" cy="3246120"/>
            </a:xfrm>
            <a:custGeom>
              <a:avLst/>
              <a:gdLst/>
              <a:ahLst/>
              <a:cxnLst/>
              <a:rect l="l" t="t" r="r" b="b"/>
              <a:pathLst>
                <a:path w="2743200" h="3246120">
                  <a:moveTo>
                    <a:pt x="2742844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1371599" y="3245764"/>
                  </a:lnTo>
                  <a:lnTo>
                    <a:pt x="2742844" y="324576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27400" y="1508762"/>
              <a:ext cx="2743200" cy="475615"/>
            </a:xfrm>
            <a:custGeom>
              <a:avLst/>
              <a:gdLst/>
              <a:ahLst/>
              <a:cxnLst/>
              <a:rect l="l" t="t" r="r" b="b"/>
              <a:pathLst>
                <a:path w="2743200" h="475614">
                  <a:moveTo>
                    <a:pt x="2742844" y="0"/>
                  </a:moveTo>
                  <a:lnTo>
                    <a:pt x="0" y="0"/>
                  </a:lnTo>
                  <a:lnTo>
                    <a:pt x="0" y="475195"/>
                  </a:lnTo>
                  <a:lnTo>
                    <a:pt x="1371599" y="475195"/>
                  </a:lnTo>
                  <a:lnTo>
                    <a:pt x="2742844" y="475195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E761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926776" y="1653745"/>
            <a:ext cx="182689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February:</a:t>
            </a:r>
            <a:r>
              <a:rPr sz="10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45" dirty="0">
                <a:solidFill>
                  <a:srgbClr val="FFFFFF"/>
                </a:solidFill>
                <a:latin typeface="Calibri"/>
                <a:cs typeface="Calibri"/>
              </a:rPr>
              <a:t>Low-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Ticket 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Solo</a:t>
            </a:r>
            <a:r>
              <a:rPr sz="10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Orders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14496" y="1398500"/>
            <a:ext cx="289560" cy="86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b="1" spc="425" dirty="0">
                <a:solidFill>
                  <a:srgbClr val="FFFFFF"/>
                </a:solidFill>
                <a:latin typeface="Cambria"/>
                <a:cs typeface="Cambria"/>
              </a:rPr>
              <a:t>H </a:t>
            </a:r>
            <a:r>
              <a:rPr sz="2200" b="1" spc="17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2200">
              <a:latin typeface="Cambria"/>
              <a:cs typeface="Cambria"/>
            </a:endParaRPr>
          </a:p>
          <a:p>
            <a:pPr marL="40005">
              <a:lnSpc>
                <a:spcPct val="100000"/>
              </a:lnSpc>
              <a:spcBef>
                <a:spcPts val="334"/>
              </a:spcBef>
            </a:pPr>
            <a:r>
              <a:rPr sz="800" b="1" spc="35" dirty="0">
                <a:solidFill>
                  <a:srgbClr val="E76119"/>
                </a:solidFill>
                <a:latin typeface="Calibri"/>
                <a:cs typeface="Calibri"/>
              </a:rPr>
              <a:t>WHY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42220" y="2455470"/>
            <a:ext cx="233045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Fewer days,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fewer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weekend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gatherings,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post-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January</a:t>
            </a:r>
            <a:r>
              <a:rPr sz="100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financial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tightness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→</a:t>
            </a:r>
            <a:r>
              <a:rPr sz="100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necessity-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driven</a:t>
            </a:r>
            <a:r>
              <a:rPr sz="1000" spc="-5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orders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42220" y="3227300"/>
            <a:ext cx="3835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E76119"/>
                </a:solidFill>
                <a:latin typeface="Calibri"/>
                <a:cs typeface="Calibri"/>
              </a:rPr>
              <a:t>EF</a:t>
            </a:r>
            <a:r>
              <a:rPr sz="800" b="1" spc="-2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E76119"/>
                </a:solidFill>
                <a:latin typeface="Calibri"/>
                <a:cs typeface="Calibri"/>
              </a:rPr>
              <a:t>F</a:t>
            </a:r>
            <a:r>
              <a:rPr sz="800" b="1" spc="-2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E76119"/>
                </a:solidFill>
                <a:latin typeface="Calibri"/>
                <a:cs typeface="Calibri"/>
              </a:rPr>
              <a:t>EC</a:t>
            </a:r>
            <a:r>
              <a:rPr sz="800" b="1" spc="-2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42220" y="3555989"/>
            <a:ext cx="2270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Lower</a:t>
            </a:r>
            <a:r>
              <a:rPr sz="10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AOV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(not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lower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order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count)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—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users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switch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quick,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solo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meals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64560" y="4462197"/>
            <a:ext cx="2468880" cy="228600"/>
          </a:xfrm>
          <a:custGeom>
            <a:avLst/>
            <a:gdLst/>
            <a:ahLst/>
            <a:cxnLst/>
            <a:rect l="l" t="t" r="r" b="b"/>
            <a:pathLst>
              <a:path w="2468879" h="228600">
                <a:moveTo>
                  <a:pt x="2468524" y="0"/>
                </a:moveTo>
                <a:lnTo>
                  <a:pt x="0" y="0"/>
                </a:lnTo>
                <a:lnTo>
                  <a:pt x="0" y="228244"/>
                </a:lnTo>
                <a:lnTo>
                  <a:pt x="1234439" y="228244"/>
                </a:lnTo>
                <a:lnTo>
                  <a:pt x="2468524" y="228244"/>
                </a:lnTo>
                <a:lnTo>
                  <a:pt x="2468524" y="0"/>
                </a:lnTo>
                <a:close/>
              </a:path>
            </a:pathLst>
          </a:custGeom>
          <a:solidFill>
            <a:srgbClr val="E76119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441865" y="4498824"/>
            <a:ext cx="166179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 indent="-120650">
              <a:lnSpc>
                <a:spcPct val="100000"/>
              </a:lnSpc>
              <a:spcBef>
                <a:spcPts val="100"/>
              </a:spcBef>
              <a:buChar char="➔"/>
              <a:tabLst>
                <a:tab pos="133350" algn="l"/>
              </a:tabLst>
            </a:pPr>
            <a:r>
              <a:rPr sz="850" b="1" spc="-10" dirty="0">
                <a:solidFill>
                  <a:srgbClr val="E76119"/>
                </a:solidFill>
                <a:latin typeface="Calibri"/>
                <a:cs typeface="Calibri"/>
              </a:rPr>
              <a:t>Basket</a:t>
            </a:r>
            <a:r>
              <a:rPr sz="850" b="1" spc="-1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E76119"/>
                </a:solidFill>
                <a:latin typeface="Calibri"/>
                <a:cs typeface="Calibri"/>
              </a:rPr>
              <a:t>shrink,</a:t>
            </a:r>
            <a:r>
              <a:rPr sz="850" b="1" spc="-2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E76119"/>
                </a:solidFill>
                <a:latin typeface="Calibri"/>
                <a:cs typeface="Calibri"/>
              </a:rPr>
              <a:t>not</a:t>
            </a:r>
            <a:r>
              <a:rPr sz="850" b="1" spc="-2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E76119"/>
                </a:solidFill>
                <a:latin typeface="Calibri"/>
                <a:cs typeface="Calibri"/>
              </a:rPr>
              <a:t>frequency</a:t>
            </a:r>
            <a:r>
              <a:rPr sz="850" b="1" spc="-20" dirty="0">
                <a:solidFill>
                  <a:srgbClr val="E76119"/>
                </a:solidFill>
                <a:latin typeface="Calibri"/>
                <a:cs typeface="Calibri"/>
              </a:rPr>
              <a:t> drop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52680" y="1433870"/>
            <a:ext cx="2946400" cy="3448685"/>
            <a:chOff x="6052680" y="1433870"/>
            <a:chExt cx="2946400" cy="344868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2680" y="1433870"/>
              <a:ext cx="2945879" cy="344845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80835" y="1508762"/>
              <a:ext cx="2743200" cy="3246120"/>
            </a:xfrm>
            <a:custGeom>
              <a:avLst/>
              <a:gdLst/>
              <a:ahLst/>
              <a:cxnLst/>
              <a:rect l="l" t="t" r="r" b="b"/>
              <a:pathLst>
                <a:path w="2743200" h="3246120">
                  <a:moveTo>
                    <a:pt x="2742844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1371599" y="3245764"/>
                  </a:lnTo>
                  <a:lnTo>
                    <a:pt x="2742844" y="324576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80835" y="1508762"/>
              <a:ext cx="2743200" cy="475615"/>
            </a:xfrm>
            <a:custGeom>
              <a:avLst/>
              <a:gdLst/>
              <a:ahLst/>
              <a:cxnLst/>
              <a:rect l="l" t="t" r="r" b="b"/>
              <a:pathLst>
                <a:path w="2743200" h="475614">
                  <a:moveTo>
                    <a:pt x="2742844" y="0"/>
                  </a:moveTo>
                  <a:lnTo>
                    <a:pt x="0" y="0"/>
                  </a:lnTo>
                  <a:lnTo>
                    <a:pt x="0" y="475195"/>
                  </a:lnTo>
                  <a:lnTo>
                    <a:pt x="1371599" y="475195"/>
                  </a:lnTo>
                  <a:lnTo>
                    <a:pt x="2742844" y="475195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E7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880580" y="1573824"/>
            <a:ext cx="160845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March:</a:t>
            </a:r>
            <a:r>
              <a:rPr sz="10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Capacity</a:t>
            </a:r>
            <a:r>
              <a:rPr sz="105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Mismatch</a:t>
            </a:r>
            <a:r>
              <a:rPr sz="105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050" b="1" spc="-20" dirty="0">
                <a:solidFill>
                  <a:srgbClr val="FFFFFF"/>
                </a:solidFill>
                <a:latin typeface="Calibri"/>
                <a:cs typeface="Calibri"/>
              </a:rPr>
              <a:t> Trust</a:t>
            </a:r>
            <a:r>
              <a:rPr sz="10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Break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67945" y="1398500"/>
            <a:ext cx="289560" cy="86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b="1" spc="425" dirty="0">
                <a:solidFill>
                  <a:srgbClr val="FFFFFF"/>
                </a:solidFill>
                <a:latin typeface="Cambria"/>
                <a:cs typeface="Cambria"/>
              </a:rPr>
              <a:t>H </a:t>
            </a:r>
            <a:r>
              <a:rPr sz="2200" b="1" spc="17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2200">
              <a:latin typeface="Cambria"/>
              <a:cs typeface="Cambria"/>
            </a:endParaRPr>
          </a:p>
          <a:p>
            <a:pPr marL="40005">
              <a:lnSpc>
                <a:spcPct val="100000"/>
              </a:lnSpc>
              <a:spcBef>
                <a:spcPts val="334"/>
              </a:spcBef>
            </a:pPr>
            <a:r>
              <a:rPr sz="800" b="1" spc="35" dirty="0">
                <a:solidFill>
                  <a:srgbClr val="E73F3F"/>
                </a:solidFill>
                <a:latin typeface="Calibri"/>
                <a:cs typeface="Calibri"/>
              </a:rPr>
              <a:t>WHY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95656" y="2455470"/>
            <a:ext cx="233045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Fiscal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year-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end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+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exam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stress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spikes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demand; restaurants</a:t>
            </a:r>
            <a:r>
              <a:rPr sz="1000" spc="-4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fail</a:t>
            </a:r>
            <a:r>
              <a:rPr sz="10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update</a:t>
            </a:r>
            <a:r>
              <a:rPr sz="10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availability dynamically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95656" y="3227300"/>
            <a:ext cx="3835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E73F3F"/>
                </a:solidFill>
                <a:latin typeface="Calibri"/>
                <a:cs typeface="Calibri"/>
              </a:rPr>
              <a:t>EF</a:t>
            </a:r>
            <a:r>
              <a:rPr sz="800" b="1" spc="-2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E73F3F"/>
                </a:solidFill>
                <a:latin typeface="Calibri"/>
                <a:cs typeface="Calibri"/>
              </a:rPr>
              <a:t>F</a:t>
            </a:r>
            <a:r>
              <a:rPr sz="800" b="1" spc="-2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E73F3F"/>
                </a:solidFill>
                <a:latin typeface="Calibri"/>
                <a:cs typeface="Calibri"/>
              </a:rPr>
              <a:t>EC</a:t>
            </a:r>
            <a:r>
              <a:rPr sz="800" b="1" spc="-20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E73F3F"/>
                </a:solidFill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95656" y="3555989"/>
            <a:ext cx="23323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Late</a:t>
            </a:r>
            <a:r>
              <a:rPr sz="1000" spc="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cancellations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waste</a:t>
            </a:r>
            <a:r>
              <a:rPr sz="1000" spc="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high-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need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moments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spc="405" dirty="0">
                <a:solidFill>
                  <a:srgbClr val="6A717F"/>
                </a:solidFill>
                <a:latin typeface="Calibri"/>
                <a:cs typeface="Calibri"/>
              </a:rPr>
              <a:t>*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NPS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drop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+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frequency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decline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in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April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317996" y="4462197"/>
            <a:ext cx="2468880" cy="228600"/>
          </a:xfrm>
          <a:custGeom>
            <a:avLst/>
            <a:gdLst/>
            <a:ahLst/>
            <a:cxnLst/>
            <a:rect l="l" t="t" r="r" b="b"/>
            <a:pathLst>
              <a:path w="2468879" h="228600">
                <a:moveTo>
                  <a:pt x="2468524" y="0"/>
                </a:moveTo>
                <a:lnTo>
                  <a:pt x="0" y="0"/>
                </a:lnTo>
                <a:lnTo>
                  <a:pt x="0" y="228244"/>
                </a:lnTo>
                <a:lnTo>
                  <a:pt x="1234439" y="228244"/>
                </a:lnTo>
                <a:lnTo>
                  <a:pt x="2468524" y="228244"/>
                </a:lnTo>
                <a:lnTo>
                  <a:pt x="2468524" y="0"/>
                </a:lnTo>
                <a:close/>
              </a:path>
            </a:pathLst>
          </a:custGeom>
          <a:solidFill>
            <a:srgbClr val="E73F3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395300" y="4498824"/>
            <a:ext cx="15906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 indent="-120650">
              <a:lnSpc>
                <a:spcPct val="100000"/>
              </a:lnSpc>
              <a:spcBef>
                <a:spcPts val="100"/>
              </a:spcBef>
              <a:buChar char="➔"/>
              <a:tabLst>
                <a:tab pos="133350" algn="l"/>
              </a:tabLst>
            </a:pPr>
            <a:r>
              <a:rPr sz="850" b="1" spc="-25" dirty="0">
                <a:solidFill>
                  <a:srgbClr val="E73F3F"/>
                </a:solidFill>
                <a:latin typeface="Calibri"/>
                <a:cs typeface="Calibri"/>
              </a:rPr>
              <a:t>Post-</a:t>
            </a:r>
            <a:r>
              <a:rPr sz="850" b="1" dirty="0">
                <a:solidFill>
                  <a:srgbClr val="E73F3F"/>
                </a:solidFill>
                <a:latin typeface="Calibri"/>
                <a:cs typeface="Calibri"/>
              </a:rPr>
              <a:t>March</a:t>
            </a:r>
            <a:r>
              <a:rPr sz="850" b="1" spc="-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E73F3F"/>
                </a:solidFill>
                <a:latin typeface="Calibri"/>
                <a:cs typeface="Calibri"/>
              </a:rPr>
              <a:t>metric </a:t>
            </a:r>
            <a:r>
              <a:rPr sz="850" b="1" spc="-10" dirty="0">
                <a:solidFill>
                  <a:srgbClr val="E73F3F"/>
                </a:solidFill>
                <a:latin typeface="Calibri"/>
                <a:cs typeface="Calibri"/>
              </a:rPr>
              <a:t>deterioration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B22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2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631" y="0"/>
                </a:moveTo>
                <a:lnTo>
                  <a:pt x="0" y="0"/>
                </a:lnTo>
                <a:lnTo>
                  <a:pt x="0" y="685444"/>
                </a:lnTo>
                <a:lnTo>
                  <a:pt x="4572000" y="685444"/>
                </a:lnTo>
                <a:lnTo>
                  <a:pt x="9143631" y="685444"/>
                </a:lnTo>
                <a:lnTo>
                  <a:pt x="9143631" y="0"/>
                </a:lnTo>
                <a:close/>
              </a:path>
            </a:pathLst>
          </a:custGeom>
          <a:solidFill>
            <a:srgbClr val="131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2696" y="246153"/>
            <a:ext cx="20999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L</a:t>
            </a:r>
            <a:r>
              <a:rPr sz="1100" b="1" spc="2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U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I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N</a:t>
            </a:r>
            <a:r>
              <a:rPr sz="1100" b="1" spc="175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F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A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M</a:t>
            </a:r>
            <a:r>
              <a:rPr sz="1100" b="1" spc="5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W</a:t>
            </a:r>
            <a:r>
              <a:rPr sz="1100" b="1" spc="3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E76119"/>
                </a:solidFill>
                <a:latin typeface="Calibri"/>
                <a:cs typeface="Calibri"/>
              </a:rPr>
              <a:t>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305" dirty="0"/>
              <a:t>Shift</a:t>
            </a:r>
            <a:r>
              <a:rPr sz="2600" spc="340" dirty="0"/>
              <a:t> </a:t>
            </a:r>
            <a:r>
              <a:rPr sz="2600" spc="270" dirty="0"/>
              <a:t>Risk</a:t>
            </a:r>
            <a:r>
              <a:rPr sz="2600" spc="350" dirty="0"/>
              <a:t> </a:t>
            </a:r>
            <a:r>
              <a:rPr sz="2600" spc="275" dirty="0"/>
              <a:t>Detection</a:t>
            </a:r>
            <a:r>
              <a:rPr sz="2600" spc="345" dirty="0"/>
              <a:t> </a:t>
            </a:r>
            <a:r>
              <a:rPr sz="2600" spc="290" dirty="0"/>
              <a:t>Before</a:t>
            </a:r>
            <a:r>
              <a:rPr sz="2600" spc="340" dirty="0"/>
              <a:t> </a:t>
            </a:r>
            <a:r>
              <a:rPr sz="2600" spc="315" dirty="0"/>
              <a:t>Checkout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145795" y="1799274"/>
            <a:ext cx="2946400" cy="3220085"/>
            <a:chOff x="145795" y="1799274"/>
            <a:chExt cx="2946400" cy="32200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795" y="1799274"/>
              <a:ext cx="2945879" cy="321984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3964" y="1874166"/>
              <a:ext cx="2743200" cy="3017520"/>
            </a:xfrm>
            <a:custGeom>
              <a:avLst/>
              <a:gdLst/>
              <a:ahLst/>
              <a:cxnLst/>
              <a:rect l="l" t="t" r="r" b="b"/>
              <a:pathLst>
                <a:path w="2743200" h="3017520">
                  <a:moveTo>
                    <a:pt x="2742831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1371600" y="3017151"/>
                  </a:lnTo>
                  <a:lnTo>
                    <a:pt x="2742831" y="3017151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212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4084" y="1965606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80" y="0"/>
                  </a:moveTo>
                  <a:lnTo>
                    <a:pt x="357584" y="3543"/>
                  </a:lnTo>
                  <a:lnTo>
                    <a:pt x="304871" y="14038"/>
                  </a:lnTo>
                  <a:lnTo>
                    <a:pt x="253979" y="31284"/>
                  </a:lnTo>
                  <a:lnTo>
                    <a:pt x="205549" y="55079"/>
                  </a:lnTo>
                  <a:lnTo>
                    <a:pt x="160830" y="85024"/>
                  </a:lnTo>
                  <a:lnTo>
                    <a:pt x="120461" y="120507"/>
                  </a:lnTo>
                  <a:lnTo>
                    <a:pt x="85018" y="160985"/>
                  </a:lnTo>
                  <a:lnTo>
                    <a:pt x="55079" y="205917"/>
                  </a:lnTo>
                  <a:lnTo>
                    <a:pt x="31284" y="254135"/>
                  </a:lnTo>
                  <a:lnTo>
                    <a:pt x="14038" y="304917"/>
                  </a:lnTo>
                  <a:lnTo>
                    <a:pt x="3543" y="357590"/>
                  </a:lnTo>
                  <a:lnTo>
                    <a:pt x="0" y="411479"/>
                  </a:lnTo>
                  <a:lnTo>
                    <a:pt x="3543" y="465369"/>
                  </a:lnTo>
                  <a:lnTo>
                    <a:pt x="14038" y="518082"/>
                  </a:lnTo>
                  <a:lnTo>
                    <a:pt x="31284" y="568972"/>
                  </a:lnTo>
                  <a:lnTo>
                    <a:pt x="55079" y="617397"/>
                  </a:lnTo>
                  <a:lnTo>
                    <a:pt x="85024" y="662122"/>
                  </a:lnTo>
                  <a:lnTo>
                    <a:pt x="120507" y="702492"/>
                  </a:lnTo>
                  <a:lnTo>
                    <a:pt x="160985" y="737936"/>
                  </a:lnTo>
                  <a:lnTo>
                    <a:pt x="205917" y="767880"/>
                  </a:lnTo>
                  <a:lnTo>
                    <a:pt x="254135" y="791670"/>
                  </a:lnTo>
                  <a:lnTo>
                    <a:pt x="304917" y="808916"/>
                  </a:lnTo>
                  <a:lnTo>
                    <a:pt x="357590" y="819415"/>
                  </a:lnTo>
                  <a:lnTo>
                    <a:pt x="411480" y="822959"/>
                  </a:lnTo>
                  <a:lnTo>
                    <a:pt x="465369" y="819415"/>
                  </a:lnTo>
                  <a:lnTo>
                    <a:pt x="518082" y="808916"/>
                  </a:lnTo>
                  <a:lnTo>
                    <a:pt x="568972" y="791670"/>
                  </a:lnTo>
                  <a:lnTo>
                    <a:pt x="617397" y="767880"/>
                  </a:lnTo>
                  <a:lnTo>
                    <a:pt x="662122" y="737936"/>
                  </a:lnTo>
                  <a:lnTo>
                    <a:pt x="702492" y="702492"/>
                  </a:lnTo>
                  <a:lnTo>
                    <a:pt x="737936" y="662122"/>
                  </a:lnTo>
                  <a:lnTo>
                    <a:pt x="767880" y="617397"/>
                  </a:lnTo>
                  <a:lnTo>
                    <a:pt x="791670" y="568972"/>
                  </a:lnTo>
                  <a:lnTo>
                    <a:pt x="808916" y="518082"/>
                  </a:lnTo>
                  <a:lnTo>
                    <a:pt x="819415" y="465369"/>
                  </a:lnTo>
                  <a:lnTo>
                    <a:pt x="822960" y="411479"/>
                  </a:lnTo>
                  <a:lnTo>
                    <a:pt x="819415" y="357590"/>
                  </a:lnTo>
                  <a:lnTo>
                    <a:pt x="808916" y="304917"/>
                  </a:lnTo>
                  <a:lnTo>
                    <a:pt x="791670" y="254135"/>
                  </a:lnTo>
                  <a:lnTo>
                    <a:pt x="767880" y="205917"/>
                  </a:lnTo>
                  <a:lnTo>
                    <a:pt x="737930" y="160985"/>
                  </a:lnTo>
                  <a:lnTo>
                    <a:pt x="702446" y="120507"/>
                  </a:lnTo>
                  <a:lnTo>
                    <a:pt x="661966" y="85024"/>
                  </a:lnTo>
                  <a:lnTo>
                    <a:pt x="617029" y="55079"/>
                  </a:lnTo>
                  <a:lnTo>
                    <a:pt x="568817" y="31284"/>
                  </a:lnTo>
                  <a:lnTo>
                    <a:pt x="518036" y="14038"/>
                  </a:lnTo>
                  <a:lnTo>
                    <a:pt x="465364" y="3543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7611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6338" y="3008060"/>
            <a:ext cx="19380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FFFFFF"/>
                </a:solidFill>
                <a:latin typeface="Calibri"/>
                <a:cs typeface="Calibri"/>
              </a:rPr>
              <a:t>Pre-</a:t>
            </a: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Checkout</a:t>
            </a:r>
            <a:r>
              <a:rPr sz="11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Calibri"/>
                <a:cs typeface="Calibri"/>
              </a:rPr>
              <a:t>Availability </a:t>
            </a:r>
            <a:r>
              <a:rPr sz="1150" b="1" spc="-2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1799274"/>
            <a:ext cx="5579110" cy="3220085"/>
            <a:chOff x="457200" y="1799274"/>
            <a:chExt cx="5579110" cy="3220085"/>
          </a:xfrm>
        </p:grpSpPr>
        <p:sp>
          <p:nvSpPr>
            <p:cNvPr id="12" name="object 12"/>
            <p:cNvSpPr/>
            <p:nvPr/>
          </p:nvSpPr>
          <p:spPr>
            <a:xfrm>
              <a:off x="457200" y="3401277"/>
              <a:ext cx="1919605" cy="1069975"/>
            </a:xfrm>
            <a:custGeom>
              <a:avLst/>
              <a:gdLst/>
              <a:ahLst/>
              <a:cxnLst/>
              <a:rect l="l" t="t" r="r" b="b"/>
              <a:pathLst>
                <a:path w="1919605" h="1069975">
                  <a:moveTo>
                    <a:pt x="109435" y="960488"/>
                  </a:moveTo>
                  <a:lnTo>
                    <a:pt x="0" y="960488"/>
                  </a:lnTo>
                  <a:lnTo>
                    <a:pt x="0" y="1069924"/>
                  </a:lnTo>
                  <a:lnTo>
                    <a:pt x="54724" y="1069924"/>
                  </a:lnTo>
                  <a:lnTo>
                    <a:pt x="109435" y="1069924"/>
                  </a:lnTo>
                  <a:lnTo>
                    <a:pt x="109435" y="960488"/>
                  </a:lnTo>
                  <a:close/>
                </a:path>
                <a:path w="1919605" h="1069975">
                  <a:moveTo>
                    <a:pt x="109435" y="539648"/>
                  </a:moveTo>
                  <a:lnTo>
                    <a:pt x="0" y="539648"/>
                  </a:lnTo>
                  <a:lnTo>
                    <a:pt x="0" y="649084"/>
                  </a:lnTo>
                  <a:lnTo>
                    <a:pt x="54724" y="649084"/>
                  </a:lnTo>
                  <a:lnTo>
                    <a:pt x="109435" y="649084"/>
                  </a:lnTo>
                  <a:lnTo>
                    <a:pt x="109435" y="539648"/>
                  </a:lnTo>
                  <a:close/>
                </a:path>
                <a:path w="1919605" h="1069975">
                  <a:moveTo>
                    <a:pt x="109435" y="119164"/>
                  </a:moveTo>
                  <a:lnTo>
                    <a:pt x="0" y="119164"/>
                  </a:lnTo>
                  <a:lnTo>
                    <a:pt x="0" y="228600"/>
                  </a:lnTo>
                  <a:lnTo>
                    <a:pt x="54724" y="228600"/>
                  </a:lnTo>
                  <a:lnTo>
                    <a:pt x="109435" y="228600"/>
                  </a:lnTo>
                  <a:lnTo>
                    <a:pt x="109435" y="119164"/>
                  </a:lnTo>
                  <a:close/>
                </a:path>
                <a:path w="1919605" h="1069975">
                  <a:moveTo>
                    <a:pt x="1919516" y="0"/>
                  </a:moveTo>
                  <a:lnTo>
                    <a:pt x="456844" y="0"/>
                  </a:lnTo>
                  <a:lnTo>
                    <a:pt x="456844" y="36360"/>
                  </a:lnTo>
                  <a:lnTo>
                    <a:pt x="1188364" y="36360"/>
                  </a:lnTo>
                  <a:lnTo>
                    <a:pt x="1919516" y="36360"/>
                  </a:lnTo>
                  <a:lnTo>
                    <a:pt x="1919516" y="0"/>
                  </a:lnTo>
                  <a:close/>
                </a:path>
              </a:pathLst>
            </a:custGeom>
            <a:solidFill>
              <a:srgbClr val="E761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0240" y="1799274"/>
              <a:ext cx="2945879" cy="32198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18395" y="1874166"/>
              <a:ext cx="2743200" cy="3017520"/>
            </a:xfrm>
            <a:custGeom>
              <a:avLst/>
              <a:gdLst/>
              <a:ahLst/>
              <a:cxnLst/>
              <a:rect l="l" t="t" r="r" b="b"/>
              <a:pathLst>
                <a:path w="2743200" h="3017520">
                  <a:moveTo>
                    <a:pt x="2742844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1371599" y="3017151"/>
                  </a:lnTo>
                  <a:lnTo>
                    <a:pt x="2742844" y="3017151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212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78515" y="1965606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79" y="0"/>
                  </a:moveTo>
                  <a:lnTo>
                    <a:pt x="357595" y="3543"/>
                  </a:lnTo>
                  <a:lnTo>
                    <a:pt x="304922" y="14038"/>
                  </a:lnTo>
                  <a:lnTo>
                    <a:pt x="254137" y="31284"/>
                  </a:lnTo>
                  <a:lnTo>
                    <a:pt x="205917" y="55079"/>
                  </a:lnTo>
                  <a:lnTo>
                    <a:pt x="160987" y="85024"/>
                  </a:lnTo>
                  <a:lnTo>
                    <a:pt x="120511" y="120507"/>
                  </a:lnTo>
                  <a:lnTo>
                    <a:pt x="85029" y="160985"/>
                  </a:lnTo>
                  <a:lnTo>
                    <a:pt x="55079" y="205917"/>
                  </a:lnTo>
                  <a:lnTo>
                    <a:pt x="31289" y="254135"/>
                  </a:lnTo>
                  <a:lnTo>
                    <a:pt x="14043" y="304917"/>
                  </a:lnTo>
                  <a:lnTo>
                    <a:pt x="3544" y="357590"/>
                  </a:lnTo>
                  <a:lnTo>
                    <a:pt x="0" y="411479"/>
                  </a:lnTo>
                  <a:lnTo>
                    <a:pt x="3544" y="465369"/>
                  </a:lnTo>
                  <a:lnTo>
                    <a:pt x="14043" y="518082"/>
                  </a:lnTo>
                  <a:lnTo>
                    <a:pt x="31289" y="568972"/>
                  </a:lnTo>
                  <a:lnTo>
                    <a:pt x="55079" y="617397"/>
                  </a:lnTo>
                  <a:lnTo>
                    <a:pt x="85029" y="662122"/>
                  </a:lnTo>
                  <a:lnTo>
                    <a:pt x="120511" y="702492"/>
                  </a:lnTo>
                  <a:lnTo>
                    <a:pt x="160987" y="737936"/>
                  </a:lnTo>
                  <a:lnTo>
                    <a:pt x="205917" y="767880"/>
                  </a:lnTo>
                  <a:lnTo>
                    <a:pt x="254137" y="791670"/>
                  </a:lnTo>
                  <a:lnTo>
                    <a:pt x="304922" y="808916"/>
                  </a:lnTo>
                  <a:lnTo>
                    <a:pt x="357595" y="819415"/>
                  </a:lnTo>
                  <a:lnTo>
                    <a:pt x="411479" y="822959"/>
                  </a:lnTo>
                  <a:lnTo>
                    <a:pt x="465375" y="819415"/>
                  </a:lnTo>
                  <a:lnTo>
                    <a:pt x="518086" y="808916"/>
                  </a:lnTo>
                  <a:lnTo>
                    <a:pt x="568974" y="791670"/>
                  </a:lnTo>
                  <a:lnTo>
                    <a:pt x="617397" y="767880"/>
                  </a:lnTo>
                  <a:lnTo>
                    <a:pt x="662124" y="737936"/>
                  </a:lnTo>
                  <a:lnTo>
                    <a:pt x="702497" y="702492"/>
                  </a:lnTo>
                  <a:lnTo>
                    <a:pt x="737941" y="662122"/>
                  </a:lnTo>
                  <a:lnTo>
                    <a:pt x="767880" y="617397"/>
                  </a:lnTo>
                  <a:lnTo>
                    <a:pt x="791675" y="568972"/>
                  </a:lnTo>
                  <a:lnTo>
                    <a:pt x="808921" y="518082"/>
                  </a:lnTo>
                  <a:lnTo>
                    <a:pt x="819416" y="465369"/>
                  </a:lnTo>
                  <a:lnTo>
                    <a:pt x="822960" y="411479"/>
                  </a:lnTo>
                  <a:lnTo>
                    <a:pt x="819416" y="357590"/>
                  </a:lnTo>
                  <a:lnTo>
                    <a:pt x="808921" y="304917"/>
                  </a:lnTo>
                  <a:lnTo>
                    <a:pt x="791675" y="254135"/>
                  </a:lnTo>
                  <a:lnTo>
                    <a:pt x="767880" y="205917"/>
                  </a:lnTo>
                  <a:lnTo>
                    <a:pt x="737941" y="160985"/>
                  </a:lnTo>
                  <a:lnTo>
                    <a:pt x="702497" y="120507"/>
                  </a:lnTo>
                  <a:lnTo>
                    <a:pt x="662124" y="85024"/>
                  </a:lnTo>
                  <a:lnTo>
                    <a:pt x="617397" y="55079"/>
                  </a:lnTo>
                  <a:lnTo>
                    <a:pt x="568974" y="31284"/>
                  </a:lnTo>
                  <a:lnTo>
                    <a:pt x="518086" y="14038"/>
                  </a:lnTo>
                  <a:lnTo>
                    <a:pt x="465375" y="354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0C9A8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5380" y="3586583"/>
            <a:ext cx="209168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Verify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kitchen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capacity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BEFORE</a:t>
            </a:r>
            <a:r>
              <a:rPr sz="1000" spc="-4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payment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5380" y="4007067"/>
            <a:ext cx="21297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Show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real-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time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'Checking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Kitchen'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screen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5380" y="4351580"/>
            <a:ext cx="18357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Gate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order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confirmation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on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kitchen acceptance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24617" y="3008060"/>
            <a:ext cx="13303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11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Calibri"/>
                <a:cs typeface="Calibri"/>
              </a:rPr>
              <a:t>Reliability</a:t>
            </a: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Calibri"/>
                <a:cs typeface="Calibri"/>
              </a:rPr>
              <a:t>Ratings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01644" y="1799274"/>
            <a:ext cx="5579110" cy="3220085"/>
            <a:chOff x="3401644" y="1799274"/>
            <a:chExt cx="5579110" cy="3220085"/>
          </a:xfrm>
        </p:grpSpPr>
        <p:sp>
          <p:nvSpPr>
            <p:cNvPr id="21" name="object 21"/>
            <p:cNvSpPr/>
            <p:nvPr/>
          </p:nvSpPr>
          <p:spPr>
            <a:xfrm>
              <a:off x="3401644" y="3401277"/>
              <a:ext cx="1919605" cy="1069975"/>
            </a:xfrm>
            <a:custGeom>
              <a:avLst/>
              <a:gdLst/>
              <a:ahLst/>
              <a:cxnLst/>
              <a:rect l="l" t="t" r="r" b="b"/>
              <a:pathLst>
                <a:path w="1919604" h="1069975">
                  <a:moveTo>
                    <a:pt x="109435" y="960488"/>
                  </a:moveTo>
                  <a:lnTo>
                    <a:pt x="0" y="960488"/>
                  </a:lnTo>
                  <a:lnTo>
                    <a:pt x="0" y="1069924"/>
                  </a:lnTo>
                  <a:lnTo>
                    <a:pt x="54711" y="1069924"/>
                  </a:lnTo>
                  <a:lnTo>
                    <a:pt x="109435" y="1069924"/>
                  </a:lnTo>
                  <a:lnTo>
                    <a:pt x="109435" y="960488"/>
                  </a:lnTo>
                  <a:close/>
                </a:path>
                <a:path w="1919604" h="1069975">
                  <a:moveTo>
                    <a:pt x="109435" y="539648"/>
                  </a:moveTo>
                  <a:lnTo>
                    <a:pt x="0" y="539648"/>
                  </a:lnTo>
                  <a:lnTo>
                    <a:pt x="0" y="649084"/>
                  </a:lnTo>
                  <a:lnTo>
                    <a:pt x="54711" y="649084"/>
                  </a:lnTo>
                  <a:lnTo>
                    <a:pt x="109435" y="649084"/>
                  </a:lnTo>
                  <a:lnTo>
                    <a:pt x="109435" y="539648"/>
                  </a:lnTo>
                  <a:close/>
                </a:path>
                <a:path w="1919604" h="1069975">
                  <a:moveTo>
                    <a:pt x="109435" y="119164"/>
                  </a:moveTo>
                  <a:lnTo>
                    <a:pt x="0" y="119164"/>
                  </a:lnTo>
                  <a:lnTo>
                    <a:pt x="0" y="228600"/>
                  </a:lnTo>
                  <a:lnTo>
                    <a:pt x="54711" y="228600"/>
                  </a:lnTo>
                  <a:lnTo>
                    <a:pt x="109435" y="228600"/>
                  </a:lnTo>
                  <a:lnTo>
                    <a:pt x="109435" y="119164"/>
                  </a:lnTo>
                  <a:close/>
                </a:path>
                <a:path w="1919604" h="1069975">
                  <a:moveTo>
                    <a:pt x="1919516" y="0"/>
                  </a:moveTo>
                  <a:lnTo>
                    <a:pt x="456831" y="0"/>
                  </a:lnTo>
                  <a:lnTo>
                    <a:pt x="456831" y="36360"/>
                  </a:lnTo>
                  <a:lnTo>
                    <a:pt x="1188351" y="36360"/>
                  </a:lnTo>
                  <a:lnTo>
                    <a:pt x="1919516" y="36360"/>
                  </a:lnTo>
                  <a:lnTo>
                    <a:pt x="1919516" y="0"/>
                  </a:lnTo>
                  <a:close/>
                </a:path>
              </a:pathLst>
            </a:custGeom>
            <a:solidFill>
              <a:srgbClr val="0C9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4684" y="1799274"/>
              <a:ext cx="2945879" cy="321984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162840" y="1874166"/>
              <a:ext cx="2743200" cy="3017520"/>
            </a:xfrm>
            <a:custGeom>
              <a:avLst/>
              <a:gdLst/>
              <a:ahLst/>
              <a:cxnLst/>
              <a:rect l="l" t="t" r="r" b="b"/>
              <a:pathLst>
                <a:path w="2743200" h="3017520">
                  <a:moveTo>
                    <a:pt x="2742844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1371600" y="3017151"/>
                  </a:lnTo>
                  <a:lnTo>
                    <a:pt x="2742844" y="3017151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212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22960" y="1965606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79" y="0"/>
                  </a:moveTo>
                  <a:lnTo>
                    <a:pt x="357590" y="3543"/>
                  </a:lnTo>
                  <a:lnTo>
                    <a:pt x="304917" y="14038"/>
                  </a:lnTo>
                  <a:lnTo>
                    <a:pt x="254135" y="31284"/>
                  </a:lnTo>
                  <a:lnTo>
                    <a:pt x="205917" y="55079"/>
                  </a:lnTo>
                  <a:lnTo>
                    <a:pt x="160987" y="85024"/>
                  </a:lnTo>
                  <a:lnTo>
                    <a:pt x="120511" y="120507"/>
                  </a:lnTo>
                  <a:lnTo>
                    <a:pt x="85029" y="160985"/>
                  </a:lnTo>
                  <a:lnTo>
                    <a:pt x="55079" y="205917"/>
                  </a:lnTo>
                  <a:lnTo>
                    <a:pt x="31284" y="254135"/>
                  </a:lnTo>
                  <a:lnTo>
                    <a:pt x="14038" y="304917"/>
                  </a:lnTo>
                  <a:lnTo>
                    <a:pt x="3543" y="357590"/>
                  </a:lnTo>
                  <a:lnTo>
                    <a:pt x="0" y="411479"/>
                  </a:lnTo>
                  <a:lnTo>
                    <a:pt x="3543" y="465369"/>
                  </a:lnTo>
                  <a:lnTo>
                    <a:pt x="14038" y="518082"/>
                  </a:lnTo>
                  <a:lnTo>
                    <a:pt x="31284" y="568972"/>
                  </a:lnTo>
                  <a:lnTo>
                    <a:pt x="55079" y="617397"/>
                  </a:lnTo>
                  <a:lnTo>
                    <a:pt x="85029" y="662122"/>
                  </a:lnTo>
                  <a:lnTo>
                    <a:pt x="120511" y="702492"/>
                  </a:lnTo>
                  <a:lnTo>
                    <a:pt x="160987" y="737936"/>
                  </a:lnTo>
                  <a:lnTo>
                    <a:pt x="205917" y="767880"/>
                  </a:lnTo>
                  <a:lnTo>
                    <a:pt x="254135" y="791670"/>
                  </a:lnTo>
                  <a:lnTo>
                    <a:pt x="304917" y="808916"/>
                  </a:lnTo>
                  <a:lnTo>
                    <a:pt x="357590" y="819415"/>
                  </a:lnTo>
                  <a:lnTo>
                    <a:pt x="411479" y="822959"/>
                  </a:lnTo>
                  <a:lnTo>
                    <a:pt x="465375" y="819415"/>
                  </a:lnTo>
                  <a:lnTo>
                    <a:pt x="518086" y="808916"/>
                  </a:lnTo>
                  <a:lnTo>
                    <a:pt x="568974" y="791670"/>
                  </a:lnTo>
                  <a:lnTo>
                    <a:pt x="617397" y="767880"/>
                  </a:lnTo>
                  <a:lnTo>
                    <a:pt x="662122" y="737936"/>
                  </a:lnTo>
                  <a:lnTo>
                    <a:pt x="702492" y="702492"/>
                  </a:lnTo>
                  <a:lnTo>
                    <a:pt x="737936" y="662122"/>
                  </a:lnTo>
                  <a:lnTo>
                    <a:pt x="767880" y="617397"/>
                  </a:lnTo>
                  <a:lnTo>
                    <a:pt x="791675" y="568972"/>
                  </a:lnTo>
                  <a:lnTo>
                    <a:pt x="808921" y="518082"/>
                  </a:lnTo>
                  <a:lnTo>
                    <a:pt x="819416" y="465369"/>
                  </a:lnTo>
                  <a:lnTo>
                    <a:pt x="822959" y="411479"/>
                  </a:lnTo>
                  <a:lnTo>
                    <a:pt x="819416" y="357590"/>
                  </a:lnTo>
                  <a:lnTo>
                    <a:pt x="808921" y="304917"/>
                  </a:lnTo>
                  <a:lnTo>
                    <a:pt x="791675" y="254135"/>
                  </a:lnTo>
                  <a:lnTo>
                    <a:pt x="767880" y="205917"/>
                  </a:lnTo>
                  <a:lnTo>
                    <a:pt x="737936" y="160985"/>
                  </a:lnTo>
                  <a:lnTo>
                    <a:pt x="702492" y="120507"/>
                  </a:lnTo>
                  <a:lnTo>
                    <a:pt x="662122" y="85024"/>
                  </a:lnTo>
                  <a:lnTo>
                    <a:pt x="617397" y="55079"/>
                  </a:lnTo>
                  <a:lnTo>
                    <a:pt x="568974" y="31284"/>
                  </a:lnTo>
                  <a:lnTo>
                    <a:pt x="518086" y="14038"/>
                  </a:lnTo>
                  <a:lnTo>
                    <a:pt x="465375" y="354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1CB87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79825" y="3586583"/>
            <a:ext cx="20243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Score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each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restaurant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on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last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10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orders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79825" y="3930741"/>
            <a:ext cx="188468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3185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≥8/10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successful</a:t>
            </a:r>
            <a:r>
              <a:rPr sz="1000" spc="-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=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'Highly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Reliable' badge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915"/>
              </a:spcBef>
            </a:pP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Below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threshold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=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'May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Face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Delays' warning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Two-</a:t>
            </a:r>
            <a:r>
              <a:rPr dirty="0"/>
              <a:t>sided</a:t>
            </a:r>
            <a:r>
              <a:rPr spc="-15" dirty="0"/>
              <a:t> </a:t>
            </a:r>
            <a:r>
              <a:rPr dirty="0"/>
              <a:t>solution:</a:t>
            </a:r>
            <a:r>
              <a:rPr spc="-20" dirty="0"/>
              <a:t> </a:t>
            </a:r>
            <a:r>
              <a:rPr dirty="0"/>
              <a:t>ML</a:t>
            </a:r>
            <a:r>
              <a:rPr spc="-15" dirty="0"/>
              <a:t> </a:t>
            </a:r>
            <a:r>
              <a:rPr spc="-10" dirty="0"/>
              <a:t>reliability</a:t>
            </a:r>
            <a:r>
              <a:rPr spc="-15" dirty="0"/>
              <a:t> </a:t>
            </a:r>
            <a:r>
              <a:rPr dirty="0"/>
              <a:t>ratings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spc="-10" dirty="0"/>
              <a:t>customers</a:t>
            </a:r>
            <a:r>
              <a:rPr spc="-20" dirty="0"/>
              <a:t> </a:t>
            </a:r>
            <a:r>
              <a:rPr dirty="0"/>
              <a:t>+</a:t>
            </a:r>
            <a:r>
              <a:rPr spc="-5" dirty="0"/>
              <a:t> </a:t>
            </a:r>
            <a:r>
              <a:rPr spc="-20" dirty="0"/>
              <a:t>90-</a:t>
            </a:r>
            <a:r>
              <a:rPr dirty="0"/>
              <a:t>sec</a:t>
            </a:r>
            <a:r>
              <a:rPr spc="-20" dirty="0"/>
              <a:t> </a:t>
            </a:r>
            <a:r>
              <a:rPr dirty="0"/>
              <a:t>capacity</a:t>
            </a:r>
            <a:r>
              <a:rPr spc="-15" dirty="0"/>
              <a:t> </a:t>
            </a:r>
            <a:r>
              <a:rPr spc="-10" dirty="0"/>
              <a:t>confirmation</a:t>
            </a:r>
            <a:r>
              <a:rPr spc="-20" dirty="0"/>
              <a:t> </a:t>
            </a:r>
            <a:r>
              <a:rPr dirty="0"/>
              <a:t>for</a:t>
            </a:r>
            <a:r>
              <a:rPr spc="-10" dirty="0"/>
              <a:t> kitchens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pc="-10" dirty="0"/>
          </a:p>
          <a:p>
            <a:pPr marL="1028700">
              <a:lnSpc>
                <a:spcPct val="100000"/>
              </a:lnSpc>
              <a:tabLst>
                <a:tab pos="3973195" algn="l"/>
                <a:tab pos="6917690" algn="l"/>
              </a:tabLst>
            </a:pPr>
            <a:r>
              <a:rPr sz="2550" i="0" spc="125" dirty="0">
                <a:solidFill>
                  <a:srgbClr val="000000"/>
                </a:solidFill>
                <a:latin typeface="MingLiU_HKSCS-ExtB"/>
                <a:cs typeface="MingLiU_HKSCS-ExtB"/>
              </a:rPr>
              <a:t>⚡</a:t>
            </a:r>
            <a:r>
              <a:rPr sz="2550" i="0" dirty="0">
                <a:solidFill>
                  <a:srgbClr val="000000"/>
                </a:solidFill>
                <a:latin typeface="MingLiU_HKSCS-ExtB"/>
                <a:cs typeface="MingLiU_HKSCS-ExtB"/>
              </a:rPr>
              <a:t>	</a:t>
            </a:r>
            <a:r>
              <a:rPr sz="2550" i="0" spc="125" dirty="0">
                <a:solidFill>
                  <a:srgbClr val="000000"/>
                </a:solidFill>
                <a:latin typeface="MingLiU_HKSCS-ExtB"/>
                <a:cs typeface="MingLiU_HKSCS-ExtB"/>
              </a:rPr>
              <a:t>⭐</a:t>
            </a:r>
            <a:r>
              <a:rPr sz="2550" i="0" dirty="0">
                <a:solidFill>
                  <a:srgbClr val="000000"/>
                </a:solidFill>
                <a:latin typeface="MingLiU_HKSCS-ExtB"/>
                <a:cs typeface="MingLiU_HKSCS-ExtB"/>
              </a:rPr>
              <a:t>	</a:t>
            </a:r>
            <a:r>
              <a:rPr sz="2550" i="0" spc="125" dirty="0">
                <a:solidFill>
                  <a:srgbClr val="000000"/>
                </a:solidFill>
                <a:latin typeface="MingLiU_HKSCS-ExtB"/>
                <a:cs typeface="MingLiU_HKSCS-ExtB"/>
              </a:rPr>
              <a:t>🔔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44335" y="3008060"/>
            <a:ext cx="19780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FFFFFF"/>
                </a:solidFill>
                <a:latin typeface="Calibri"/>
                <a:cs typeface="Calibri"/>
              </a:rPr>
              <a:t>90-</a:t>
            </a: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11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Kitchen</a:t>
            </a:r>
            <a:r>
              <a:rPr sz="11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Calibri"/>
                <a:cs typeface="Calibri"/>
              </a:rPr>
              <a:t>Confirmation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46075" y="3401277"/>
            <a:ext cx="1919605" cy="1069975"/>
          </a:xfrm>
          <a:custGeom>
            <a:avLst/>
            <a:gdLst/>
            <a:ahLst/>
            <a:cxnLst/>
            <a:rect l="l" t="t" r="r" b="b"/>
            <a:pathLst>
              <a:path w="1919604" h="1069975">
                <a:moveTo>
                  <a:pt x="109448" y="960488"/>
                </a:moveTo>
                <a:lnTo>
                  <a:pt x="0" y="960488"/>
                </a:lnTo>
                <a:lnTo>
                  <a:pt x="0" y="1069924"/>
                </a:lnTo>
                <a:lnTo>
                  <a:pt x="54724" y="1069924"/>
                </a:lnTo>
                <a:lnTo>
                  <a:pt x="109448" y="1069924"/>
                </a:lnTo>
                <a:lnTo>
                  <a:pt x="109448" y="960488"/>
                </a:lnTo>
                <a:close/>
              </a:path>
              <a:path w="1919604" h="1069975">
                <a:moveTo>
                  <a:pt x="109448" y="539648"/>
                </a:moveTo>
                <a:lnTo>
                  <a:pt x="0" y="539648"/>
                </a:lnTo>
                <a:lnTo>
                  <a:pt x="0" y="649084"/>
                </a:lnTo>
                <a:lnTo>
                  <a:pt x="54724" y="649084"/>
                </a:lnTo>
                <a:lnTo>
                  <a:pt x="109448" y="649084"/>
                </a:lnTo>
                <a:lnTo>
                  <a:pt x="109448" y="539648"/>
                </a:lnTo>
                <a:close/>
              </a:path>
              <a:path w="1919604" h="1069975">
                <a:moveTo>
                  <a:pt x="109448" y="119164"/>
                </a:moveTo>
                <a:lnTo>
                  <a:pt x="0" y="119164"/>
                </a:lnTo>
                <a:lnTo>
                  <a:pt x="0" y="228600"/>
                </a:lnTo>
                <a:lnTo>
                  <a:pt x="54724" y="228600"/>
                </a:lnTo>
                <a:lnTo>
                  <a:pt x="109448" y="228600"/>
                </a:lnTo>
                <a:lnTo>
                  <a:pt x="109448" y="119164"/>
                </a:lnTo>
                <a:close/>
              </a:path>
              <a:path w="1919604" h="1069975">
                <a:moveTo>
                  <a:pt x="1919528" y="0"/>
                </a:moveTo>
                <a:lnTo>
                  <a:pt x="456844" y="0"/>
                </a:lnTo>
                <a:lnTo>
                  <a:pt x="456844" y="36360"/>
                </a:lnTo>
                <a:lnTo>
                  <a:pt x="1188364" y="36360"/>
                </a:lnTo>
                <a:lnTo>
                  <a:pt x="1919528" y="36360"/>
                </a:lnTo>
                <a:lnTo>
                  <a:pt x="1919528" y="0"/>
                </a:lnTo>
                <a:close/>
              </a:path>
            </a:pathLst>
          </a:custGeom>
          <a:solidFill>
            <a:srgbClr val="1CB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623901" y="3586583"/>
            <a:ext cx="2092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Kitchen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gets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90s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to</a:t>
            </a:r>
            <a:r>
              <a:rPr sz="1000" spc="-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accept/decline 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order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23901" y="4007067"/>
            <a:ext cx="19443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Decline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triggers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instant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smart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reroute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23901" y="4351580"/>
            <a:ext cx="20675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Suggest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'Highly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Reliable'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alternatives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for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 same</a:t>
            </a:r>
            <a:r>
              <a:rPr sz="1000" spc="-4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cuisine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2"/>
            <a:ext cx="9144000" cy="740410"/>
            <a:chOff x="-355" y="2"/>
            <a:chExt cx="9144000" cy="740410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3631" y="0"/>
                  </a:moveTo>
                  <a:lnTo>
                    <a:pt x="0" y="0"/>
                  </a:lnTo>
                  <a:lnTo>
                    <a:pt x="0" y="685444"/>
                  </a:lnTo>
                  <a:lnTo>
                    <a:pt x="4572000" y="685444"/>
                  </a:lnTo>
                  <a:lnTo>
                    <a:pt x="9143631" y="685444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B2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685446"/>
              <a:ext cx="9144000" cy="54610"/>
            </a:xfrm>
            <a:custGeom>
              <a:avLst/>
              <a:gdLst/>
              <a:ahLst/>
              <a:cxnLst/>
              <a:rect l="l" t="t" r="r" b="b"/>
              <a:pathLst>
                <a:path w="9144000" h="54609">
                  <a:moveTo>
                    <a:pt x="9143631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4572000" y="54355"/>
                  </a:lnTo>
                  <a:lnTo>
                    <a:pt x="9143631" y="54355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CB8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2696" y="246153"/>
            <a:ext cx="35306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S</a:t>
            </a:r>
            <a:r>
              <a:rPr sz="1100" b="1" spc="40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O</a:t>
            </a:r>
            <a:r>
              <a:rPr sz="1100" b="1" spc="4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L</a:t>
            </a:r>
            <a:r>
              <a:rPr sz="1100" b="1" spc="2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U</a:t>
            </a:r>
            <a:r>
              <a:rPr sz="1100" b="1" spc="4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T</a:t>
            </a:r>
            <a:r>
              <a:rPr sz="1100" b="1" spc="40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I</a:t>
            </a:r>
            <a:r>
              <a:rPr sz="1100" b="1" spc="5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O</a:t>
            </a:r>
            <a:r>
              <a:rPr sz="1100" b="1" spc="4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N</a:t>
            </a:r>
            <a:r>
              <a:rPr sz="1100" b="1" spc="175" dirty="0">
                <a:solidFill>
                  <a:srgbClr val="1CB87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F</a:t>
            </a:r>
            <a:r>
              <a:rPr sz="1100" b="1" spc="50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L</a:t>
            </a:r>
            <a:r>
              <a:rPr sz="1100" b="1" spc="2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O</a:t>
            </a:r>
            <a:r>
              <a:rPr sz="1100" b="1" spc="3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W</a:t>
            </a:r>
            <a:r>
              <a:rPr sz="1100" b="1" spc="170" dirty="0">
                <a:solidFill>
                  <a:srgbClr val="1CB87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—</a:t>
            </a:r>
            <a:r>
              <a:rPr sz="1100" b="1" spc="170" dirty="0">
                <a:solidFill>
                  <a:srgbClr val="1CB87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S</a:t>
            </a:r>
            <a:r>
              <a:rPr sz="1100" b="1" spc="5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U</a:t>
            </a:r>
            <a:r>
              <a:rPr sz="1100" b="1" spc="50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C</a:t>
            </a:r>
            <a:r>
              <a:rPr sz="1100" b="1" spc="50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C</a:t>
            </a:r>
            <a:r>
              <a:rPr sz="1100" b="1" spc="40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E</a:t>
            </a:r>
            <a:r>
              <a:rPr sz="1100" b="1" spc="3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S</a:t>
            </a:r>
            <a:r>
              <a:rPr sz="1100" b="1" spc="5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S</a:t>
            </a:r>
            <a:r>
              <a:rPr sz="1100" b="1" spc="4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F</a:t>
            </a:r>
            <a:r>
              <a:rPr sz="1100" b="1" spc="5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U</a:t>
            </a:r>
            <a:r>
              <a:rPr sz="1100" b="1" spc="4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L</a:t>
            </a:r>
            <a:r>
              <a:rPr sz="1100" b="1" spc="170" dirty="0">
                <a:solidFill>
                  <a:srgbClr val="1CB87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O</a:t>
            </a:r>
            <a:r>
              <a:rPr sz="1100" b="1" spc="5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D</a:t>
            </a:r>
            <a:r>
              <a:rPr sz="1100" b="1" spc="50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CB879"/>
                </a:solidFill>
                <a:latin typeface="Calibri"/>
                <a:cs typeface="Calibri"/>
              </a:rPr>
              <a:t>E</a:t>
            </a:r>
            <a:r>
              <a:rPr sz="1100" b="1" spc="45" dirty="0">
                <a:solidFill>
                  <a:srgbClr val="1CB879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1CB879"/>
                </a:solidFill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5" dirty="0">
                <a:solidFill>
                  <a:srgbClr val="1B223F"/>
                </a:solidFill>
              </a:rPr>
              <a:t>When</a:t>
            </a:r>
            <a:r>
              <a:rPr sz="2400" spc="305" dirty="0">
                <a:solidFill>
                  <a:srgbClr val="1B223F"/>
                </a:solidFill>
              </a:rPr>
              <a:t> </a:t>
            </a:r>
            <a:r>
              <a:rPr sz="2400" spc="254" dirty="0">
                <a:solidFill>
                  <a:srgbClr val="1B223F"/>
                </a:solidFill>
              </a:rPr>
              <a:t>the</a:t>
            </a:r>
            <a:r>
              <a:rPr sz="2400" spc="300" dirty="0">
                <a:solidFill>
                  <a:srgbClr val="1B223F"/>
                </a:solidFill>
              </a:rPr>
              <a:t> </a:t>
            </a:r>
            <a:r>
              <a:rPr sz="2400" spc="275" dirty="0">
                <a:solidFill>
                  <a:srgbClr val="1B223F"/>
                </a:solidFill>
              </a:rPr>
              <a:t>Kitchen</a:t>
            </a:r>
            <a:r>
              <a:rPr sz="2400" spc="310" dirty="0">
                <a:solidFill>
                  <a:srgbClr val="1B223F"/>
                </a:solidFill>
              </a:rPr>
              <a:t> </a:t>
            </a:r>
            <a:r>
              <a:rPr sz="2400" spc="200" dirty="0">
                <a:solidFill>
                  <a:srgbClr val="1B223F"/>
                </a:solidFill>
              </a:rPr>
              <a:t>is</a:t>
            </a:r>
            <a:r>
              <a:rPr sz="2400" spc="310" dirty="0">
                <a:solidFill>
                  <a:srgbClr val="1B223F"/>
                </a:solidFill>
              </a:rPr>
              <a:t> </a:t>
            </a:r>
            <a:r>
              <a:rPr sz="2400" spc="220" dirty="0">
                <a:solidFill>
                  <a:srgbClr val="1B223F"/>
                </a:solidFill>
              </a:rPr>
              <a:t>Ready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146164" y="1433514"/>
            <a:ext cx="2169160" cy="3402965"/>
            <a:chOff x="146164" y="1433514"/>
            <a:chExt cx="2169160" cy="34029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164" y="1433514"/>
              <a:ext cx="2168639" cy="340272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4319" y="1508406"/>
              <a:ext cx="1965960" cy="3200400"/>
            </a:xfrm>
            <a:custGeom>
              <a:avLst/>
              <a:gdLst/>
              <a:ahLst/>
              <a:cxnLst/>
              <a:rect l="l" t="t" r="r" b="b"/>
              <a:pathLst>
                <a:path w="1965960" h="3200400">
                  <a:moveTo>
                    <a:pt x="1965604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982802" y="3200031"/>
                  </a:lnTo>
                  <a:lnTo>
                    <a:pt x="1965604" y="3200031"/>
                  </a:lnTo>
                  <a:lnTo>
                    <a:pt x="1965604" y="0"/>
                  </a:lnTo>
                  <a:close/>
                </a:path>
              </a:pathLst>
            </a:custGeom>
            <a:solidFill>
              <a:srgbClr val="F7F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2604" y="1627202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79" y="0"/>
                  </a:moveTo>
                  <a:lnTo>
                    <a:pt x="357590" y="3543"/>
                  </a:lnTo>
                  <a:lnTo>
                    <a:pt x="304917" y="14038"/>
                  </a:lnTo>
                  <a:lnTo>
                    <a:pt x="254135" y="31284"/>
                  </a:lnTo>
                  <a:lnTo>
                    <a:pt x="205917" y="55079"/>
                  </a:lnTo>
                  <a:lnTo>
                    <a:pt x="160985" y="85029"/>
                  </a:lnTo>
                  <a:lnTo>
                    <a:pt x="120507" y="120511"/>
                  </a:lnTo>
                  <a:lnTo>
                    <a:pt x="85024" y="160987"/>
                  </a:lnTo>
                  <a:lnTo>
                    <a:pt x="55079" y="205917"/>
                  </a:lnTo>
                  <a:lnTo>
                    <a:pt x="31284" y="254135"/>
                  </a:lnTo>
                  <a:lnTo>
                    <a:pt x="14038" y="304917"/>
                  </a:lnTo>
                  <a:lnTo>
                    <a:pt x="3543" y="357590"/>
                  </a:lnTo>
                  <a:lnTo>
                    <a:pt x="0" y="411479"/>
                  </a:lnTo>
                  <a:lnTo>
                    <a:pt x="3543" y="465375"/>
                  </a:lnTo>
                  <a:lnTo>
                    <a:pt x="14038" y="518086"/>
                  </a:lnTo>
                  <a:lnTo>
                    <a:pt x="31284" y="568974"/>
                  </a:lnTo>
                  <a:lnTo>
                    <a:pt x="55079" y="617397"/>
                  </a:lnTo>
                  <a:lnTo>
                    <a:pt x="85024" y="662122"/>
                  </a:lnTo>
                  <a:lnTo>
                    <a:pt x="120507" y="702492"/>
                  </a:lnTo>
                  <a:lnTo>
                    <a:pt x="160985" y="737936"/>
                  </a:lnTo>
                  <a:lnTo>
                    <a:pt x="205917" y="767880"/>
                  </a:lnTo>
                  <a:lnTo>
                    <a:pt x="254135" y="791675"/>
                  </a:lnTo>
                  <a:lnTo>
                    <a:pt x="304917" y="808921"/>
                  </a:lnTo>
                  <a:lnTo>
                    <a:pt x="357590" y="819416"/>
                  </a:lnTo>
                  <a:lnTo>
                    <a:pt x="411479" y="822959"/>
                  </a:lnTo>
                  <a:lnTo>
                    <a:pt x="465369" y="819416"/>
                  </a:lnTo>
                  <a:lnTo>
                    <a:pt x="518082" y="808921"/>
                  </a:lnTo>
                  <a:lnTo>
                    <a:pt x="568972" y="791675"/>
                  </a:lnTo>
                  <a:lnTo>
                    <a:pt x="617397" y="767880"/>
                  </a:lnTo>
                  <a:lnTo>
                    <a:pt x="662122" y="737936"/>
                  </a:lnTo>
                  <a:lnTo>
                    <a:pt x="702492" y="702492"/>
                  </a:lnTo>
                  <a:lnTo>
                    <a:pt x="737936" y="662122"/>
                  </a:lnTo>
                  <a:lnTo>
                    <a:pt x="767880" y="617397"/>
                  </a:lnTo>
                  <a:lnTo>
                    <a:pt x="791670" y="568974"/>
                  </a:lnTo>
                  <a:lnTo>
                    <a:pt x="808916" y="518086"/>
                  </a:lnTo>
                  <a:lnTo>
                    <a:pt x="819415" y="465375"/>
                  </a:lnTo>
                  <a:lnTo>
                    <a:pt x="822960" y="411479"/>
                  </a:lnTo>
                  <a:lnTo>
                    <a:pt x="819415" y="357590"/>
                  </a:lnTo>
                  <a:lnTo>
                    <a:pt x="808916" y="304917"/>
                  </a:lnTo>
                  <a:lnTo>
                    <a:pt x="791670" y="254135"/>
                  </a:lnTo>
                  <a:lnTo>
                    <a:pt x="767880" y="205917"/>
                  </a:lnTo>
                  <a:lnTo>
                    <a:pt x="737930" y="160987"/>
                  </a:lnTo>
                  <a:lnTo>
                    <a:pt x="702446" y="120511"/>
                  </a:lnTo>
                  <a:lnTo>
                    <a:pt x="661966" y="85029"/>
                  </a:lnTo>
                  <a:lnTo>
                    <a:pt x="617029" y="55079"/>
                  </a:lnTo>
                  <a:lnTo>
                    <a:pt x="568817" y="31284"/>
                  </a:lnTo>
                  <a:lnTo>
                    <a:pt x="518036" y="14038"/>
                  </a:lnTo>
                  <a:lnTo>
                    <a:pt x="465364" y="354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1B2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32814" y="1873340"/>
            <a:ext cx="202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6736" y="2643380"/>
            <a:ext cx="880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B223F"/>
                </a:solidFill>
                <a:latin typeface="Calibri"/>
                <a:cs typeface="Calibri"/>
              </a:rPr>
              <a:t>User</a:t>
            </a:r>
            <a:r>
              <a:rPr sz="1200" b="1" spc="-3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B223F"/>
                </a:solidFill>
                <a:latin typeface="Calibri"/>
                <a:cs typeface="Calibri"/>
              </a:rPr>
              <a:t>Browses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6102" y="3442946"/>
            <a:ext cx="157353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Sees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restaurant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tagged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'Highly Reliable'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based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on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last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10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 order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completion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rate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≥80%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40279" y="2697126"/>
            <a:ext cx="201295" cy="36830"/>
          </a:xfrm>
          <a:custGeom>
            <a:avLst/>
            <a:gdLst/>
            <a:ahLst/>
            <a:cxnLst/>
            <a:rect l="l" t="t" r="r" b="b"/>
            <a:pathLst>
              <a:path w="201294" h="36830">
                <a:moveTo>
                  <a:pt x="200875" y="0"/>
                </a:moveTo>
                <a:lnTo>
                  <a:pt x="0" y="0"/>
                </a:lnTo>
                <a:lnTo>
                  <a:pt x="0" y="36360"/>
                </a:lnTo>
                <a:lnTo>
                  <a:pt x="100444" y="36360"/>
                </a:lnTo>
                <a:lnTo>
                  <a:pt x="200875" y="36360"/>
                </a:lnTo>
                <a:lnTo>
                  <a:pt x="200875" y="0"/>
                </a:lnTo>
                <a:close/>
              </a:path>
            </a:pathLst>
          </a:custGeom>
          <a:solidFill>
            <a:srgbClr val="1B22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47455" y="2613785"/>
            <a:ext cx="16827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1B223F"/>
                </a:solidFill>
                <a:latin typeface="MingLiU_HKSCS-ExtB"/>
                <a:cs typeface="MingLiU_HKSCS-ExtB"/>
              </a:rPr>
              <a:t>▶</a:t>
            </a:r>
            <a:endParaRPr sz="1050">
              <a:latin typeface="MingLiU_HKSCS-ExtB"/>
              <a:cs typeface="MingLiU_HKSCS-ExtB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22360" y="1433514"/>
            <a:ext cx="2169160" cy="3402965"/>
            <a:chOff x="2322360" y="1433514"/>
            <a:chExt cx="2169160" cy="340296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2360" y="1433514"/>
              <a:ext cx="2168639" cy="340272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450515" y="1508406"/>
              <a:ext cx="1965960" cy="3200400"/>
            </a:xfrm>
            <a:custGeom>
              <a:avLst/>
              <a:gdLst/>
              <a:ahLst/>
              <a:cxnLst/>
              <a:rect l="l" t="t" r="r" b="b"/>
              <a:pathLst>
                <a:path w="1965960" h="3200400">
                  <a:moveTo>
                    <a:pt x="1965604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982802" y="3200031"/>
                  </a:lnTo>
                  <a:lnTo>
                    <a:pt x="1965604" y="3200031"/>
                  </a:lnTo>
                  <a:lnTo>
                    <a:pt x="1965604" y="0"/>
                  </a:lnTo>
                  <a:close/>
                </a:path>
              </a:pathLst>
            </a:custGeom>
            <a:solidFill>
              <a:srgbClr val="F7F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98800" y="1627202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80" y="0"/>
                  </a:moveTo>
                  <a:lnTo>
                    <a:pt x="357590" y="3543"/>
                  </a:lnTo>
                  <a:lnTo>
                    <a:pt x="304917" y="14038"/>
                  </a:lnTo>
                  <a:lnTo>
                    <a:pt x="254135" y="31284"/>
                  </a:lnTo>
                  <a:lnTo>
                    <a:pt x="205917" y="55079"/>
                  </a:lnTo>
                  <a:lnTo>
                    <a:pt x="160987" y="85029"/>
                  </a:lnTo>
                  <a:lnTo>
                    <a:pt x="120511" y="120511"/>
                  </a:lnTo>
                  <a:lnTo>
                    <a:pt x="85029" y="160987"/>
                  </a:lnTo>
                  <a:lnTo>
                    <a:pt x="55079" y="205917"/>
                  </a:lnTo>
                  <a:lnTo>
                    <a:pt x="31284" y="254135"/>
                  </a:lnTo>
                  <a:lnTo>
                    <a:pt x="14038" y="304917"/>
                  </a:lnTo>
                  <a:lnTo>
                    <a:pt x="3543" y="357590"/>
                  </a:lnTo>
                  <a:lnTo>
                    <a:pt x="0" y="411479"/>
                  </a:lnTo>
                  <a:lnTo>
                    <a:pt x="3543" y="465375"/>
                  </a:lnTo>
                  <a:lnTo>
                    <a:pt x="14038" y="518086"/>
                  </a:lnTo>
                  <a:lnTo>
                    <a:pt x="31284" y="568974"/>
                  </a:lnTo>
                  <a:lnTo>
                    <a:pt x="55079" y="617397"/>
                  </a:lnTo>
                  <a:lnTo>
                    <a:pt x="85029" y="662122"/>
                  </a:lnTo>
                  <a:lnTo>
                    <a:pt x="120511" y="702492"/>
                  </a:lnTo>
                  <a:lnTo>
                    <a:pt x="160987" y="737936"/>
                  </a:lnTo>
                  <a:lnTo>
                    <a:pt x="205917" y="767880"/>
                  </a:lnTo>
                  <a:lnTo>
                    <a:pt x="254135" y="791675"/>
                  </a:lnTo>
                  <a:lnTo>
                    <a:pt x="304917" y="808921"/>
                  </a:lnTo>
                  <a:lnTo>
                    <a:pt x="357590" y="819416"/>
                  </a:lnTo>
                  <a:lnTo>
                    <a:pt x="411480" y="822959"/>
                  </a:lnTo>
                  <a:lnTo>
                    <a:pt x="465375" y="819416"/>
                  </a:lnTo>
                  <a:lnTo>
                    <a:pt x="518086" y="808921"/>
                  </a:lnTo>
                  <a:lnTo>
                    <a:pt x="568974" y="791675"/>
                  </a:lnTo>
                  <a:lnTo>
                    <a:pt x="617397" y="767880"/>
                  </a:lnTo>
                  <a:lnTo>
                    <a:pt x="662122" y="737936"/>
                  </a:lnTo>
                  <a:lnTo>
                    <a:pt x="702492" y="702492"/>
                  </a:lnTo>
                  <a:lnTo>
                    <a:pt x="737936" y="662122"/>
                  </a:lnTo>
                  <a:lnTo>
                    <a:pt x="767880" y="617397"/>
                  </a:lnTo>
                  <a:lnTo>
                    <a:pt x="791675" y="568974"/>
                  </a:lnTo>
                  <a:lnTo>
                    <a:pt x="808921" y="518086"/>
                  </a:lnTo>
                  <a:lnTo>
                    <a:pt x="819416" y="465375"/>
                  </a:lnTo>
                  <a:lnTo>
                    <a:pt x="822959" y="411479"/>
                  </a:lnTo>
                  <a:lnTo>
                    <a:pt x="819416" y="357590"/>
                  </a:lnTo>
                  <a:lnTo>
                    <a:pt x="808921" y="304917"/>
                  </a:lnTo>
                  <a:lnTo>
                    <a:pt x="791675" y="254135"/>
                  </a:lnTo>
                  <a:lnTo>
                    <a:pt x="767880" y="205917"/>
                  </a:lnTo>
                  <a:lnTo>
                    <a:pt x="737936" y="160987"/>
                  </a:lnTo>
                  <a:lnTo>
                    <a:pt x="702492" y="120511"/>
                  </a:lnTo>
                  <a:lnTo>
                    <a:pt x="662122" y="85029"/>
                  </a:lnTo>
                  <a:lnTo>
                    <a:pt x="617397" y="55079"/>
                  </a:lnTo>
                  <a:lnTo>
                    <a:pt x="568974" y="31284"/>
                  </a:lnTo>
                  <a:lnTo>
                    <a:pt x="518086" y="14038"/>
                  </a:lnTo>
                  <a:lnTo>
                    <a:pt x="465375" y="3543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761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09023" y="1873340"/>
            <a:ext cx="202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92780" y="2643380"/>
            <a:ext cx="1278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B223F"/>
                </a:solidFill>
                <a:latin typeface="Calibri"/>
                <a:cs typeface="Calibri"/>
              </a:rPr>
              <a:t>Pre-Checkout</a:t>
            </a:r>
            <a:r>
              <a:rPr sz="1200" b="1" spc="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1B223F"/>
                </a:solidFill>
                <a:latin typeface="Calibri"/>
                <a:cs typeface="Calibri"/>
              </a:rPr>
              <a:t>Check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74340" y="3366619"/>
            <a:ext cx="150876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App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 triggers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kitchen availability</a:t>
            </a:r>
            <a:r>
              <a:rPr sz="1000" spc="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check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—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verifying items,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chef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capacity,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and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 delivery</a:t>
            </a:r>
            <a:r>
              <a:rPr sz="1000" spc="-5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slot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16475" y="2697126"/>
            <a:ext cx="201295" cy="36830"/>
          </a:xfrm>
          <a:custGeom>
            <a:avLst/>
            <a:gdLst/>
            <a:ahLst/>
            <a:cxnLst/>
            <a:rect l="l" t="t" r="r" b="b"/>
            <a:pathLst>
              <a:path w="201295" h="36830">
                <a:moveTo>
                  <a:pt x="200888" y="0"/>
                </a:moveTo>
                <a:lnTo>
                  <a:pt x="0" y="0"/>
                </a:lnTo>
                <a:lnTo>
                  <a:pt x="0" y="36360"/>
                </a:lnTo>
                <a:lnTo>
                  <a:pt x="100444" y="36360"/>
                </a:lnTo>
                <a:lnTo>
                  <a:pt x="200888" y="36360"/>
                </a:lnTo>
                <a:lnTo>
                  <a:pt x="200888" y="0"/>
                </a:lnTo>
                <a:close/>
              </a:path>
            </a:pathLst>
          </a:custGeom>
          <a:solidFill>
            <a:srgbClr val="E761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523663" y="2613785"/>
            <a:ext cx="16827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E76119"/>
                </a:solidFill>
                <a:latin typeface="MingLiU_HKSCS-ExtB"/>
                <a:cs typeface="MingLiU_HKSCS-ExtB"/>
              </a:rPr>
              <a:t>▶</a:t>
            </a:r>
            <a:endParaRPr sz="1050">
              <a:latin typeface="MingLiU_HKSCS-ExtB"/>
              <a:cs typeface="MingLiU_HKSCS-ExtB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98556" y="1433514"/>
            <a:ext cx="2169160" cy="3402965"/>
            <a:chOff x="4498556" y="1433514"/>
            <a:chExt cx="2169160" cy="340296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8556" y="1433514"/>
              <a:ext cx="2168639" cy="34027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26724" y="1508406"/>
              <a:ext cx="1965960" cy="3200400"/>
            </a:xfrm>
            <a:custGeom>
              <a:avLst/>
              <a:gdLst/>
              <a:ahLst/>
              <a:cxnLst/>
              <a:rect l="l" t="t" r="r" b="b"/>
              <a:pathLst>
                <a:path w="1965959" h="3200400">
                  <a:moveTo>
                    <a:pt x="1965591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982789" y="3200031"/>
                  </a:lnTo>
                  <a:lnTo>
                    <a:pt x="1965591" y="3200031"/>
                  </a:lnTo>
                  <a:lnTo>
                    <a:pt x="1965591" y="0"/>
                  </a:lnTo>
                  <a:close/>
                </a:path>
              </a:pathLst>
            </a:custGeom>
            <a:solidFill>
              <a:srgbClr val="F7F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74996" y="1627202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79" y="0"/>
                  </a:moveTo>
                  <a:lnTo>
                    <a:pt x="357595" y="3543"/>
                  </a:lnTo>
                  <a:lnTo>
                    <a:pt x="304922" y="14038"/>
                  </a:lnTo>
                  <a:lnTo>
                    <a:pt x="254137" y="31284"/>
                  </a:lnTo>
                  <a:lnTo>
                    <a:pt x="205917" y="55079"/>
                  </a:lnTo>
                  <a:lnTo>
                    <a:pt x="160987" y="85029"/>
                  </a:lnTo>
                  <a:lnTo>
                    <a:pt x="120511" y="120511"/>
                  </a:lnTo>
                  <a:lnTo>
                    <a:pt x="85029" y="160987"/>
                  </a:lnTo>
                  <a:lnTo>
                    <a:pt x="55079" y="205917"/>
                  </a:lnTo>
                  <a:lnTo>
                    <a:pt x="31289" y="254135"/>
                  </a:lnTo>
                  <a:lnTo>
                    <a:pt x="14043" y="304917"/>
                  </a:lnTo>
                  <a:lnTo>
                    <a:pt x="3544" y="357590"/>
                  </a:lnTo>
                  <a:lnTo>
                    <a:pt x="0" y="411479"/>
                  </a:lnTo>
                  <a:lnTo>
                    <a:pt x="3544" y="465375"/>
                  </a:lnTo>
                  <a:lnTo>
                    <a:pt x="14043" y="518086"/>
                  </a:lnTo>
                  <a:lnTo>
                    <a:pt x="31289" y="568974"/>
                  </a:lnTo>
                  <a:lnTo>
                    <a:pt x="55079" y="617397"/>
                  </a:lnTo>
                  <a:lnTo>
                    <a:pt x="85029" y="662122"/>
                  </a:lnTo>
                  <a:lnTo>
                    <a:pt x="120511" y="702492"/>
                  </a:lnTo>
                  <a:lnTo>
                    <a:pt x="160987" y="737936"/>
                  </a:lnTo>
                  <a:lnTo>
                    <a:pt x="205917" y="767880"/>
                  </a:lnTo>
                  <a:lnTo>
                    <a:pt x="254137" y="791675"/>
                  </a:lnTo>
                  <a:lnTo>
                    <a:pt x="304922" y="808921"/>
                  </a:lnTo>
                  <a:lnTo>
                    <a:pt x="357595" y="819416"/>
                  </a:lnTo>
                  <a:lnTo>
                    <a:pt x="411479" y="822959"/>
                  </a:lnTo>
                  <a:lnTo>
                    <a:pt x="465375" y="819416"/>
                  </a:lnTo>
                  <a:lnTo>
                    <a:pt x="518086" y="808921"/>
                  </a:lnTo>
                  <a:lnTo>
                    <a:pt x="568974" y="791675"/>
                  </a:lnTo>
                  <a:lnTo>
                    <a:pt x="617397" y="767880"/>
                  </a:lnTo>
                  <a:lnTo>
                    <a:pt x="662124" y="737936"/>
                  </a:lnTo>
                  <a:lnTo>
                    <a:pt x="702497" y="702492"/>
                  </a:lnTo>
                  <a:lnTo>
                    <a:pt x="737941" y="662122"/>
                  </a:lnTo>
                  <a:lnTo>
                    <a:pt x="767880" y="617397"/>
                  </a:lnTo>
                  <a:lnTo>
                    <a:pt x="791675" y="568974"/>
                  </a:lnTo>
                  <a:lnTo>
                    <a:pt x="808921" y="518086"/>
                  </a:lnTo>
                  <a:lnTo>
                    <a:pt x="819416" y="465375"/>
                  </a:lnTo>
                  <a:lnTo>
                    <a:pt x="822959" y="411479"/>
                  </a:lnTo>
                  <a:lnTo>
                    <a:pt x="819416" y="357590"/>
                  </a:lnTo>
                  <a:lnTo>
                    <a:pt x="808921" y="304917"/>
                  </a:lnTo>
                  <a:lnTo>
                    <a:pt x="791675" y="254135"/>
                  </a:lnTo>
                  <a:lnTo>
                    <a:pt x="767880" y="205917"/>
                  </a:lnTo>
                  <a:lnTo>
                    <a:pt x="737941" y="160987"/>
                  </a:lnTo>
                  <a:lnTo>
                    <a:pt x="702497" y="120511"/>
                  </a:lnTo>
                  <a:lnTo>
                    <a:pt x="662124" y="85029"/>
                  </a:lnTo>
                  <a:lnTo>
                    <a:pt x="617397" y="55079"/>
                  </a:lnTo>
                  <a:lnTo>
                    <a:pt x="568974" y="31284"/>
                  </a:lnTo>
                  <a:lnTo>
                    <a:pt x="518086" y="14038"/>
                  </a:lnTo>
                  <a:lnTo>
                    <a:pt x="465375" y="354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0C9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485219" y="1873340"/>
            <a:ext cx="202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23980" y="2643380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B223F"/>
                </a:solidFill>
                <a:latin typeface="Calibri"/>
                <a:cs typeface="Calibri"/>
              </a:rPr>
              <a:t>Kitchen</a:t>
            </a:r>
            <a:r>
              <a:rPr sz="1200" b="1" spc="-2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B223F"/>
                </a:solidFill>
                <a:latin typeface="Calibri"/>
                <a:cs typeface="Calibri"/>
              </a:rPr>
              <a:t>Accepts</a:t>
            </a:r>
            <a:r>
              <a:rPr sz="1200" b="1" spc="-20" dirty="0">
                <a:solidFill>
                  <a:srgbClr val="1B223F"/>
                </a:solidFill>
                <a:latin typeface="Calibri"/>
                <a:cs typeface="Calibri"/>
              </a:rPr>
              <a:t> (90s)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88700" y="3442946"/>
            <a:ext cx="14331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975" marR="5080" indent="-4191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Restaurant</a:t>
            </a:r>
            <a:r>
              <a:rPr sz="100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kitchen</a:t>
            </a:r>
            <a:r>
              <a:rPr sz="100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receives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order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&amp;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confirms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capacity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within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90-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second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window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592684" y="2697126"/>
            <a:ext cx="201295" cy="36830"/>
          </a:xfrm>
          <a:custGeom>
            <a:avLst/>
            <a:gdLst/>
            <a:ahLst/>
            <a:cxnLst/>
            <a:rect l="l" t="t" r="r" b="b"/>
            <a:pathLst>
              <a:path w="201295" h="36830">
                <a:moveTo>
                  <a:pt x="200875" y="0"/>
                </a:moveTo>
                <a:lnTo>
                  <a:pt x="0" y="0"/>
                </a:lnTo>
                <a:lnTo>
                  <a:pt x="0" y="36360"/>
                </a:lnTo>
                <a:lnTo>
                  <a:pt x="100431" y="36360"/>
                </a:lnTo>
                <a:lnTo>
                  <a:pt x="200875" y="36360"/>
                </a:lnTo>
                <a:lnTo>
                  <a:pt x="200875" y="0"/>
                </a:lnTo>
                <a:close/>
              </a:path>
            </a:pathLst>
          </a:custGeom>
          <a:solidFill>
            <a:srgbClr val="0C9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699859" y="2613785"/>
            <a:ext cx="16827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0C9A89"/>
                </a:solidFill>
                <a:latin typeface="MingLiU_HKSCS-ExtB"/>
                <a:cs typeface="MingLiU_HKSCS-ExtB"/>
              </a:rPr>
              <a:t>▶</a:t>
            </a:r>
            <a:endParaRPr sz="1050">
              <a:latin typeface="MingLiU_HKSCS-ExtB"/>
              <a:cs typeface="MingLiU_HKSCS-ExtB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75119" y="1433514"/>
            <a:ext cx="2169160" cy="3402965"/>
            <a:chOff x="6675119" y="1433514"/>
            <a:chExt cx="2169160" cy="340296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5119" y="1433514"/>
              <a:ext cx="2168639" cy="340272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803275" y="1508406"/>
              <a:ext cx="1965960" cy="3200400"/>
            </a:xfrm>
            <a:custGeom>
              <a:avLst/>
              <a:gdLst/>
              <a:ahLst/>
              <a:cxnLst/>
              <a:rect l="l" t="t" r="r" b="b"/>
              <a:pathLst>
                <a:path w="1965959" h="3200400">
                  <a:moveTo>
                    <a:pt x="1965604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982802" y="3200031"/>
                  </a:lnTo>
                  <a:lnTo>
                    <a:pt x="1965604" y="3200031"/>
                  </a:lnTo>
                  <a:lnTo>
                    <a:pt x="1965604" y="0"/>
                  </a:lnTo>
                  <a:close/>
                </a:path>
              </a:pathLst>
            </a:custGeom>
            <a:solidFill>
              <a:srgbClr val="F7F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51559" y="1627202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79" y="0"/>
                  </a:moveTo>
                  <a:lnTo>
                    <a:pt x="357590" y="3543"/>
                  </a:lnTo>
                  <a:lnTo>
                    <a:pt x="304917" y="14038"/>
                  </a:lnTo>
                  <a:lnTo>
                    <a:pt x="254135" y="31284"/>
                  </a:lnTo>
                  <a:lnTo>
                    <a:pt x="205917" y="55079"/>
                  </a:lnTo>
                  <a:lnTo>
                    <a:pt x="160987" y="85029"/>
                  </a:lnTo>
                  <a:lnTo>
                    <a:pt x="120511" y="120511"/>
                  </a:lnTo>
                  <a:lnTo>
                    <a:pt x="85029" y="160987"/>
                  </a:lnTo>
                  <a:lnTo>
                    <a:pt x="55079" y="205917"/>
                  </a:lnTo>
                  <a:lnTo>
                    <a:pt x="31284" y="254135"/>
                  </a:lnTo>
                  <a:lnTo>
                    <a:pt x="14038" y="304917"/>
                  </a:lnTo>
                  <a:lnTo>
                    <a:pt x="3543" y="357590"/>
                  </a:lnTo>
                  <a:lnTo>
                    <a:pt x="0" y="411479"/>
                  </a:lnTo>
                  <a:lnTo>
                    <a:pt x="3543" y="465375"/>
                  </a:lnTo>
                  <a:lnTo>
                    <a:pt x="14038" y="518086"/>
                  </a:lnTo>
                  <a:lnTo>
                    <a:pt x="31284" y="568974"/>
                  </a:lnTo>
                  <a:lnTo>
                    <a:pt x="55079" y="617397"/>
                  </a:lnTo>
                  <a:lnTo>
                    <a:pt x="85029" y="662122"/>
                  </a:lnTo>
                  <a:lnTo>
                    <a:pt x="120511" y="702492"/>
                  </a:lnTo>
                  <a:lnTo>
                    <a:pt x="160987" y="737936"/>
                  </a:lnTo>
                  <a:lnTo>
                    <a:pt x="205917" y="767880"/>
                  </a:lnTo>
                  <a:lnTo>
                    <a:pt x="254135" y="791675"/>
                  </a:lnTo>
                  <a:lnTo>
                    <a:pt x="304917" y="808921"/>
                  </a:lnTo>
                  <a:lnTo>
                    <a:pt x="357590" y="819416"/>
                  </a:lnTo>
                  <a:lnTo>
                    <a:pt x="411479" y="822959"/>
                  </a:lnTo>
                  <a:lnTo>
                    <a:pt x="465375" y="819416"/>
                  </a:lnTo>
                  <a:lnTo>
                    <a:pt x="518086" y="808921"/>
                  </a:lnTo>
                  <a:lnTo>
                    <a:pt x="568974" y="791675"/>
                  </a:lnTo>
                  <a:lnTo>
                    <a:pt x="617397" y="767880"/>
                  </a:lnTo>
                  <a:lnTo>
                    <a:pt x="662122" y="737936"/>
                  </a:lnTo>
                  <a:lnTo>
                    <a:pt x="702492" y="702492"/>
                  </a:lnTo>
                  <a:lnTo>
                    <a:pt x="737936" y="662122"/>
                  </a:lnTo>
                  <a:lnTo>
                    <a:pt x="767880" y="617397"/>
                  </a:lnTo>
                  <a:lnTo>
                    <a:pt x="791675" y="568974"/>
                  </a:lnTo>
                  <a:lnTo>
                    <a:pt x="808921" y="518086"/>
                  </a:lnTo>
                  <a:lnTo>
                    <a:pt x="819416" y="465375"/>
                  </a:lnTo>
                  <a:lnTo>
                    <a:pt x="822959" y="411479"/>
                  </a:lnTo>
                  <a:lnTo>
                    <a:pt x="819416" y="357590"/>
                  </a:lnTo>
                  <a:lnTo>
                    <a:pt x="808921" y="304917"/>
                  </a:lnTo>
                  <a:lnTo>
                    <a:pt x="791675" y="254135"/>
                  </a:lnTo>
                  <a:lnTo>
                    <a:pt x="767880" y="205917"/>
                  </a:lnTo>
                  <a:lnTo>
                    <a:pt x="737936" y="160987"/>
                  </a:lnTo>
                  <a:lnTo>
                    <a:pt x="702492" y="120511"/>
                  </a:lnTo>
                  <a:lnTo>
                    <a:pt x="662122" y="85029"/>
                  </a:lnTo>
                  <a:lnTo>
                    <a:pt x="617397" y="55079"/>
                  </a:lnTo>
                  <a:lnTo>
                    <a:pt x="568974" y="31284"/>
                  </a:lnTo>
                  <a:lnTo>
                    <a:pt x="518086" y="14038"/>
                  </a:lnTo>
                  <a:lnTo>
                    <a:pt x="465375" y="354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1CB8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661782" y="1873340"/>
            <a:ext cx="202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39863" y="2643380"/>
            <a:ext cx="1090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B223F"/>
                </a:solidFill>
                <a:latin typeface="Calibri"/>
                <a:cs typeface="Calibri"/>
              </a:rPr>
              <a:t>Order</a:t>
            </a:r>
            <a:r>
              <a:rPr sz="1200" b="1" spc="-4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B223F"/>
                </a:solidFill>
                <a:latin typeface="Calibri"/>
                <a:cs typeface="Calibri"/>
              </a:rPr>
              <a:t>Confirmed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50138" y="3442946"/>
            <a:ext cx="14624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User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sees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confirmation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with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accurate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ETA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+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'Kitchen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is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 preparing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your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food'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status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73964" y="4773246"/>
            <a:ext cx="8595360" cy="255904"/>
          </a:xfrm>
          <a:custGeom>
            <a:avLst/>
            <a:gdLst/>
            <a:ahLst/>
            <a:cxnLst/>
            <a:rect l="l" t="t" r="r" b="b"/>
            <a:pathLst>
              <a:path w="8595360" h="255904">
                <a:moveTo>
                  <a:pt x="8594991" y="0"/>
                </a:moveTo>
                <a:lnTo>
                  <a:pt x="0" y="0"/>
                </a:lnTo>
                <a:lnTo>
                  <a:pt x="0" y="255600"/>
                </a:lnTo>
                <a:lnTo>
                  <a:pt x="4297680" y="255600"/>
                </a:lnTo>
                <a:lnTo>
                  <a:pt x="8594991" y="255600"/>
                </a:lnTo>
                <a:lnTo>
                  <a:pt x="8594991" y="0"/>
                </a:lnTo>
                <a:close/>
              </a:path>
            </a:pathLst>
          </a:custGeom>
          <a:solidFill>
            <a:srgbClr val="1CB879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34136" y="4808425"/>
            <a:ext cx="468376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Yu Gothic"/>
              <a:buChar char="✓"/>
              <a:tabLst>
                <a:tab pos="182880" algn="l"/>
              </a:tabLst>
            </a:pPr>
            <a:r>
              <a:rPr sz="1050" b="1" spc="-10" dirty="0">
                <a:solidFill>
                  <a:srgbClr val="0E794D"/>
                </a:solidFill>
                <a:latin typeface="Calibri"/>
                <a:cs typeface="Calibri"/>
              </a:rPr>
              <a:t>Result:</a:t>
            </a:r>
            <a:r>
              <a:rPr sz="1050" b="1" spc="-1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E794D"/>
                </a:solidFill>
                <a:latin typeface="Calibri"/>
                <a:cs typeface="Calibri"/>
              </a:rPr>
              <a:t>Order</a:t>
            </a:r>
            <a:r>
              <a:rPr sz="1050" b="1" spc="-2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E794D"/>
                </a:solidFill>
                <a:latin typeface="Calibri"/>
                <a:cs typeface="Calibri"/>
              </a:rPr>
              <a:t>succeeds</a:t>
            </a:r>
            <a:r>
              <a:rPr sz="1050" b="1" spc="-2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E794D"/>
                </a:solidFill>
                <a:latin typeface="Calibri"/>
                <a:cs typeface="Calibri"/>
              </a:rPr>
              <a:t>→</a:t>
            </a:r>
            <a:r>
              <a:rPr sz="1050" b="1" spc="-1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E794D"/>
                </a:solidFill>
                <a:latin typeface="Calibri"/>
                <a:cs typeface="Calibri"/>
              </a:rPr>
              <a:t>User</a:t>
            </a:r>
            <a:r>
              <a:rPr sz="1050" b="1" spc="-1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E794D"/>
                </a:solidFill>
                <a:latin typeface="Calibri"/>
                <a:cs typeface="Calibri"/>
              </a:rPr>
              <a:t>trust</a:t>
            </a:r>
            <a:r>
              <a:rPr sz="1050" b="1" spc="-1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E794D"/>
                </a:solidFill>
                <a:latin typeface="Calibri"/>
                <a:cs typeface="Calibri"/>
              </a:rPr>
              <a:t>maintained</a:t>
            </a:r>
            <a:r>
              <a:rPr sz="1050" b="1" spc="-20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E794D"/>
                </a:solidFill>
                <a:latin typeface="Calibri"/>
                <a:cs typeface="Calibri"/>
              </a:rPr>
              <a:t>→</a:t>
            </a:r>
            <a:r>
              <a:rPr sz="1050" b="1" spc="-20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E794D"/>
                </a:solidFill>
                <a:latin typeface="Calibri"/>
                <a:cs typeface="Calibri"/>
              </a:rPr>
              <a:t>Higher</a:t>
            </a:r>
            <a:r>
              <a:rPr sz="1050" b="1" spc="-2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E794D"/>
                </a:solidFill>
                <a:latin typeface="Calibri"/>
                <a:cs typeface="Calibri"/>
              </a:rPr>
              <a:t>likelihood</a:t>
            </a:r>
            <a:r>
              <a:rPr sz="1050" b="1" spc="-1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E794D"/>
                </a:solidFill>
                <a:latin typeface="Calibri"/>
                <a:cs typeface="Calibri"/>
              </a:rPr>
              <a:t>of</a:t>
            </a:r>
            <a:r>
              <a:rPr sz="1050" b="1" spc="-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E794D"/>
                </a:solidFill>
                <a:latin typeface="Calibri"/>
                <a:cs typeface="Calibri"/>
              </a:rPr>
              <a:t>next</a:t>
            </a:r>
            <a:r>
              <a:rPr sz="1050" b="1" spc="-2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E794D"/>
                </a:solidFill>
                <a:latin typeface="Calibri"/>
                <a:cs typeface="Calibri"/>
              </a:rPr>
              <a:t>order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2"/>
            <a:ext cx="9144000" cy="740410"/>
            <a:chOff x="-355" y="2"/>
            <a:chExt cx="9144000" cy="740410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3631" y="0"/>
                  </a:moveTo>
                  <a:lnTo>
                    <a:pt x="0" y="0"/>
                  </a:lnTo>
                  <a:lnTo>
                    <a:pt x="0" y="685444"/>
                  </a:lnTo>
                  <a:lnTo>
                    <a:pt x="4572000" y="685444"/>
                  </a:lnTo>
                  <a:lnTo>
                    <a:pt x="9143631" y="685444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B2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685446"/>
              <a:ext cx="9144000" cy="54610"/>
            </a:xfrm>
            <a:custGeom>
              <a:avLst/>
              <a:gdLst/>
              <a:ahLst/>
              <a:cxnLst/>
              <a:rect l="l" t="t" r="r" b="b"/>
              <a:pathLst>
                <a:path w="9144000" h="54609">
                  <a:moveTo>
                    <a:pt x="9143631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4572000" y="54355"/>
                  </a:lnTo>
                  <a:lnTo>
                    <a:pt x="9143631" y="54355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E761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2696" y="246153"/>
            <a:ext cx="32569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L</a:t>
            </a:r>
            <a:r>
              <a:rPr sz="1100" b="1" spc="2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U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I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N</a:t>
            </a:r>
            <a:r>
              <a:rPr sz="1100" b="1" spc="170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F</a:t>
            </a:r>
            <a:r>
              <a:rPr sz="1100" b="1" spc="5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L</a:t>
            </a:r>
            <a:r>
              <a:rPr sz="1100" b="1" spc="2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3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W</a:t>
            </a:r>
            <a:r>
              <a:rPr sz="1100" b="1" spc="170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—</a:t>
            </a:r>
            <a:r>
              <a:rPr sz="1100" b="1" spc="170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6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M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A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r>
              <a:rPr sz="1100" b="1" spc="170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3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O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U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spc="-60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5" dirty="0">
                <a:solidFill>
                  <a:srgbClr val="1B223F"/>
                </a:solidFill>
              </a:rPr>
              <a:t>When</a:t>
            </a:r>
            <a:r>
              <a:rPr sz="2400" spc="310" dirty="0">
                <a:solidFill>
                  <a:srgbClr val="1B223F"/>
                </a:solidFill>
              </a:rPr>
              <a:t> </a:t>
            </a:r>
            <a:r>
              <a:rPr sz="2400" spc="254" dirty="0">
                <a:solidFill>
                  <a:srgbClr val="1B223F"/>
                </a:solidFill>
              </a:rPr>
              <a:t>the</a:t>
            </a:r>
            <a:r>
              <a:rPr sz="2400" spc="300" dirty="0">
                <a:solidFill>
                  <a:srgbClr val="1B223F"/>
                </a:solidFill>
              </a:rPr>
              <a:t> </a:t>
            </a:r>
            <a:r>
              <a:rPr sz="2400" spc="275" dirty="0">
                <a:solidFill>
                  <a:srgbClr val="1B223F"/>
                </a:solidFill>
              </a:rPr>
              <a:t>Kitchen</a:t>
            </a:r>
            <a:r>
              <a:rPr sz="2400" spc="315" dirty="0">
                <a:solidFill>
                  <a:srgbClr val="1B223F"/>
                </a:solidFill>
              </a:rPr>
              <a:t> </a:t>
            </a:r>
            <a:r>
              <a:rPr sz="2400" spc="285" dirty="0">
                <a:solidFill>
                  <a:srgbClr val="1B223F"/>
                </a:solidFill>
              </a:rPr>
              <a:t>Can't</a:t>
            </a:r>
            <a:r>
              <a:rPr sz="2400" spc="310" dirty="0">
                <a:solidFill>
                  <a:srgbClr val="1B223F"/>
                </a:solidFill>
              </a:rPr>
              <a:t> </a:t>
            </a:r>
            <a:r>
              <a:rPr sz="2400" spc="254" dirty="0">
                <a:solidFill>
                  <a:srgbClr val="1B223F"/>
                </a:solidFill>
              </a:rPr>
              <a:t>Accept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146164" y="1388150"/>
            <a:ext cx="4089400" cy="1894205"/>
            <a:chOff x="146164" y="1388150"/>
            <a:chExt cx="4089400" cy="189420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164" y="1388150"/>
              <a:ext cx="4088879" cy="1893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4319" y="1463042"/>
              <a:ext cx="3886200" cy="1691639"/>
            </a:xfrm>
            <a:custGeom>
              <a:avLst/>
              <a:gdLst/>
              <a:ahLst/>
              <a:cxnLst/>
              <a:rect l="l" t="t" r="r" b="b"/>
              <a:pathLst>
                <a:path w="3886200" h="1691639">
                  <a:moveTo>
                    <a:pt x="3885844" y="0"/>
                  </a:moveTo>
                  <a:lnTo>
                    <a:pt x="0" y="0"/>
                  </a:lnTo>
                  <a:lnTo>
                    <a:pt x="0" y="1691284"/>
                  </a:lnTo>
                  <a:lnTo>
                    <a:pt x="1942922" y="1691284"/>
                  </a:lnTo>
                  <a:lnTo>
                    <a:pt x="3885844" y="1691284"/>
                  </a:lnTo>
                  <a:lnTo>
                    <a:pt x="3885844" y="0"/>
                  </a:lnTo>
                  <a:close/>
                </a:path>
              </a:pathLst>
            </a:custGeom>
            <a:solidFill>
              <a:srgbClr val="F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19" y="1462686"/>
              <a:ext cx="3886200" cy="311150"/>
            </a:xfrm>
            <a:custGeom>
              <a:avLst/>
              <a:gdLst/>
              <a:ahLst/>
              <a:cxnLst/>
              <a:rect l="l" t="t" r="r" b="b"/>
              <a:pathLst>
                <a:path w="3886200" h="311150">
                  <a:moveTo>
                    <a:pt x="3885844" y="0"/>
                  </a:moveTo>
                  <a:lnTo>
                    <a:pt x="0" y="0"/>
                  </a:lnTo>
                  <a:lnTo>
                    <a:pt x="0" y="310680"/>
                  </a:lnTo>
                  <a:lnTo>
                    <a:pt x="1942922" y="310680"/>
                  </a:lnTo>
                  <a:lnTo>
                    <a:pt x="3885844" y="310680"/>
                  </a:lnTo>
                  <a:lnTo>
                    <a:pt x="3885844" y="0"/>
                  </a:lnTo>
                  <a:close/>
                </a:path>
              </a:pathLst>
            </a:custGeom>
            <a:solidFill>
              <a:srgbClr val="E7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8416" y="1506721"/>
            <a:ext cx="127254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90" dirty="0">
                <a:solidFill>
                  <a:srgbClr val="FFFFFF"/>
                </a:solidFill>
                <a:latin typeface="MingLiU_HKSCS-ExtB"/>
                <a:cs typeface="MingLiU_HKSCS-ExtB"/>
              </a:rPr>
              <a:t>❌</a:t>
            </a:r>
            <a:r>
              <a:rPr sz="1150" spc="-145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OLD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(Broken)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140" y="1899629"/>
            <a:ext cx="2042795" cy="116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Char char="*"/>
              <a:tabLst>
                <a:tab pos="153670" algn="l"/>
              </a:tabLst>
            </a:pP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User</a:t>
            </a:r>
            <a:r>
              <a:rPr sz="10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browses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&amp;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selects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restaurant</a:t>
            </a:r>
            <a:endParaRPr sz="1000">
              <a:latin typeface="Calibri"/>
              <a:cs typeface="Calibri"/>
            </a:endParaRPr>
          </a:p>
          <a:p>
            <a:pPr marL="153670" indent="-140970">
              <a:lnSpc>
                <a:spcPct val="100000"/>
              </a:lnSpc>
              <a:spcBef>
                <a:spcPts val="740"/>
              </a:spcBef>
              <a:buChar char="*"/>
              <a:tabLst>
                <a:tab pos="153670" algn="l"/>
              </a:tabLst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Pays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→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Order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sent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kitchen</a:t>
            </a:r>
            <a:endParaRPr sz="1000">
              <a:latin typeface="Calibri"/>
              <a:cs typeface="Calibri"/>
            </a:endParaRPr>
          </a:p>
          <a:p>
            <a:pPr marL="153670" indent="-140970">
              <a:lnSpc>
                <a:spcPct val="100000"/>
              </a:lnSpc>
              <a:spcBef>
                <a:spcPts val="745"/>
              </a:spcBef>
              <a:buChar char="➔"/>
              <a:tabLst>
                <a:tab pos="153670" algn="l"/>
              </a:tabLst>
            </a:pPr>
            <a:r>
              <a:rPr sz="1000" b="1" spc="-10" dirty="0">
                <a:solidFill>
                  <a:srgbClr val="E73F3F"/>
                </a:solidFill>
                <a:latin typeface="Calibri"/>
                <a:cs typeface="Calibri"/>
              </a:rPr>
              <a:t>Kitchen</a:t>
            </a:r>
            <a:r>
              <a:rPr sz="1000" b="1" spc="-2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73F3F"/>
                </a:solidFill>
                <a:latin typeface="Calibri"/>
                <a:cs typeface="Calibri"/>
              </a:rPr>
              <a:t>rejects</a:t>
            </a:r>
            <a:r>
              <a:rPr sz="1000" b="1" spc="-2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73F3F"/>
                </a:solidFill>
                <a:latin typeface="Calibri"/>
                <a:cs typeface="Calibri"/>
              </a:rPr>
              <a:t>AFTER</a:t>
            </a:r>
            <a:r>
              <a:rPr sz="1000" b="1" spc="-2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73F3F"/>
                </a:solidFill>
                <a:latin typeface="Calibri"/>
                <a:cs typeface="Calibri"/>
              </a:rPr>
              <a:t>payment</a:t>
            </a:r>
            <a:endParaRPr sz="1000">
              <a:latin typeface="Calibri"/>
              <a:cs typeface="Calibri"/>
            </a:endParaRPr>
          </a:p>
          <a:p>
            <a:pPr marL="153670" indent="-140970">
              <a:lnSpc>
                <a:spcPct val="100000"/>
              </a:lnSpc>
              <a:spcBef>
                <a:spcPts val="745"/>
              </a:spcBef>
              <a:buChar char="➔"/>
              <a:tabLst>
                <a:tab pos="153670" algn="l"/>
              </a:tabLst>
            </a:pPr>
            <a:r>
              <a:rPr sz="1000" b="1" dirty="0">
                <a:solidFill>
                  <a:srgbClr val="E73F3F"/>
                </a:solidFill>
                <a:latin typeface="Calibri"/>
                <a:cs typeface="Calibri"/>
              </a:rPr>
              <a:t>User</a:t>
            </a:r>
            <a:r>
              <a:rPr sz="1000" b="1" spc="-40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73F3F"/>
                </a:solidFill>
                <a:latin typeface="Calibri"/>
                <a:cs typeface="Calibri"/>
              </a:rPr>
              <a:t>gets</a:t>
            </a:r>
            <a:r>
              <a:rPr sz="1000" b="1" spc="-30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73F3F"/>
                </a:solidFill>
                <a:latin typeface="Calibri"/>
                <a:cs typeface="Calibri"/>
              </a:rPr>
              <a:t>generic</a:t>
            </a:r>
            <a:r>
              <a:rPr sz="1000" b="1" spc="-3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73F3F"/>
                </a:solidFill>
                <a:latin typeface="Calibri"/>
                <a:cs typeface="Calibri"/>
              </a:rPr>
              <a:t>error</a:t>
            </a:r>
            <a:r>
              <a:rPr sz="1000" b="1" spc="-30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73F3F"/>
                </a:solidFill>
                <a:latin typeface="Calibri"/>
                <a:cs typeface="Calibri"/>
              </a:rPr>
              <a:t>message</a:t>
            </a:r>
            <a:endParaRPr sz="1000">
              <a:latin typeface="Calibri"/>
              <a:cs typeface="Calibri"/>
            </a:endParaRPr>
          </a:p>
          <a:p>
            <a:pPr marL="153670" indent="-140970">
              <a:lnSpc>
                <a:spcPct val="100000"/>
              </a:lnSpc>
              <a:spcBef>
                <a:spcPts val="745"/>
              </a:spcBef>
              <a:buChar char="➔"/>
              <a:tabLst>
                <a:tab pos="153670" algn="l"/>
              </a:tabLst>
            </a:pPr>
            <a:r>
              <a:rPr sz="1000" b="1" spc="-20" dirty="0">
                <a:solidFill>
                  <a:srgbClr val="E73F3F"/>
                </a:solidFill>
                <a:latin typeface="Calibri"/>
                <a:cs typeface="Calibri"/>
              </a:rPr>
              <a:t>Trust</a:t>
            </a:r>
            <a:r>
              <a:rPr sz="1000" b="1" spc="-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73F3F"/>
                </a:solidFill>
                <a:latin typeface="Calibri"/>
                <a:cs typeface="Calibri"/>
              </a:rPr>
              <a:t>destroyed</a:t>
            </a:r>
            <a:r>
              <a:rPr sz="1000" b="1" spc="-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73F3F"/>
                </a:solidFill>
                <a:latin typeface="Calibri"/>
                <a:cs typeface="Calibri"/>
              </a:rPr>
              <a:t>— no</a:t>
            </a:r>
            <a:r>
              <a:rPr sz="1000" b="1" spc="-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E73F3F"/>
                </a:solidFill>
                <a:latin typeface="Calibri"/>
                <a:cs typeface="Calibri"/>
              </a:rPr>
              <a:t>recovery</a:t>
            </a:r>
            <a:r>
              <a:rPr sz="1000" b="1" spc="-5" dirty="0">
                <a:solidFill>
                  <a:srgbClr val="E73F3F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E73F3F"/>
                </a:solidFill>
                <a:latin typeface="Calibri"/>
                <a:cs typeface="Calibri"/>
              </a:rPr>
              <a:t>path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72444" y="1388150"/>
            <a:ext cx="4272280" cy="1894205"/>
            <a:chOff x="4672444" y="1388150"/>
            <a:chExt cx="4272280" cy="189420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2444" y="1388150"/>
              <a:ext cx="4271759" cy="18939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00599" y="1463042"/>
              <a:ext cx="4069079" cy="1691639"/>
            </a:xfrm>
            <a:custGeom>
              <a:avLst/>
              <a:gdLst/>
              <a:ahLst/>
              <a:cxnLst/>
              <a:rect l="l" t="t" r="r" b="b"/>
              <a:pathLst>
                <a:path w="4069079" h="1691639">
                  <a:moveTo>
                    <a:pt x="4068724" y="0"/>
                  </a:moveTo>
                  <a:lnTo>
                    <a:pt x="0" y="0"/>
                  </a:lnTo>
                  <a:lnTo>
                    <a:pt x="0" y="1691284"/>
                  </a:lnTo>
                  <a:lnTo>
                    <a:pt x="2034362" y="1691284"/>
                  </a:lnTo>
                  <a:lnTo>
                    <a:pt x="4068724" y="1691284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0599" y="1462686"/>
              <a:ext cx="4069079" cy="311150"/>
            </a:xfrm>
            <a:custGeom>
              <a:avLst/>
              <a:gdLst/>
              <a:ahLst/>
              <a:cxnLst/>
              <a:rect l="l" t="t" r="r" b="b"/>
              <a:pathLst>
                <a:path w="4069079" h="311150">
                  <a:moveTo>
                    <a:pt x="4068724" y="0"/>
                  </a:moveTo>
                  <a:lnTo>
                    <a:pt x="0" y="0"/>
                  </a:lnTo>
                  <a:lnTo>
                    <a:pt x="0" y="310680"/>
                  </a:lnTo>
                  <a:lnTo>
                    <a:pt x="2034362" y="310680"/>
                  </a:lnTo>
                  <a:lnTo>
                    <a:pt x="4068724" y="31068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1CB8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14696" y="1529183"/>
            <a:ext cx="18808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Font typeface="Yu Gothic"/>
              <a:buChar char="✓"/>
              <a:tabLst>
                <a:tab pos="175895" algn="l"/>
              </a:tabLst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(FoodSwift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Solution)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33060" y="1899629"/>
            <a:ext cx="2983230" cy="116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Char char="*"/>
              <a:tabLst>
                <a:tab pos="153670" algn="l"/>
              </a:tabLst>
            </a:pP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User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browses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→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sees</a:t>
            </a:r>
            <a:r>
              <a:rPr sz="1000" spc="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reliability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rating</a:t>
            </a:r>
            <a:endParaRPr sz="1000">
              <a:latin typeface="Calibri"/>
              <a:cs typeface="Calibri"/>
            </a:endParaRPr>
          </a:p>
          <a:p>
            <a:pPr marL="153670" indent="-140970">
              <a:lnSpc>
                <a:spcPct val="100000"/>
              </a:lnSpc>
              <a:spcBef>
                <a:spcPts val="740"/>
              </a:spcBef>
              <a:buChar char="*"/>
              <a:tabLst>
                <a:tab pos="153670" algn="l"/>
              </a:tabLst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Pre-checkout</a:t>
            </a:r>
            <a:r>
              <a:rPr sz="10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kitchen</a:t>
            </a:r>
            <a:r>
              <a:rPr sz="10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capacity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check</a:t>
            </a:r>
            <a:endParaRPr sz="1000">
              <a:latin typeface="Calibri"/>
              <a:cs typeface="Calibri"/>
            </a:endParaRPr>
          </a:p>
          <a:p>
            <a:pPr marL="153670" indent="-140970">
              <a:lnSpc>
                <a:spcPct val="100000"/>
              </a:lnSpc>
              <a:spcBef>
                <a:spcPts val="745"/>
              </a:spcBef>
              <a:buChar char="*"/>
              <a:tabLst>
                <a:tab pos="153670" algn="l"/>
              </a:tabLst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Kitchen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declines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within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90s</a:t>
            </a:r>
            <a:r>
              <a:rPr sz="10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(before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payment)</a:t>
            </a:r>
            <a:endParaRPr sz="1000">
              <a:latin typeface="Calibri"/>
              <a:cs typeface="Calibri"/>
            </a:endParaRPr>
          </a:p>
          <a:p>
            <a:pPr marL="153670" indent="-140970">
              <a:lnSpc>
                <a:spcPct val="100000"/>
              </a:lnSpc>
              <a:spcBef>
                <a:spcPts val="745"/>
              </a:spcBef>
              <a:buChar char="➔"/>
              <a:tabLst>
                <a:tab pos="153670" algn="l"/>
              </a:tabLst>
            </a:pPr>
            <a:r>
              <a:rPr sz="1000" b="1" dirty="0">
                <a:solidFill>
                  <a:srgbClr val="0E794D"/>
                </a:solidFill>
                <a:latin typeface="Calibri"/>
                <a:cs typeface="Calibri"/>
              </a:rPr>
              <a:t>Smart</a:t>
            </a:r>
            <a:r>
              <a:rPr sz="1000" b="1" spc="-1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E794D"/>
                </a:solidFill>
                <a:latin typeface="Calibri"/>
                <a:cs typeface="Calibri"/>
              </a:rPr>
              <a:t>reroute</a:t>
            </a:r>
            <a:r>
              <a:rPr sz="1000" b="1" spc="-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E794D"/>
                </a:solidFill>
                <a:latin typeface="Calibri"/>
                <a:cs typeface="Calibri"/>
              </a:rPr>
              <a:t>→</a:t>
            </a:r>
            <a:r>
              <a:rPr sz="1000" b="1" spc="-20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E794D"/>
                </a:solidFill>
                <a:latin typeface="Calibri"/>
                <a:cs typeface="Calibri"/>
              </a:rPr>
              <a:t>suggest</a:t>
            </a:r>
            <a:r>
              <a:rPr sz="1000" b="1" spc="-20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E794D"/>
                </a:solidFill>
                <a:latin typeface="Calibri"/>
                <a:cs typeface="Calibri"/>
              </a:rPr>
              <a:t>'Highly</a:t>
            </a:r>
            <a:r>
              <a:rPr sz="1000" b="1" spc="-10" dirty="0">
                <a:solidFill>
                  <a:srgbClr val="0E794D"/>
                </a:solidFill>
                <a:latin typeface="Calibri"/>
                <a:cs typeface="Calibri"/>
              </a:rPr>
              <a:t> Reliable' alternatives</a:t>
            </a:r>
            <a:endParaRPr sz="1000">
              <a:latin typeface="Calibri"/>
              <a:cs typeface="Calibri"/>
            </a:endParaRPr>
          </a:p>
          <a:p>
            <a:pPr marL="153670" indent="-140970">
              <a:lnSpc>
                <a:spcPct val="100000"/>
              </a:lnSpc>
              <a:spcBef>
                <a:spcPts val="745"/>
              </a:spcBef>
              <a:buChar char="➔"/>
              <a:tabLst>
                <a:tab pos="153670" algn="l"/>
              </a:tabLst>
            </a:pPr>
            <a:r>
              <a:rPr sz="1000" b="1" dirty="0">
                <a:solidFill>
                  <a:srgbClr val="0E794D"/>
                </a:solidFill>
                <a:latin typeface="Calibri"/>
                <a:cs typeface="Calibri"/>
              </a:rPr>
              <a:t>User</a:t>
            </a:r>
            <a:r>
              <a:rPr sz="1000" b="1" spc="-30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E794D"/>
                </a:solidFill>
                <a:latin typeface="Calibri"/>
                <a:cs typeface="Calibri"/>
              </a:rPr>
              <a:t>completes</a:t>
            </a:r>
            <a:r>
              <a:rPr sz="1000" b="1" spc="-1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E794D"/>
                </a:solidFill>
                <a:latin typeface="Calibri"/>
                <a:cs typeface="Calibri"/>
              </a:rPr>
              <a:t>order</a:t>
            </a:r>
            <a:r>
              <a:rPr sz="1000" b="1" spc="-1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E794D"/>
                </a:solidFill>
                <a:latin typeface="Calibri"/>
                <a:cs typeface="Calibri"/>
              </a:rPr>
              <a:t>→</a:t>
            </a:r>
            <a:r>
              <a:rPr sz="1000" b="1" spc="-35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E794D"/>
                </a:solidFill>
                <a:latin typeface="Calibri"/>
                <a:cs typeface="Calibri"/>
              </a:rPr>
              <a:t>trust</a:t>
            </a:r>
            <a:r>
              <a:rPr sz="1000" b="1" spc="-20" dirty="0">
                <a:solidFill>
                  <a:srgbClr val="0E794D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E794D"/>
                </a:solidFill>
                <a:latin typeface="Calibri"/>
                <a:cs typeface="Calibri"/>
              </a:rPr>
              <a:t>preserved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05884" y="196560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274319" y="0"/>
                </a:moveTo>
                <a:lnTo>
                  <a:pt x="203306" y="9313"/>
                </a:lnTo>
                <a:lnTo>
                  <a:pt x="137159" y="36715"/>
                </a:lnTo>
                <a:lnTo>
                  <a:pt x="80317" y="80317"/>
                </a:lnTo>
                <a:lnTo>
                  <a:pt x="36715" y="137159"/>
                </a:lnTo>
                <a:lnTo>
                  <a:pt x="9313" y="203306"/>
                </a:lnTo>
                <a:lnTo>
                  <a:pt x="0" y="274319"/>
                </a:lnTo>
                <a:lnTo>
                  <a:pt x="2345" y="310226"/>
                </a:lnTo>
                <a:lnTo>
                  <a:pt x="20804" y="379209"/>
                </a:lnTo>
                <a:lnTo>
                  <a:pt x="56710" y="441397"/>
                </a:lnTo>
                <a:lnTo>
                  <a:pt x="107235" y="491916"/>
                </a:lnTo>
                <a:lnTo>
                  <a:pt x="169422" y="527830"/>
                </a:lnTo>
                <a:lnTo>
                  <a:pt x="238406" y="546294"/>
                </a:lnTo>
                <a:lnTo>
                  <a:pt x="274319" y="548639"/>
                </a:lnTo>
                <a:lnTo>
                  <a:pt x="310226" y="546294"/>
                </a:lnTo>
                <a:lnTo>
                  <a:pt x="379209" y="527830"/>
                </a:lnTo>
                <a:lnTo>
                  <a:pt x="441397" y="491916"/>
                </a:lnTo>
                <a:lnTo>
                  <a:pt x="491916" y="441397"/>
                </a:lnTo>
                <a:lnTo>
                  <a:pt x="527830" y="379209"/>
                </a:lnTo>
                <a:lnTo>
                  <a:pt x="546294" y="310226"/>
                </a:lnTo>
                <a:lnTo>
                  <a:pt x="548639" y="274319"/>
                </a:lnTo>
                <a:lnTo>
                  <a:pt x="546294" y="238406"/>
                </a:lnTo>
                <a:lnTo>
                  <a:pt x="527830" y="169422"/>
                </a:lnTo>
                <a:lnTo>
                  <a:pt x="491916" y="107235"/>
                </a:lnTo>
                <a:lnTo>
                  <a:pt x="441397" y="56710"/>
                </a:lnTo>
                <a:lnTo>
                  <a:pt x="379209" y="20804"/>
                </a:lnTo>
                <a:lnTo>
                  <a:pt x="310226" y="2345"/>
                </a:lnTo>
                <a:lnTo>
                  <a:pt x="274319" y="0"/>
                </a:lnTo>
                <a:close/>
              </a:path>
            </a:pathLst>
          </a:custGeom>
          <a:solidFill>
            <a:srgbClr val="1B22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00905" y="2150912"/>
            <a:ext cx="1587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2696" y="3413063"/>
            <a:ext cx="15347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B223F"/>
                </a:solidFill>
                <a:latin typeface="Calibri"/>
                <a:cs typeface="Calibri"/>
              </a:rPr>
              <a:t>Core</a:t>
            </a:r>
            <a:r>
              <a:rPr sz="1300" b="1" spc="-5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B223F"/>
                </a:solidFill>
                <a:latin typeface="Calibri"/>
                <a:cs typeface="Calibri"/>
              </a:rPr>
              <a:t>Design</a:t>
            </a:r>
            <a:r>
              <a:rPr sz="1300" b="1" spc="-50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B223F"/>
                </a:solidFill>
                <a:latin typeface="Calibri"/>
                <a:cs typeface="Calibri"/>
              </a:rPr>
              <a:t>Principles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5795" y="3674150"/>
            <a:ext cx="2946400" cy="1318260"/>
            <a:chOff x="145795" y="3674150"/>
            <a:chExt cx="2946400" cy="131826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795" y="3674150"/>
              <a:ext cx="2945879" cy="131796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73964" y="3749042"/>
              <a:ext cx="2743200" cy="1115695"/>
            </a:xfrm>
            <a:custGeom>
              <a:avLst/>
              <a:gdLst/>
              <a:ahLst/>
              <a:cxnLst/>
              <a:rect l="l" t="t" r="r" b="b"/>
              <a:pathLst>
                <a:path w="2743200" h="1115695">
                  <a:moveTo>
                    <a:pt x="2742831" y="0"/>
                  </a:moveTo>
                  <a:lnTo>
                    <a:pt x="0" y="0"/>
                  </a:lnTo>
                  <a:lnTo>
                    <a:pt x="0" y="1115275"/>
                  </a:lnTo>
                  <a:lnTo>
                    <a:pt x="1371600" y="1115275"/>
                  </a:lnTo>
                  <a:lnTo>
                    <a:pt x="2742831" y="1115275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F7F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13981" y="3885815"/>
            <a:ext cx="3422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⚡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28496" y="3777696"/>
            <a:ext cx="1433830" cy="6254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b="1" spc="-10" dirty="0">
                <a:solidFill>
                  <a:srgbClr val="1B223F"/>
                </a:solidFill>
                <a:latin typeface="Calibri"/>
                <a:cs typeface="Calibri"/>
              </a:rPr>
              <a:t>Shift</a:t>
            </a:r>
            <a:r>
              <a:rPr sz="1100" b="1" spc="-3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B223F"/>
                </a:solidFill>
                <a:latin typeface="Calibri"/>
                <a:cs typeface="Calibri"/>
              </a:rPr>
              <a:t>risk</a:t>
            </a:r>
            <a:r>
              <a:rPr sz="1100" b="1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B223F"/>
                </a:solidFill>
                <a:latin typeface="Calibri"/>
                <a:cs typeface="Calibri"/>
              </a:rPr>
              <a:t>detection</a:t>
            </a:r>
            <a:r>
              <a:rPr sz="1100" b="1" spc="-2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1B223F"/>
                </a:solidFill>
                <a:latin typeface="Calibri"/>
                <a:cs typeface="Calibri"/>
              </a:rPr>
              <a:t>early</a:t>
            </a:r>
            <a:endParaRPr sz="1100">
              <a:latin typeface="Calibri"/>
              <a:cs typeface="Calibri"/>
            </a:endParaRPr>
          </a:p>
          <a:p>
            <a:pPr marL="12700" marR="74295">
              <a:lnSpc>
                <a:spcPct val="100000"/>
              </a:lnSpc>
              <a:spcBef>
                <a:spcPts val="475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Before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checkout,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not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after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payment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090240" y="3674150"/>
            <a:ext cx="2946400" cy="1318260"/>
            <a:chOff x="3090240" y="3674150"/>
            <a:chExt cx="2946400" cy="131826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0240" y="3674150"/>
              <a:ext cx="2945879" cy="131796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218395" y="3749042"/>
              <a:ext cx="2743200" cy="1115695"/>
            </a:xfrm>
            <a:custGeom>
              <a:avLst/>
              <a:gdLst/>
              <a:ahLst/>
              <a:cxnLst/>
              <a:rect l="l" t="t" r="r" b="b"/>
              <a:pathLst>
                <a:path w="2743200" h="1115695">
                  <a:moveTo>
                    <a:pt x="2742844" y="0"/>
                  </a:moveTo>
                  <a:lnTo>
                    <a:pt x="0" y="0"/>
                  </a:lnTo>
                  <a:lnTo>
                    <a:pt x="0" y="1115275"/>
                  </a:lnTo>
                  <a:lnTo>
                    <a:pt x="1371599" y="1115275"/>
                  </a:lnTo>
                  <a:lnTo>
                    <a:pt x="2742844" y="1115275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7F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58425" y="3885815"/>
            <a:ext cx="3422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🎯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72940" y="3777696"/>
            <a:ext cx="1647189" cy="6254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b="1" spc="-10" dirty="0">
                <a:solidFill>
                  <a:srgbClr val="1B223F"/>
                </a:solidFill>
                <a:latin typeface="Calibri"/>
                <a:cs typeface="Calibri"/>
              </a:rPr>
              <a:t>Confirmation</a:t>
            </a:r>
            <a:r>
              <a:rPr sz="1100" b="1" spc="3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B223F"/>
                </a:solidFill>
                <a:latin typeface="Calibri"/>
                <a:cs typeface="Calibri"/>
              </a:rPr>
              <a:t>gating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75"/>
              </a:spcBef>
            </a:pP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Align</a:t>
            </a:r>
            <a:r>
              <a:rPr sz="100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kitchen</a:t>
            </a:r>
            <a:r>
              <a:rPr sz="1000" spc="-4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capacity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with</a:t>
            </a:r>
            <a:r>
              <a:rPr sz="100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user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intent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34684" y="3674150"/>
            <a:ext cx="2946400" cy="1318260"/>
            <a:chOff x="6034684" y="3674150"/>
            <a:chExt cx="2946400" cy="1318260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4684" y="3674150"/>
              <a:ext cx="2945879" cy="131796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162840" y="3749042"/>
              <a:ext cx="2743200" cy="1115695"/>
            </a:xfrm>
            <a:custGeom>
              <a:avLst/>
              <a:gdLst/>
              <a:ahLst/>
              <a:cxnLst/>
              <a:rect l="l" t="t" r="r" b="b"/>
              <a:pathLst>
                <a:path w="2743200" h="1115695">
                  <a:moveTo>
                    <a:pt x="2742844" y="0"/>
                  </a:moveTo>
                  <a:lnTo>
                    <a:pt x="0" y="0"/>
                  </a:lnTo>
                  <a:lnTo>
                    <a:pt x="0" y="1115275"/>
                  </a:lnTo>
                  <a:lnTo>
                    <a:pt x="1371600" y="1115275"/>
                  </a:lnTo>
                  <a:lnTo>
                    <a:pt x="2742844" y="1115275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7F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402857" y="3885815"/>
            <a:ext cx="3422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🔄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17384" y="3777696"/>
            <a:ext cx="1471930" cy="6254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1B223F"/>
                </a:solidFill>
                <a:latin typeface="Calibri"/>
                <a:cs typeface="Calibri"/>
              </a:rPr>
              <a:t>Fast,</a:t>
            </a:r>
            <a:r>
              <a:rPr sz="1100" b="1" spc="-10" dirty="0">
                <a:solidFill>
                  <a:srgbClr val="1B223F"/>
                </a:solidFill>
                <a:latin typeface="Calibri"/>
                <a:cs typeface="Calibri"/>
              </a:rPr>
              <a:t> transparent</a:t>
            </a:r>
            <a:r>
              <a:rPr sz="1100" b="1" spc="-15" dirty="0">
                <a:solidFill>
                  <a:srgbClr val="1B22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B223F"/>
                </a:solidFill>
                <a:latin typeface="Calibri"/>
                <a:cs typeface="Calibri"/>
              </a:rPr>
              <a:t>reroute</a:t>
            </a:r>
            <a:endParaRPr sz="1100">
              <a:latin typeface="Calibri"/>
              <a:cs typeface="Calibri"/>
            </a:endParaRPr>
          </a:p>
          <a:p>
            <a:pPr marL="12700" marR="167005">
              <a:lnSpc>
                <a:spcPct val="100000"/>
              </a:lnSpc>
              <a:spcBef>
                <a:spcPts val="475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Replace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late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failures</a:t>
            </a:r>
            <a:r>
              <a:rPr sz="1000" spc="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with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instant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alternatives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3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2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631" y="0"/>
                </a:moveTo>
                <a:lnTo>
                  <a:pt x="0" y="0"/>
                </a:lnTo>
                <a:lnTo>
                  <a:pt x="0" y="685444"/>
                </a:lnTo>
                <a:lnTo>
                  <a:pt x="4572000" y="685444"/>
                </a:lnTo>
                <a:lnTo>
                  <a:pt x="9143631" y="685444"/>
                </a:lnTo>
                <a:lnTo>
                  <a:pt x="9143631" y="0"/>
                </a:lnTo>
                <a:close/>
              </a:path>
            </a:pathLst>
          </a:custGeom>
          <a:solidFill>
            <a:srgbClr val="1B22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2696" y="246153"/>
            <a:ext cx="16109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U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C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C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165" dirty="0">
                <a:solidFill>
                  <a:srgbClr val="E76119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M</a:t>
            </a:r>
            <a:r>
              <a:rPr sz="1100" b="1" spc="6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E</a:t>
            </a:r>
            <a:r>
              <a:rPr sz="1100" b="1" spc="3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T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I</a:t>
            </a:r>
            <a:r>
              <a:rPr sz="1100" b="1" spc="4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C</a:t>
            </a:r>
            <a:r>
              <a:rPr sz="1100" b="1" spc="5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2696" y="840500"/>
            <a:ext cx="50457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320" dirty="0">
                <a:solidFill>
                  <a:srgbClr val="1B223F"/>
                </a:solidFill>
              </a:rPr>
              <a:t>How</a:t>
            </a:r>
            <a:r>
              <a:rPr sz="2600" spc="340" dirty="0">
                <a:solidFill>
                  <a:srgbClr val="1B223F"/>
                </a:solidFill>
              </a:rPr>
              <a:t> </a:t>
            </a:r>
            <a:r>
              <a:rPr sz="2600" spc="229" dirty="0">
                <a:solidFill>
                  <a:srgbClr val="1B223F"/>
                </a:solidFill>
              </a:rPr>
              <a:t>We</a:t>
            </a:r>
            <a:r>
              <a:rPr sz="2600" spc="330" dirty="0">
                <a:solidFill>
                  <a:srgbClr val="1B223F"/>
                </a:solidFill>
              </a:rPr>
              <a:t> </a:t>
            </a:r>
            <a:r>
              <a:rPr sz="2600" spc="295" dirty="0">
                <a:solidFill>
                  <a:srgbClr val="1B223F"/>
                </a:solidFill>
              </a:rPr>
              <a:t>Know</a:t>
            </a:r>
            <a:r>
              <a:rPr sz="2600" spc="345" dirty="0">
                <a:solidFill>
                  <a:srgbClr val="1B223F"/>
                </a:solidFill>
              </a:rPr>
              <a:t> </a:t>
            </a:r>
            <a:r>
              <a:rPr sz="2600" spc="235" dirty="0">
                <a:solidFill>
                  <a:srgbClr val="1B223F"/>
                </a:solidFill>
              </a:rPr>
              <a:t>It's</a:t>
            </a:r>
            <a:r>
              <a:rPr sz="2600" spc="340" dirty="0">
                <a:solidFill>
                  <a:srgbClr val="1B223F"/>
                </a:solidFill>
              </a:rPr>
              <a:t> </a:t>
            </a:r>
            <a:r>
              <a:rPr sz="2600" spc="245" dirty="0">
                <a:solidFill>
                  <a:srgbClr val="1B223F"/>
                </a:solidFill>
              </a:rPr>
              <a:t>Working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146164" y="1315074"/>
            <a:ext cx="4272280" cy="3631565"/>
            <a:chOff x="146164" y="1315074"/>
            <a:chExt cx="4272280" cy="36315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164" y="1315074"/>
              <a:ext cx="4271759" cy="363132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19" y="1389966"/>
              <a:ext cx="4069079" cy="3429000"/>
            </a:xfrm>
            <a:custGeom>
              <a:avLst/>
              <a:gdLst/>
              <a:ahLst/>
              <a:cxnLst/>
              <a:rect l="l" t="t" r="r" b="b"/>
              <a:pathLst>
                <a:path w="4069079" h="3429000">
                  <a:moveTo>
                    <a:pt x="4068724" y="0"/>
                  </a:moveTo>
                  <a:lnTo>
                    <a:pt x="0" y="0"/>
                  </a:lnTo>
                  <a:lnTo>
                    <a:pt x="0" y="3428631"/>
                  </a:lnTo>
                  <a:lnTo>
                    <a:pt x="2034362" y="3428631"/>
                  </a:lnTo>
                  <a:lnTo>
                    <a:pt x="4068724" y="3428631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1B22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19" y="1389966"/>
              <a:ext cx="4069079" cy="411480"/>
            </a:xfrm>
            <a:custGeom>
              <a:avLst/>
              <a:gdLst/>
              <a:ahLst/>
              <a:cxnLst/>
              <a:rect l="l" t="t" r="r" b="b"/>
              <a:pathLst>
                <a:path w="4069079" h="411480">
                  <a:moveTo>
                    <a:pt x="4068724" y="0"/>
                  </a:moveTo>
                  <a:lnTo>
                    <a:pt x="0" y="0"/>
                  </a:lnTo>
                  <a:lnTo>
                    <a:pt x="0" y="411111"/>
                  </a:lnTo>
                  <a:lnTo>
                    <a:pt x="2034362" y="411111"/>
                  </a:lnTo>
                  <a:lnTo>
                    <a:pt x="4068724" y="411111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761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1124" y="1920242"/>
              <a:ext cx="3749040" cy="594360"/>
            </a:xfrm>
            <a:custGeom>
              <a:avLst/>
              <a:gdLst/>
              <a:ahLst/>
              <a:cxnLst/>
              <a:rect l="l" t="t" r="r" b="b"/>
              <a:pathLst>
                <a:path w="3749040" h="594360">
                  <a:moveTo>
                    <a:pt x="3748671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1874520" y="594004"/>
                  </a:lnTo>
                  <a:lnTo>
                    <a:pt x="3748671" y="594004"/>
                  </a:lnTo>
                  <a:lnTo>
                    <a:pt x="3748671" y="0"/>
                  </a:lnTo>
                  <a:close/>
                </a:path>
              </a:pathLst>
            </a:custGeom>
            <a:solidFill>
              <a:srgbClr val="212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5576" y="1926338"/>
            <a:ext cx="850900" cy="5353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000" spc="-10" dirty="0">
                <a:solidFill>
                  <a:srgbClr val="A9A9CC"/>
                </a:solidFill>
                <a:latin typeface="Calibri"/>
                <a:cs typeface="Calibri"/>
              </a:rPr>
              <a:t>Orders/Month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300" b="1" spc="125" dirty="0">
                <a:solidFill>
                  <a:srgbClr val="E76119"/>
                </a:solidFill>
                <a:latin typeface="Cambria"/>
                <a:cs typeface="Cambria"/>
              </a:rPr>
              <a:t>2.8</a:t>
            </a:r>
            <a:r>
              <a:rPr sz="1300" b="1" spc="160" dirty="0">
                <a:solidFill>
                  <a:srgbClr val="E76119"/>
                </a:solidFill>
                <a:latin typeface="Cambria"/>
                <a:cs typeface="Cambria"/>
              </a:rPr>
              <a:t> </a:t>
            </a:r>
            <a:r>
              <a:rPr sz="1300" b="1" dirty="0">
                <a:solidFill>
                  <a:srgbClr val="E76119"/>
                </a:solidFill>
                <a:latin typeface="Cambria"/>
                <a:cs typeface="Cambria"/>
              </a:rPr>
              <a:t>→</a:t>
            </a:r>
            <a:r>
              <a:rPr sz="1300" b="1" spc="155" dirty="0">
                <a:solidFill>
                  <a:srgbClr val="E76119"/>
                </a:solidFill>
                <a:latin typeface="Cambria"/>
                <a:cs typeface="Cambria"/>
              </a:rPr>
              <a:t> </a:t>
            </a:r>
            <a:r>
              <a:rPr sz="1300" b="1" spc="105" dirty="0">
                <a:solidFill>
                  <a:srgbClr val="E76119"/>
                </a:solidFill>
                <a:latin typeface="Cambria"/>
                <a:cs typeface="Cambria"/>
              </a:rPr>
              <a:t>3.2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0495" y="2112748"/>
            <a:ext cx="13068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8787A9"/>
                </a:solidFill>
                <a:latin typeface="Calibri"/>
                <a:cs typeface="Calibri"/>
              </a:rPr>
              <a:t>Restore</a:t>
            </a:r>
            <a:r>
              <a:rPr sz="900" spc="-25" dirty="0">
                <a:solidFill>
                  <a:srgbClr val="8787A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8787A9"/>
                </a:solidFill>
                <a:latin typeface="Calibri"/>
                <a:cs typeface="Calibri"/>
              </a:rPr>
              <a:t>pre-</a:t>
            </a:r>
            <a:r>
              <a:rPr sz="900" dirty="0">
                <a:solidFill>
                  <a:srgbClr val="8787A9"/>
                </a:solidFill>
                <a:latin typeface="Calibri"/>
                <a:cs typeface="Calibri"/>
              </a:rPr>
              <a:t>drop</a:t>
            </a:r>
            <a:r>
              <a:rPr sz="900" spc="-20" dirty="0">
                <a:solidFill>
                  <a:srgbClr val="8787A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8787A9"/>
                </a:solidFill>
                <a:latin typeface="Calibri"/>
                <a:cs typeface="Calibri"/>
              </a:rPr>
              <a:t>frequency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1124" y="2624406"/>
            <a:ext cx="3749040" cy="594360"/>
          </a:xfrm>
          <a:custGeom>
            <a:avLst/>
            <a:gdLst/>
            <a:ahLst/>
            <a:cxnLst/>
            <a:rect l="l" t="t" r="r" b="b"/>
            <a:pathLst>
              <a:path w="3749040" h="594360">
                <a:moveTo>
                  <a:pt x="3748671" y="0"/>
                </a:moveTo>
                <a:lnTo>
                  <a:pt x="0" y="0"/>
                </a:lnTo>
                <a:lnTo>
                  <a:pt x="0" y="593991"/>
                </a:lnTo>
                <a:lnTo>
                  <a:pt x="1874520" y="593991"/>
                </a:lnTo>
                <a:lnTo>
                  <a:pt x="3748671" y="593991"/>
                </a:lnTo>
                <a:lnTo>
                  <a:pt x="3748671" y="0"/>
                </a:lnTo>
                <a:close/>
              </a:path>
            </a:pathLst>
          </a:custGeom>
          <a:solidFill>
            <a:srgbClr val="2127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5576" y="2630512"/>
            <a:ext cx="929640" cy="5353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000" dirty="0">
                <a:solidFill>
                  <a:srgbClr val="A9A9CC"/>
                </a:solidFill>
                <a:latin typeface="Calibri"/>
                <a:cs typeface="Calibri"/>
              </a:rPr>
              <a:t>NPS</a:t>
            </a:r>
            <a:r>
              <a:rPr sz="1000" spc="-35" dirty="0">
                <a:solidFill>
                  <a:srgbClr val="A9A9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A9A9CC"/>
                </a:solidFill>
                <a:latin typeface="Calibri"/>
                <a:cs typeface="Calibri"/>
              </a:rPr>
              <a:t>Score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300" b="1" spc="130" dirty="0">
                <a:solidFill>
                  <a:srgbClr val="E76119"/>
                </a:solidFill>
                <a:latin typeface="Cambria"/>
                <a:cs typeface="Cambria"/>
              </a:rPr>
              <a:t>+8–12</a:t>
            </a:r>
            <a:r>
              <a:rPr sz="1300" b="1" spc="165" dirty="0">
                <a:solidFill>
                  <a:srgbClr val="E76119"/>
                </a:solidFill>
                <a:latin typeface="Cambria"/>
                <a:cs typeface="Cambria"/>
              </a:rPr>
              <a:t> </a:t>
            </a:r>
            <a:r>
              <a:rPr sz="1300" b="1" spc="95" dirty="0">
                <a:solidFill>
                  <a:srgbClr val="E76119"/>
                </a:solidFill>
                <a:latin typeface="Cambria"/>
                <a:cs typeface="Cambria"/>
              </a:rPr>
              <a:t>pts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40735" y="2816899"/>
            <a:ext cx="10071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8787A9"/>
                </a:solidFill>
                <a:latin typeface="Calibri"/>
                <a:cs typeface="Calibri"/>
              </a:rPr>
              <a:t>Reverse</a:t>
            </a:r>
            <a:r>
              <a:rPr sz="900" spc="-30" dirty="0">
                <a:solidFill>
                  <a:srgbClr val="8787A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8787A9"/>
                </a:solidFill>
                <a:latin typeface="Calibri"/>
                <a:cs typeface="Calibri"/>
              </a:rPr>
              <a:t>trust</a:t>
            </a:r>
            <a:r>
              <a:rPr sz="900" spc="-25" dirty="0">
                <a:solidFill>
                  <a:srgbClr val="8787A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8787A9"/>
                </a:solidFill>
                <a:latin typeface="Calibri"/>
                <a:cs typeface="Calibri"/>
              </a:rPr>
              <a:t>erosion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1124" y="3328557"/>
            <a:ext cx="3749040" cy="594360"/>
          </a:xfrm>
          <a:custGeom>
            <a:avLst/>
            <a:gdLst/>
            <a:ahLst/>
            <a:cxnLst/>
            <a:rect l="l" t="t" r="r" b="b"/>
            <a:pathLst>
              <a:path w="3749040" h="594360">
                <a:moveTo>
                  <a:pt x="3748671" y="0"/>
                </a:moveTo>
                <a:lnTo>
                  <a:pt x="0" y="0"/>
                </a:lnTo>
                <a:lnTo>
                  <a:pt x="0" y="594004"/>
                </a:lnTo>
                <a:lnTo>
                  <a:pt x="1874520" y="594004"/>
                </a:lnTo>
                <a:lnTo>
                  <a:pt x="3748671" y="594004"/>
                </a:lnTo>
                <a:lnTo>
                  <a:pt x="3748671" y="0"/>
                </a:lnTo>
                <a:close/>
              </a:path>
            </a:pathLst>
          </a:custGeom>
          <a:solidFill>
            <a:srgbClr val="2127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5576" y="3334927"/>
            <a:ext cx="1360170" cy="53467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000" spc="-25" dirty="0">
                <a:solidFill>
                  <a:srgbClr val="A9A9CC"/>
                </a:solidFill>
                <a:latin typeface="Calibri"/>
                <a:cs typeface="Calibri"/>
              </a:rPr>
              <a:t>Post-</a:t>
            </a:r>
            <a:r>
              <a:rPr sz="1000" dirty="0">
                <a:solidFill>
                  <a:srgbClr val="A9A9CC"/>
                </a:solidFill>
                <a:latin typeface="Calibri"/>
                <a:cs typeface="Calibri"/>
              </a:rPr>
              <a:t>Cancel</a:t>
            </a:r>
            <a:r>
              <a:rPr sz="1000" spc="-25" dirty="0">
                <a:solidFill>
                  <a:srgbClr val="A9A9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A9A9CC"/>
                </a:solidFill>
                <a:latin typeface="Calibri"/>
                <a:cs typeface="Calibri"/>
              </a:rPr>
              <a:t>Re-</a:t>
            </a:r>
            <a:r>
              <a:rPr sz="1000" dirty="0">
                <a:solidFill>
                  <a:srgbClr val="A9A9CC"/>
                </a:solidFill>
                <a:latin typeface="Calibri"/>
                <a:cs typeface="Calibri"/>
              </a:rPr>
              <a:t>order</a:t>
            </a:r>
            <a:r>
              <a:rPr sz="1000" spc="-15" dirty="0">
                <a:solidFill>
                  <a:srgbClr val="A9A9CC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A9A9CC"/>
                </a:solidFill>
                <a:latin typeface="Calibri"/>
                <a:cs typeface="Calibri"/>
              </a:rPr>
              <a:t>Rate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300" b="1" spc="100" dirty="0">
                <a:solidFill>
                  <a:srgbClr val="E76119"/>
                </a:solidFill>
                <a:latin typeface="Cambria"/>
                <a:cs typeface="Cambria"/>
              </a:rPr>
              <a:t>+20%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62542" y="3452306"/>
            <a:ext cx="1184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9"/>
                </a:solidFill>
                <a:latin typeface="Calibri"/>
                <a:cs typeface="Calibri"/>
              </a:rPr>
              <a:t>Users</a:t>
            </a:r>
            <a:r>
              <a:rPr sz="900" spc="-25" dirty="0">
                <a:solidFill>
                  <a:srgbClr val="8787A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8787A9"/>
                </a:solidFill>
                <a:latin typeface="Calibri"/>
                <a:cs typeface="Calibri"/>
              </a:rPr>
              <a:t>complete</a:t>
            </a:r>
            <a:r>
              <a:rPr sz="900" spc="-20" dirty="0">
                <a:solidFill>
                  <a:srgbClr val="8787A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8787A9"/>
                </a:solidFill>
                <a:latin typeface="Calibri"/>
                <a:cs typeface="Calibri"/>
              </a:rPr>
              <a:t>order</a:t>
            </a:r>
            <a:r>
              <a:rPr sz="900" spc="-15" dirty="0">
                <a:solidFill>
                  <a:srgbClr val="8787A9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8787A9"/>
                </a:solidFill>
                <a:latin typeface="Calibri"/>
                <a:cs typeface="Calibri"/>
              </a:rPr>
              <a:t>via</a:t>
            </a:r>
            <a:endParaRPr sz="9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8787A9"/>
                </a:solidFill>
                <a:latin typeface="Calibri"/>
                <a:cs typeface="Calibri"/>
              </a:rPr>
              <a:t>reroute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1124" y="4032366"/>
            <a:ext cx="3749040" cy="594360"/>
          </a:xfrm>
          <a:custGeom>
            <a:avLst/>
            <a:gdLst/>
            <a:ahLst/>
            <a:cxnLst/>
            <a:rect l="l" t="t" r="r" b="b"/>
            <a:pathLst>
              <a:path w="3749040" h="594360">
                <a:moveTo>
                  <a:pt x="3748671" y="0"/>
                </a:moveTo>
                <a:lnTo>
                  <a:pt x="0" y="0"/>
                </a:lnTo>
                <a:lnTo>
                  <a:pt x="0" y="593991"/>
                </a:lnTo>
                <a:lnTo>
                  <a:pt x="1874520" y="593991"/>
                </a:lnTo>
                <a:lnTo>
                  <a:pt x="3748671" y="593991"/>
                </a:lnTo>
                <a:lnTo>
                  <a:pt x="3748671" y="0"/>
                </a:lnTo>
                <a:close/>
              </a:path>
            </a:pathLst>
          </a:custGeom>
          <a:solidFill>
            <a:srgbClr val="2127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5576" y="4039101"/>
            <a:ext cx="1210310" cy="53467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000" spc="-10" dirty="0">
                <a:solidFill>
                  <a:srgbClr val="A9A9CC"/>
                </a:solidFill>
                <a:latin typeface="Calibri"/>
                <a:cs typeface="Calibri"/>
              </a:rPr>
              <a:t>Order</a:t>
            </a:r>
            <a:r>
              <a:rPr sz="1000" spc="10" dirty="0">
                <a:solidFill>
                  <a:srgbClr val="A9A9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A9A9CC"/>
                </a:solidFill>
                <a:latin typeface="Calibri"/>
                <a:cs typeface="Calibri"/>
              </a:rPr>
              <a:t>Completion</a:t>
            </a:r>
            <a:r>
              <a:rPr sz="1000" spc="5" dirty="0">
                <a:solidFill>
                  <a:srgbClr val="A9A9CC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A9A9CC"/>
                </a:solidFill>
                <a:latin typeface="Calibri"/>
                <a:cs typeface="Calibri"/>
              </a:rPr>
              <a:t>Rate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300" b="1" spc="100" dirty="0">
                <a:solidFill>
                  <a:srgbClr val="E76119"/>
                </a:solidFill>
                <a:latin typeface="Cambria"/>
                <a:cs typeface="Cambria"/>
              </a:rPr>
              <a:t>&gt;95%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4142" y="4224860"/>
            <a:ext cx="14344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87A9"/>
                </a:solidFill>
                <a:latin typeface="Calibri"/>
                <a:cs typeface="Calibri"/>
              </a:rPr>
              <a:t>Successful</a:t>
            </a:r>
            <a:r>
              <a:rPr sz="900" spc="5" dirty="0">
                <a:solidFill>
                  <a:srgbClr val="8787A9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8787A9"/>
                </a:solidFill>
                <a:latin typeface="Calibri"/>
                <a:cs typeface="Calibri"/>
              </a:rPr>
              <a:t>first-</a:t>
            </a:r>
            <a:r>
              <a:rPr sz="900" spc="-10" dirty="0">
                <a:solidFill>
                  <a:srgbClr val="8787A9"/>
                </a:solidFill>
                <a:latin typeface="Calibri"/>
                <a:cs typeface="Calibri"/>
              </a:rPr>
              <a:t>attempt</a:t>
            </a:r>
            <a:r>
              <a:rPr sz="900" dirty="0">
                <a:solidFill>
                  <a:srgbClr val="8787A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8787A9"/>
                </a:solidFill>
                <a:latin typeface="Calibri"/>
                <a:cs typeface="Calibri"/>
              </a:rPr>
              <a:t>orders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89564" y="1315074"/>
            <a:ext cx="4455160" cy="3631565"/>
            <a:chOff x="4489564" y="1315074"/>
            <a:chExt cx="4455160" cy="363156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9564" y="1315074"/>
              <a:ext cx="4454639" cy="363132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617720" y="1389966"/>
              <a:ext cx="4251960" cy="3429000"/>
            </a:xfrm>
            <a:custGeom>
              <a:avLst/>
              <a:gdLst/>
              <a:ahLst/>
              <a:cxnLst/>
              <a:rect l="l" t="t" r="r" b="b"/>
              <a:pathLst>
                <a:path w="4251959" h="3429000">
                  <a:moveTo>
                    <a:pt x="4251604" y="0"/>
                  </a:moveTo>
                  <a:lnTo>
                    <a:pt x="0" y="0"/>
                  </a:lnTo>
                  <a:lnTo>
                    <a:pt x="0" y="3428631"/>
                  </a:lnTo>
                  <a:lnTo>
                    <a:pt x="2125802" y="3428631"/>
                  </a:lnTo>
                  <a:lnTo>
                    <a:pt x="4251604" y="3428631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17720" y="1389966"/>
              <a:ext cx="4251960" cy="411480"/>
            </a:xfrm>
            <a:custGeom>
              <a:avLst/>
              <a:gdLst/>
              <a:ahLst/>
              <a:cxnLst/>
              <a:rect l="l" t="t" r="r" b="b"/>
              <a:pathLst>
                <a:path w="4251959" h="411480">
                  <a:moveTo>
                    <a:pt x="4251604" y="0"/>
                  </a:moveTo>
                  <a:lnTo>
                    <a:pt x="0" y="0"/>
                  </a:lnTo>
                  <a:lnTo>
                    <a:pt x="0" y="411111"/>
                  </a:lnTo>
                  <a:lnTo>
                    <a:pt x="2125802" y="411111"/>
                  </a:lnTo>
                  <a:lnTo>
                    <a:pt x="4251604" y="411111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0C9A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88416" y="1498944"/>
            <a:ext cx="638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55465" algn="l"/>
              </a:tabLst>
            </a:pP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1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1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1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100" b="1" spc="4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1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1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1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1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	S</a:t>
            </a:r>
            <a:r>
              <a:rPr sz="11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1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1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1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1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1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1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100" b="1" spc="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1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1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1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1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1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708804" y="1920242"/>
            <a:ext cx="4023360" cy="594360"/>
          </a:xfrm>
          <a:custGeom>
            <a:avLst/>
            <a:gdLst/>
            <a:ahLst/>
            <a:cxnLst/>
            <a:rect l="l" t="t" r="r" b="b"/>
            <a:pathLst>
              <a:path w="4023359" h="594360">
                <a:moveTo>
                  <a:pt x="4022991" y="0"/>
                </a:moveTo>
                <a:lnTo>
                  <a:pt x="0" y="0"/>
                </a:lnTo>
                <a:lnTo>
                  <a:pt x="0" y="594004"/>
                </a:lnTo>
                <a:lnTo>
                  <a:pt x="2011680" y="594004"/>
                </a:lnTo>
                <a:lnTo>
                  <a:pt x="4022991" y="594004"/>
                </a:lnTo>
                <a:lnTo>
                  <a:pt x="4022991" y="0"/>
                </a:lnTo>
                <a:close/>
              </a:path>
            </a:pathLst>
          </a:custGeom>
          <a:solidFill>
            <a:srgbClr val="EFEC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62105" y="1926064"/>
            <a:ext cx="1426210" cy="53594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Highly</a:t>
            </a:r>
            <a:r>
              <a:rPr sz="1000" spc="-4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Reliable</a:t>
            </a:r>
            <a:r>
              <a:rPr sz="10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Order</a:t>
            </a:r>
            <a:r>
              <a:rPr sz="10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Share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300" b="1" spc="450" dirty="0">
                <a:solidFill>
                  <a:srgbClr val="0C9A89"/>
                </a:solidFill>
                <a:latin typeface="Cambria"/>
                <a:cs typeface="Cambria"/>
              </a:rPr>
              <a:t>↑</a:t>
            </a:r>
            <a:r>
              <a:rPr sz="1300" b="1" spc="155" dirty="0">
                <a:solidFill>
                  <a:srgbClr val="0C9A89"/>
                </a:solidFill>
                <a:latin typeface="Cambria"/>
                <a:cs typeface="Cambria"/>
              </a:rPr>
              <a:t> </a:t>
            </a:r>
            <a:r>
              <a:rPr sz="1300" b="1" spc="-50" dirty="0">
                <a:solidFill>
                  <a:srgbClr val="0C9A89"/>
                </a:solidFill>
                <a:latin typeface="Cambria"/>
                <a:cs typeface="Cambria"/>
              </a:rPr>
              <a:t>%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08804" y="2624406"/>
            <a:ext cx="4023360" cy="594360"/>
          </a:xfrm>
          <a:custGeom>
            <a:avLst/>
            <a:gdLst/>
            <a:ahLst/>
            <a:cxnLst/>
            <a:rect l="l" t="t" r="r" b="b"/>
            <a:pathLst>
              <a:path w="4023359" h="594360">
                <a:moveTo>
                  <a:pt x="4022991" y="0"/>
                </a:moveTo>
                <a:lnTo>
                  <a:pt x="0" y="0"/>
                </a:lnTo>
                <a:lnTo>
                  <a:pt x="0" y="593991"/>
                </a:lnTo>
                <a:lnTo>
                  <a:pt x="2011680" y="593991"/>
                </a:lnTo>
                <a:lnTo>
                  <a:pt x="4022991" y="593991"/>
                </a:lnTo>
                <a:lnTo>
                  <a:pt x="4022991" y="0"/>
                </a:lnTo>
                <a:close/>
              </a:path>
            </a:pathLst>
          </a:custGeom>
          <a:solidFill>
            <a:srgbClr val="EFEC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831460" y="1934542"/>
            <a:ext cx="310515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>
              <a:latin typeface="Trebuchet MS"/>
              <a:cs typeface="Trebuchet MS"/>
            </a:endParaRPr>
          </a:p>
          <a:p>
            <a:pPr marL="33655"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100" spc="75" dirty="0">
                <a:latin typeface="MingLiU_HKSCS-ExtB"/>
                <a:cs typeface="MingLiU_HKSCS-ExtB"/>
              </a:rPr>
              <a:t>⏱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62105" y="2630228"/>
            <a:ext cx="1520190" cy="53594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Orders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Confirmed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in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First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90s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300" b="1" spc="450" dirty="0">
                <a:solidFill>
                  <a:srgbClr val="0C9A89"/>
                </a:solidFill>
                <a:latin typeface="Cambria"/>
                <a:cs typeface="Cambria"/>
              </a:rPr>
              <a:t>↑</a:t>
            </a:r>
            <a:r>
              <a:rPr sz="1300" b="1" spc="155" dirty="0">
                <a:solidFill>
                  <a:srgbClr val="0C9A89"/>
                </a:solidFill>
                <a:latin typeface="Cambria"/>
                <a:cs typeface="Cambria"/>
              </a:rPr>
              <a:t> </a:t>
            </a:r>
            <a:r>
              <a:rPr sz="1300" b="1" spc="-50" dirty="0">
                <a:solidFill>
                  <a:srgbClr val="0C9A89"/>
                </a:solidFill>
                <a:latin typeface="Cambria"/>
                <a:cs typeface="Cambria"/>
              </a:rPr>
              <a:t>%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708804" y="3328557"/>
            <a:ext cx="4023360" cy="594360"/>
          </a:xfrm>
          <a:custGeom>
            <a:avLst/>
            <a:gdLst/>
            <a:ahLst/>
            <a:cxnLst/>
            <a:rect l="l" t="t" r="r" b="b"/>
            <a:pathLst>
              <a:path w="4023359" h="594360">
                <a:moveTo>
                  <a:pt x="4022991" y="0"/>
                </a:moveTo>
                <a:lnTo>
                  <a:pt x="0" y="0"/>
                </a:lnTo>
                <a:lnTo>
                  <a:pt x="0" y="594004"/>
                </a:lnTo>
                <a:lnTo>
                  <a:pt x="2011680" y="594004"/>
                </a:lnTo>
                <a:lnTo>
                  <a:pt x="4022991" y="594004"/>
                </a:lnTo>
                <a:lnTo>
                  <a:pt x="4022991" y="0"/>
                </a:lnTo>
                <a:close/>
              </a:path>
            </a:pathLst>
          </a:custGeom>
          <a:solidFill>
            <a:srgbClr val="EFEC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831460" y="3342857"/>
            <a:ext cx="281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62105" y="3334380"/>
            <a:ext cx="1701164" cy="53594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Re-order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After</a:t>
            </a:r>
            <a:r>
              <a:rPr sz="10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Early</a:t>
            </a:r>
            <a:r>
              <a:rPr sz="10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Cancellation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300" b="1" spc="450" dirty="0">
                <a:solidFill>
                  <a:srgbClr val="0C9A89"/>
                </a:solidFill>
                <a:latin typeface="Cambria"/>
                <a:cs typeface="Cambria"/>
              </a:rPr>
              <a:t>↑</a:t>
            </a:r>
            <a:r>
              <a:rPr sz="1300" b="1" spc="155" dirty="0">
                <a:solidFill>
                  <a:srgbClr val="0C9A89"/>
                </a:solidFill>
                <a:latin typeface="Cambria"/>
                <a:cs typeface="Cambria"/>
              </a:rPr>
              <a:t> </a:t>
            </a:r>
            <a:r>
              <a:rPr sz="1300" b="1" spc="120" dirty="0">
                <a:solidFill>
                  <a:srgbClr val="0C9A89"/>
                </a:solidFill>
                <a:latin typeface="Cambria"/>
                <a:cs typeface="Cambria"/>
              </a:rPr>
              <a:t>count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08804" y="4032366"/>
            <a:ext cx="4023360" cy="594360"/>
          </a:xfrm>
          <a:custGeom>
            <a:avLst/>
            <a:gdLst/>
            <a:ahLst/>
            <a:cxnLst/>
            <a:rect l="l" t="t" r="r" b="b"/>
            <a:pathLst>
              <a:path w="4023359" h="594360">
                <a:moveTo>
                  <a:pt x="4022991" y="0"/>
                </a:moveTo>
                <a:lnTo>
                  <a:pt x="0" y="0"/>
                </a:lnTo>
                <a:lnTo>
                  <a:pt x="0" y="593991"/>
                </a:lnTo>
                <a:lnTo>
                  <a:pt x="2011680" y="593991"/>
                </a:lnTo>
                <a:lnTo>
                  <a:pt x="4022991" y="593991"/>
                </a:lnTo>
                <a:lnTo>
                  <a:pt x="4022991" y="0"/>
                </a:lnTo>
                <a:close/>
              </a:path>
            </a:pathLst>
          </a:custGeom>
          <a:solidFill>
            <a:srgbClr val="EFEC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831460" y="4143775"/>
            <a:ext cx="31051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75" dirty="0">
                <a:latin typeface="MingLiU_HKSCS-ExtB"/>
                <a:cs typeface="MingLiU_HKSCS-ExtB"/>
              </a:rPr>
              <a:t>⭐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62105" y="4038544"/>
            <a:ext cx="1678939" cy="53594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Restaurant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Reliability</a:t>
            </a:r>
            <a:r>
              <a:rPr sz="10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A717F"/>
                </a:solidFill>
                <a:latin typeface="Calibri"/>
                <a:cs typeface="Calibri"/>
              </a:rPr>
              <a:t>Score</a:t>
            </a:r>
            <a:r>
              <a:rPr sz="100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A717F"/>
                </a:solidFill>
                <a:latin typeface="Calibri"/>
                <a:cs typeface="Calibri"/>
              </a:rPr>
              <a:t>Dist.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300" b="1" spc="150" dirty="0">
                <a:solidFill>
                  <a:srgbClr val="0C9A89"/>
                </a:solidFill>
                <a:latin typeface="Cambria"/>
                <a:cs typeface="Cambria"/>
              </a:rPr>
              <a:t>Shift</a:t>
            </a:r>
            <a:r>
              <a:rPr sz="1300" b="1" spc="155" dirty="0">
                <a:solidFill>
                  <a:srgbClr val="0C9A89"/>
                </a:solidFill>
                <a:latin typeface="Cambria"/>
                <a:cs typeface="Cambria"/>
              </a:rPr>
              <a:t> </a:t>
            </a:r>
            <a:r>
              <a:rPr sz="1300" b="1" spc="125" dirty="0">
                <a:solidFill>
                  <a:srgbClr val="0C9A89"/>
                </a:solidFill>
                <a:latin typeface="Cambria"/>
                <a:cs typeface="Cambria"/>
              </a:rPr>
              <a:t>up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B22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2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631" y="0"/>
                </a:moveTo>
                <a:lnTo>
                  <a:pt x="0" y="0"/>
                </a:lnTo>
                <a:lnTo>
                  <a:pt x="0" y="685444"/>
                </a:lnTo>
                <a:lnTo>
                  <a:pt x="4572000" y="685444"/>
                </a:lnTo>
                <a:lnTo>
                  <a:pt x="9143631" y="685444"/>
                </a:lnTo>
                <a:lnTo>
                  <a:pt x="9143631" y="0"/>
                </a:lnTo>
                <a:close/>
              </a:path>
            </a:pathLst>
          </a:custGeom>
          <a:solidFill>
            <a:srgbClr val="131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2696" y="246153"/>
            <a:ext cx="89026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S</a:t>
            </a:r>
            <a:r>
              <a:rPr sz="1100" b="1" spc="3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U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M</a:t>
            </a:r>
            <a:r>
              <a:rPr sz="1100" b="1" spc="4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M</a:t>
            </a:r>
            <a:r>
              <a:rPr sz="1100" b="1" spc="55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A</a:t>
            </a:r>
            <a:r>
              <a:rPr sz="1100" b="1" spc="5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6119"/>
                </a:solidFill>
                <a:latin typeface="Calibri"/>
                <a:cs typeface="Calibri"/>
              </a:rPr>
              <a:t>R</a:t>
            </a:r>
            <a:r>
              <a:rPr sz="1100" b="1" spc="20" dirty="0">
                <a:solidFill>
                  <a:srgbClr val="E76119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E76119"/>
                </a:solidFill>
                <a:latin typeface="Calibri"/>
                <a:cs typeface="Calibri"/>
              </a:rPr>
              <a:t>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0"/>
              </a:spcBef>
            </a:pPr>
            <a:r>
              <a:rPr spc="300" dirty="0"/>
              <a:t>The</a:t>
            </a:r>
            <a:r>
              <a:rPr spc="355" dirty="0"/>
              <a:t> </a:t>
            </a:r>
            <a:r>
              <a:rPr spc="325" dirty="0"/>
              <a:t>Core</a:t>
            </a:r>
            <a:r>
              <a:rPr spc="360" dirty="0"/>
              <a:t> </a:t>
            </a:r>
            <a:r>
              <a:rPr spc="305" dirty="0"/>
              <a:t>Insight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65404" y="1508762"/>
            <a:ext cx="8412480" cy="1234440"/>
            <a:chOff x="365404" y="1508762"/>
            <a:chExt cx="8412480" cy="1234440"/>
          </a:xfrm>
        </p:grpSpPr>
        <p:sp>
          <p:nvSpPr>
            <p:cNvPr id="7" name="object 7"/>
            <p:cNvSpPr/>
            <p:nvPr/>
          </p:nvSpPr>
          <p:spPr>
            <a:xfrm>
              <a:off x="365404" y="1508762"/>
              <a:ext cx="8412480" cy="1234440"/>
            </a:xfrm>
            <a:custGeom>
              <a:avLst/>
              <a:gdLst/>
              <a:ahLst/>
              <a:cxnLst/>
              <a:rect l="l" t="t" r="r" b="b"/>
              <a:pathLst>
                <a:path w="8412480" h="1234439">
                  <a:moveTo>
                    <a:pt x="841211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4206240" y="1234084"/>
                  </a:lnTo>
                  <a:lnTo>
                    <a:pt x="8412111" y="1234084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212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404" y="1508762"/>
              <a:ext cx="128270" cy="1234440"/>
            </a:xfrm>
            <a:custGeom>
              <a:avLst/>
              <a:gdLst/>
              <a:ahLst/>
              <a:cxnLst/>
              <a:rect l="l" t="t" r="r" b="b"/>
              <a:pathLst>
                <a:path w="128270" h="1234439">
                  <a:moveTo>
                    <a:pt x="127800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64071" y="1234084"/>
                  </a:lnTo>
                  <a:lnTo>
                    <a:pt x="127800" y="1234084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E761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17016" y="1842022"/>
            <a:ext cx="76073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spc="85" dirty="0">
                <a:solidFill>
                  <a:srgbClr val="FFFFFF"/>
                </a:solidFill>
                <a:latin typeface="Georgia"/>
                <a:cs typeface="Georgia"/>
              </a:rPr>
              <a:t>Cancellations</a:t>
            </a:r>
            <a:r>
              <a:rPr sz="1600" i="1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80" dirty="0">
                <a:solidFill>
                  <a:srgbClr val="FFFFFF"/>
                </a:solidFill>
                <a:latin typeface="Georgia"/>
                <a:cs typeface="Georgia"/>
              </a:rPr>
              <a:t>don't</a:t>
            </a:r>
            <a:r>
              <a:rPr sz="1600" i="1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80" dirty="0">
                <a:solidFill>
                  <a:srgbClr val="FFFFFF"/>
                </a:solidFill>
                <a:latin typeface="Georgia"/>
                <a:cs typeface="Georgia"/>
              </a:rPr>
              <a:t>hurt</a:t>
            </a:r>
            <a:r>
              <a:rPr sz="1600" i="1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125" dirty="0">
                <a:solidFill>
                  <a:srgbClr val="FFFFFF"/>
                </a:solidFill>
                <a:latin typeface="Georgia"/>
                <a:cs typeface="Georgia"/>
              </a:rPr>
              <a:t>because</a:t>
            </a:r>
            <a:r>
              <a:rPr sz="1600" i="1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85" dirty="0">
                <a:solidFill>
                  <a:srgbClr val="FFFFFF"/>
                </a:solidFill>
                <a:latin typeface="Georgia"/>
                <a:cs typeface="Georgia"/>
              </a:rPr>
              <a:t>orders</a:t>
            </a:r>
            <a:r>
              <a:rPr sz="1600" i="1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Georgia"/>
                <a:cs typeface="Georgia"/>
              </a:rPr>
              <a:t>fail</a:t>
            </a:r>
            <a:r>
              <a:rPr sz="1600" i="1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220" dirty="0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sz="1600" i="1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95" dirty="0">
                <a:solidFill>
                  <a:srgbClr val="FFFFFF"/>
                </a:solidFill>
                <a:latin typeface="Georgia"/>
                <a:cs typeface="Georgia"/>
              </a:rPr>
              <a:t>they</a:t>
            </a:r>
            <a:r>
              <a:rPr sz="1600" i="1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80" dirty="0">
                <a:solidFill>
                  <a:srgbClr val="FFFFFF"/>
                </a:solidFill>
                <a:latin typeface="Georgia"/>
                <a:cs typeface="Georgia"/>
              </a:rPr>
              <a:t>hurt</a:t>
            </a:r>
            <a:r>
              <a:rPr sz="1600" i="1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130" dirty="0">
                <a:solidFill>
                  <a:srgbClr val="FFFFFF"/>
                </a:solidFill>
                <a:latin typeface="Georgia"/>
                <a:cs typeface="Georgia"/>
              </a:rPr>
              <a:t>because</a:t>
            </a:r>
            <a:r>
              <a:rPr sz="1600" i="1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95" dirty="0">
                <a:solidFill>
                  <a:srgbClr val="FFFFFF"/>
                </a:solidFill>
                <a:latin typeface="Georgia"/>
                <a:cs typeface="Georgia"/>
              </a:rPr>
              <a:t>they</a:t>
            </a:r>
            <a:r>
              <a:rPr sz="1600" i="1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Georgia"/>
                <a:cs typeface="Georgia"/>
              </a:rPr>
              <a:t>fail </a:t>
            </a:r>
            <a:r>
              <a:rPr sz="1600" i="1" spc="80" dirty="0">
                <a:solidFill>
                  <a:srgbClr val="FFFFFF"/>
                </a:solidFill>
                <a:latin typeface="Georgia"/>
                <a:cs typeface="Georgia"/>
              </a:rPr>
              <a:t>late.</a:t>
            </a:r>
            <a:r>
              <a:rPr sz="1600" i="1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125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sz="1600" i="1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Georgia"/>
                <a:cs typeface="Georgia"/>
              </a:rPr>
              <a:t>fix</a:t>
            </a:r>
            <a:r>
              <a:rPr sz="1600" i="1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75" dirty="0">
                <a:solidFill>
                  <a:srgbClr val="FFFFFF"/>
                </a:solidFill>
                <a:latin typeface="Georgia"/>
                <a:cs typeface="Georgia"/>
              </a:rPr>
              <a:t>isn't</a:t>
            </a:r>
            <a:r>
              <a:rPr sz="1600" i="1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80" dirty="0">
                <a:solidFill>
                  <a:srgbClr val="FFFFFF"/>
                </a:solidFill>
                <a:latin typeface="Georgia"/>
                <a:cs typeface="Georgia"/>
              </a:rPr>
              <a:t>faster</a:t>
            </a:r>
            <a:r>
              <a:rPr sz="1600" i="1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50" dirty="0">
                <a:solidFill>
                  <a:srgbClr val="FFFFFF"/>
                </a:solidFill>
                <a:latin typeface="Georgia"/>
                <a:cs typeface="Georgia"/>
              </a:rPr>
              <a:t>delivery;</a:t>
            </a:r>
            <a:r>
              <a:rPr sz="1600" i="1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80" dirty="0">
                <a:solidFill>
                  <a:srgbClr val="FFFFFF"/>
                </a:solidFill>
                <a:latin typeface="Georgia"/>
                <a:cs typeface="Georgia"/>
              </a:rPr>
              <a:t>it's</a:t>
            </a:r>
            <a:r>
              <a:rPr sz="1600" i="1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70" dirty="0">
                <a:solidFill>
                  <a:srgbClr val="FFFFFF"/>
                </a:solidFill>
                <a:latin typeface="Georgia"/>
                <a:cs typeface="Georgia"/>
              </a:rPr>
              <a:t>earlier</a:t>
            </a:r>
            <a:r>
              <a:rPr sz="1600" i="1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i="1" spc="55" dirty="0">
                <a:solidFill>
                  <a:srgbClr val="FFFFFF"/>
                </a:solidFill>
                <a:latin typeface="Georgia"/>
                <a:cs typeface="Georgia"/>
              </a:rPr>
              <a:t>honesty.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7236" y="2851190"/>
            <a:ext cx="4226560" cy="861060"/>
            <a:chOff x="237236" y="2851190"/>
            <a:chExt cx="4226560" cy="8610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236" y="2851190"/>
              <a:ext cx="4226039" cy="8607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5404" y="2926082"/>
              <a:ext cx="4023360" cy="658495"/>
            </a:xfrm>
            <a:custGeom>
              <a:avLst/>
              <a:gdLst/>
              <a:ahLst/>
              <a:cxnLst/>
              <a:rect l="l" t="t" r="r" b="b"/>
              <a:pathLst>
                <a:path w="4023360" h="658495">
                  <a:moveTo>
                    <a:pt x="4022991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2011680" y="658075"/>
                  </a:lnTo>
                  <a:lnTo>
                    <a:pt x="4022991" y="658075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212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2856" y="3116061"/>
            <a:ext cx="306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25" dirty="0">
                <a:solidFill>
                  <a:srgbClr val="E76119"/>
                </a:solidFill>
                <a:latin typeface="Cambria"/>
                <a:cs typeface="Cambria"/>
              </a:rPr>
              <a:t>01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1496" y="3085111"/>
            <a:ext cx="30848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Identify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the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 persona: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silent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churners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who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reduce frequency,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not</a:t>
            </a:r>
            <a:r>
              <a:rPr sz="1000" spc="-3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uninstallers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34915" y="2851190"/>
            <a:ext cx="4226560" cy="861060"/>
            <a:chOff x="4534915" y="2851190"/>
            <a:chExt cx="4226560" cy="86106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4915" y="2851190"/>
              <a:ext cx="4226039" cy="86076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63084" y="2926082"/>
              <a:ext cx="4023360" cy="658495"/>
            </a:xfrm>
            <a:custGeom>
              <a:avLst/>
              <a:gdLst/>
              <a:ahLst/>
              <a:cxnLst/>
              <a:rect l="l" t="t" r="r" b="b"/>
              <a:pathLst>
                <a:path w="4023359" h="658495">
                  <a:moveTo>
                    <a:pt x="4022991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2011679" y="658075"/>
                  </a:lnTo>
                  <a:lnTo>
                    <a:pt x="4022991" y="658075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212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50536" y="3116061"/>
            <a:ext cx="306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25" dirty="0">
                <a:solidFill>
                  <a:srgbClr val="E76119"/>
                </a:solidFill>
                <a:latin typeface="Cambria"/>
                <a:cs typeface="Cambria"/>
              </a:rPr>
              <a:t>02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99176" y="3085111"/>
            <a:ext cx="29991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Root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cause: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late-stage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cancellations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during</a:t>
            </a:r>
            <a:r>
              <a:rPr sz="1000" spc="-3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demand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spikes (exam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season,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35" dirty="0">
                <a:solidFill>
                  <a:srgbClr val="BABACC"/>
                </a:solidFill>
                <a:latin typeface="Calibri"/>
                <a:cs typeface="Calibri"/>
              </a:rPr>
              <a:t>FY-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end)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7236" y="3655785"/>
            <a:ext cx="4226560" cy="861060"/>
            <a:chOff x="237236" y="3655785"/>
            <a:chExt cx="4226560" cy="86106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236" y="3655785"/>
              <a:ext cx="4226039" cy="8607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65404" y="3730677"/>
              <a:ext cx="4023360" cy="658495"/>
            </a:xfrm>
            <a:custGeom>
              <a:avLst/>
              <a:gdLst/>
              <a:ahLst/>
              <a:cxnLst/>
              <a:rect l="l" t="t" r="r" b="b"/>
              <a:pathLst>
                <a:path w="4023360" h="658495">
                  <a:moveTo>
                    <a:pt x="4022991" y="0"/>
                  </a:moveTo>
                  <a:lnTo>
                    <a:pt x="0" y="0"/>
                  </a:lnTo>
                  <a:lnTo>
                    <a:pt x="0" y="658088"/>
                  </a:lnTo>
                  <a:lnTo>
                    <a:pt x="2011680" y="658088"/>
                  </a:lnTo>
                  <a:lnTo>
                    <a:pt x="4022991" y="658088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212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2856" y="3920669"/>
            <a:ext cx="306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25" dirty="0">
                <a:solidFill>
                  <a:srgbClr val="E76119"/>
                </a:solidFill>
                <a:latin typeface="Cambria"/>
                <a:cs typeface="Cambria"/>
              </a:rPr>
              <a:t>03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01496" y="3889707"/>
            <a:ext cx="2411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Solution:</a:t>
            </a:r>
            <a:r>
              <a:rPr sz="1000" spc="-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ML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reliability ratings</a:t>
            </a:r>
            <a:r>
              <a:rPr sz="1000" spc="1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+</a:t>
            </a:r>
            <a:r>
              <a:rPr sz="1000" spc="-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90-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sec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kitchen confirmation</a:t>
            </a:r>
            <a:r>
              <a:rPr sz="1000" spc="1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gate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34915" y="3655785"/>
            <a:ext cx="4226560" cy="861060"/>
            <a:chOff x="4534915" y="3655785"/>
            <a:chExt cx="4226560" cy="86106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4915" y="3655785"/>
              <a:ext cx="4226039" cy="8607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63084" y="3730677"/>
              <a:ext cx="4023360" cy="658495"/>
            </a:xfrm>
            <a:custGeom>
              <a:avLst/>
              <a:gdLst/>
              <a:ahLst/>
              <a:cxnLst/>
              <a:rect l="l" t="t" r="r" b="b"/>
              <a:pathLst>
                <a:path w="4023359" h="658495">
                  <a:moveTo>
                    <a:pt x="4022991" y="0"/>
                  </a:moveTo>
                  <a:lnTo>
                    <a:pt x="0" y="0"/>
                  </a:lnTo>
                  <a:lnTo>
                    <a:pt x="0" y="658088"/>
                  </a:lnTo>
                  <a:lnTo>
                    <a:pt x="2011679" y="658088"/>
                  </a:lnTo>
                  <a:lnTo>
                    <a:pt x="4022991" y="658088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212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850536" y="3920669"/>
            <a:ext cx="306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25" dirty="0">
                <a:solidFill>
                  <a:srgbClr val="E76119"/>
                </a:solidFill>
                <a:latin typeface="Cambria"/>
                <a:cs typeface="Cambria"/>
              </a:rPr>
              <a:t>04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99176" y="3889707"/>
            <a:ext cx="27298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Measure: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restore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orders/month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to</a:t>
            </a:r>
            <a:r>
              <a:rPr sz="1000" spc="-2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3.2,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improve</a:t>
            </a:r>
            <a:r>
              <a:rPr sz="1000" spc="-15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NPS,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increase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post-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cancel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ABACC"/>
                </a:solidFill>
                <a:latin typeface="Calibri"/>
                <a:cs typeface="Calibri"/>
              </a:rPr>
              <a:t>re-</a:t>
            </a:r>
            <a:r>
              <a:rPr sz="1000" dirty="0">
                <a:solidFill>
                  <a:srgbClr val="BABACC"/>
                </a:solidFill>
                <a:latin typeface="Calibri"/>
                <a:cs typeface="Calibri"/>
              </a:rPr>
              <a:t>order</a:t>
            </a:r>
            <a:r>
              <a:rPr sz="1000" spc="-20" dirty="0">
                <a:solidFill>
                  <a:srgbClr val="BABACC"/>
                </a:solidFill>
                <a:latin typeface="Calibri"/>
                <a:cs typeface="Calibri"/>
              </a:rPr>
              <a:t> rate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960</Words>
  <Application>Microsoft Office PowerPoint</Application>
  <PresentationFormat>Custom</PresentationFormat>
  <Paragraphs>169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MingLiU_HKSCS-ExtB</vt:lpstr>
      <vt:lpstr>Yu Gothic</vt:lpstr>
      <vt:lpstr>Calibri</vt:lpstr>
      <vt:lpstr>Cambria</vt:lpstr>
      <vt:lpstr>Georgia</vt:lpstr>
      <vt:lpstr>Trebuchet MS</vt:lpstr>
      <vt:lpstr>Office Theme</vt:lpstr>
      <vt:lpstr>Solving Order Drop for FoodSwift</vt:lpstr>
      <vt:lpstr>Orders Are Falling — Quietly</vt:lpstr>
      <vt:lpstr>PowerPoint Presentation</vt:lpstr>
      <vt:lpstr>3 Hypotheses Explaining the Drop</vt:lpstr>
      <vt:lpstr>Shift Risk Detection Before Checkout</vt:lpstr>
      <vt:lpstr>When the Kitchen is Ready</vt:lpstr>
      <vt:lpstr>When the Kitchen Can't Accept</vt:lpstr>
      <vt:lpstr>How We Know It's Working</vt:lpstr>
      <vt:lpstr>The Core Insight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FoodSwift – Solving Order Drop</dc:title>
  <dc:subject>PptxGenJS Presentation</dc:subject>
  <dc:creator>Aniket Rallapalli</dc:creator>
  <cp:lastModifiedBy>Admin</cp:lastModifiedBy>
  <cp:revision>2</cp:revision>
  <dcterms:created xsi:type="dcterms:W3CDTF">2026-04-03T11:00:17Z</dcterms:created>
  <dcterms:modified xsi:type="dcterms:W3CDTF">2026-04-03T11:15:22Z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2026-04-03T00:00:00Z</vt:filetime>
  </property>
</Properties>
</file>