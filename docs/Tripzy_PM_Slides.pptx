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" y="822960"/>
            <a:ext cx="1463040" cy="1463040"/>
          </a:xfrm>
          <a:prstGeom prst="ellipse">
            <a:avLst/>
          </a:prstGeom>
          <a:solidFill>
            <a:srgbClr val="0077B6"/>
          </a:solidFill>
          <a:ln w="381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82296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</a:rPr>
              <a:t>✈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743200" y="91440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TRIPZY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2743200" y="187452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Confident Travel Decisions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43200" y="2468880"/>
            <a:ext cx="5029200" cy="36576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0" y="260604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Requirements Document  ·  PM Portfolio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0" y="3200400"/>
            <a:ext cx="1737360" cy="384048"/>
          </a:xfrm>
          <a:prstGeom prst="roundRect">
            <a:avLst>
              <a:gd name="adj" fmla="val 23810"/>
            </a:avLst>
          </a:prstGeom>
          <a:solidFill>
            <a:srgbClr val="0077B6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0" y="320040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B2C Mobile App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3200400"/>
            <a:ext cx="1737360" cy="384048"/>
          </a:xfrm>
          <a:prstGeom prst="roundRect">
            <a:avLst>
              <a:gd name="adj" fmla="val 23810"/>
            </a:avLst>
          </a:prstGeom>
          <a:solidFill>
            <a:srgbClr val="0077B6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320040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Travel Tech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0" y="3200400"/>
            <a:ext cx="1737360" cy="384048"/>
          </a:xfrm>
          <a:prstGeom prst="roundRect">
            <a:avLst>
              <a:gd name="adj" fmla="val 23810"/>
            </a:avLst>
          </a:prstGeom>
          <a:solidFill>
            <a:srgbClr val="0077B6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320040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0→1 Product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0" y="448056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 ·  Conceptual Product Case Study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280160"/>
            <a:ext cx="41148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80160"/>
            <a:ext cx="457200" cy="73152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28016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316736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</a:rPr>
              <a:t>Problem Statement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62763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FA6"/>
                </a:solidFill>
              </a:rPr>
              <a:t>Decision fatigue &amp; trip planning pain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41148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194560"/>
            <a:ext cx="457200" cy="73152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19456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2231136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</a:rPr>
              <a:t>User Persona &amp; Research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254203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FA6"/>
                </a:solidFill>
              </a:rPr>
              <a:t>Who we're solving for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108960"/>
            <a:ext cx="41148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108960"/>
            <a:ext cx="457200" cy="73152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310896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3145536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</a:rPr>
              <a:t>Hypotheses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345643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FA6"/>
                </a:solidFill>
              </a:rPr>
              <a:t>What we believe &amp; why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4023360"/>
            <a:ext cx="41148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4023360"/>
            <a:ext cx="457200" cy="73152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402336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4059936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</a:rPr>
              <a:t>Solution Overview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437083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FA6"/>
                </a:solidFill>
              </a:rPr>
              <a:t>Our approach &amp; differentiation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1280160"/>
            <a:ext cx="41148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1280160"/>
            <a:ext cx="457200" cy="73152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128016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94960" y="1316736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</a:rPr>
              <a:t>Key Features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94960" y="162763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FA6"/>
                </a:solidFill>
              </a:rPr>
              <a:t>Quick Snap · Curated Choices · Group Planning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2194560"/>
            <a:ext cx="41148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0" y="2194560"/>
            <a:ext cx="457200" cy="73152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219456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94960" y="2231136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</a:rPr>
              <a:t>Success Metrics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94960" y="254203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FA6"/>
                </a:solidFill>
              </a:rPr>
              <a:t>How we measure progress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46320" y="3108960"/>
            <a:ext cx="41148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46320" y="3108960"/>
            <a:ext cx="457200" cy="73152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37" name="Text 35"/>
          <p:cNvSpPr/>
          <p:nvPr/>
        </p:nvSpPr>
        <p:spPr>
          <a:xfrm>
            <a:off x="4846320" y="310896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07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394960" y="3145536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</a:rPr>
              <a:t>Go-to-Market &amp; Roadmap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394960" y="345643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FA6"/>
                </a:solidFill>
              </a:rPr>
              <a:t>Phased launch plan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46320" y="4023360"/>
            <a:ext cx="41148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46320" y="4023360"/>
            <a:ext cx="457200" cy="73152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42" name="Text 40"/>
          <p:cNvSpPr/>
          <p:nvPr/>
        </p:nvSpPr>
        <p:spPr>
          <a:xfrm>
            <a:off x="4846320" y="402336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08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394960" y="4059936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</a:rPr>
              <a:t>Business Model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394960" y="437083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FA6"/>
                </a:solidFill>
              </a:rPr>
              <a:t>Monetization strategy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solidFill>
            <a:srgbClr val="0077B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18872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"Travel planning is slow and overwhelming — users spend excessive time researching, face decision fatigue from too many options, and struggle to align preferences in groups."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2651760" cy="237744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2331720"/>
            <a:ext cx="265176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24688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⏱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02920" y="3154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Time Overload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356616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0E0EF"/>
                </a:solidFill>
              </a:rPr>
              <a:t>Users spend hours researching destinations across Tripadvisor, Reddit &amp; YouTube with no convergence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0" y="2331720"/>
            <a:ext cx="2651760" cy="237744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2331720"/>
            <a:ext cx="265176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24688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😵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337560" y="3154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Fatigue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37560" y="356616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0E0EF"/>
                </a:solidFill>
              </a:rPr>
              <a:t>Hundreds of options cause analysis paralysis — users delay trips or choose poorly with regret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35040" y="2331720"/>
            <a:ext cx="2651760" cy="237744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2331720"/>
            <a:ext cx="2651760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8" name="Text 16"/>
          <p:cNvSpPr/>
          <p:nvPr/>
        </p:nvSpPr>
        <p:spPr>
          <a:xfrm>
            <a:off x="6035040" y="24688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👥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172200" y="3154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Group Friction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72200" y="356616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0E0EF"/>
                </a:solidFill>
              </a:rPr>
              <a:t>Misaligned preferences between group members cause endless back-and-forth, killing trip momentum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PERSONA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2926080" cy="356616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1325880"/>
            <a:ext cx="1554480" cy="1554480"/>
          </a:xfrm>
          <a:prstGeom prst="ellipse">
            <a:avLst/>
          </a:prstGeom>
          <a:solidFill>
            <a:srgbClr val="0077B6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325880"/>
            <a:ext cx="1554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👤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65760" y="29718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Arjun, 27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33832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E0EF"/>
                </a:solidFill>
              </a:rPr>
              <a:t>Marketing Manager, Bengaluru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37490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FA6"/>
                </a:solidFill>
              </a:rPr>
              <a:t>Travels 3x/year · Budget-conscious · Time-poor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4114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B4D8"/>
                </a:solidFill>
              </a:rPr>
              <a:t>"I want to travel more but planning exhausts me before I even start."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566160" y="1143000"/>
            <a:ext cx="256032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66160" y="1143000"/>
            <a:ext cx="54864" cy="160020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3" name="Text 11"/>
          <p:cNvSpPr/>
          <p:nvPr/>
        </p:nvSpPr>
        <p:spPr>
          <a:xfrm>
            <a:off x="3703320" y="1234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</a:rPr>
              <a:t>🎯 Goals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03320" y="1581912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FA6"/>
                </a:solidFill>
              </a:rPr>
              <a:t>Plan 2-6 day trips quickly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A8FA6"/>
                </a:solidFill>
              </a:rPr>
              <a:t>Get confident destination picks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A8FA6"/>
                </a:solidFill>
              </a:rPr>
              <a:t>Coordinate with friends hassle-free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309360" y="1143000"/>
            <a:ext cx="256032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09360" y="1143000"/>
            <a:ext cx="54864" cy="160020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1234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</a:rPr>
              <a:t>😤 Pain Points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46520" y="1581912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FA6"/>
                </a:solidFill>
              </a:rPr>
              <a:t>Too many tabs &amp; conflicting reviews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A8FA6"/>
                </a:solidFill>
              </a:rPr>
              <a:t>Group chats with zero decisions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A8FA6"/>
                </a:solidFill>
              </a:rPr>
              <a:t>Missed long weekends due to indecision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566160" y="2880360"/>
            <a:ext cx="256032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566160" y="2880360"/>
            <a:ext cx="54864" cy="160020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21" name="Text 19"/>
          <p:cNvSpPr/>
          <p:nvPr/>
        </p:nvSpPr>
        <p:spPr>
          <a:xfrm>
            <a:off x="3703320" y="29718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</a:rPr>
              <a:t>📱 Behavior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703320" y="3319272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FA6"/>
                </a:solidFill>
              </a:rPr>
              <a:t>Uses Zomato, Swiggy, Urban Company daily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A8FA6"/>
                </a:solidFill>
              </a:rPr>
              <a:t>Trusts curated recommendations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A8FA6"/>
                </a:solidFill>
              </a:rPr>
              <a:t>Expects &lt;2 min for key decisions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309360" y="2880360"/>
            <a:ext cx="256032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09360" y="2880360"/>
            <a:ext cx="54864" cy="160020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25" name="Text 23"/>
          <p:cNvSpPr/>
          <p:nvPr/>
        </p:nvSpPr>
        <p:spPr>
          <a:xfrm>
            <a:off x="6446520" y="29718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</a:rPr>
              <a:t>💰 Context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46520" y="3319272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FA6"/>
                </a:solidFill>
              </a:rPr>
              <a:t>₹30K-80K trip budget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A8FA6"/>
                </a:solidFill>
              </a:rPr>
              <a:t>Tier-1 city resident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A8FA6"/>
                </a:solidFill>
              </a:rPr>
              <a:t>Primarily mobile-first user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HYPOTHESES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841248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502920" cy="114300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8872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H1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Time Constraint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05840" y="1280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7B6"/>
                </a:solidFill>
              </a:rPr>
              <a:t>HYPOTHESIS: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148840" y="128016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</a:rPr>
              <a:t>If we reduce effort to discover destinations → users with limited time will decide faster without overwhelm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05840" y="164592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8FA6"/>
                </a:solidFill>
              </a:rPr>
              <a:t>ASSUMPTION: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148840" y="1645920"/>
            <a:ext cx="6492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8FA6"/>
                </a:solidFill>
              </a:rPr>
              <a:t>Time spent researching is the primary blocker to trip planning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196596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8FA6"/>
                </a:solidFill>
              </a:rPr>
              <a:t>VALIDATION: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148840" y="1965960"/>
            <a:ext cx="6492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FA6"/>
                </a:solidFill>
              </a:rPr>
              <a:t>Track: Avg. session length until first destination shortlist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450592"/>
            <a:ext cx="841248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450592"/>
            <a:ext cx="502920" cy="11430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450592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H2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65760" y="3044952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Decision Fatigue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05840" y="254203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6B35"/>
                </a:solidFill>
              </a:rPr>
              <a:t>HYPOTHESIS: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148840" y="2542032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</a:rPr>
              <a:t>If users see 3 curated options instead of many → decision fatigue reduces and confidence in selection increases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005840" y="290779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8FA6"/>
                </a:solidFill>
              </a:rPr>
              <a:t>ASSUMPTION: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148840" y="2907792"/>
            <a:ext cx="6492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8FA6"/>
                </a:solidFill>
              </a:rPr>
              <a:t>Too many options leads to paralysis, not better decisions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05840" y="322783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8FA6"/>
                </a:solidFill>
              </a:rPr>
              <a:t>VALIDATION: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148840" y="3227832"/>
            <a:ext cx="6492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FA6"/>
                </a:solidFill>
              </a:rPr>
              <a:t>Track: % users who pick from 3 vs. request more options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712464"/>
            <a:ext cx="841248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712464"/>
            <a:ext cx="502920" cy="114300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3712464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H3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65760" y="4306824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Group Coordination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05840" y="380390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D6A0"/>
                </a:solidFill>
              </a:rPr>
              <a:t>HYPOTHESIS: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148840" y="3803904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</a:rPr>
              <a:t>If users can share &amp; align on options with their group → coordination friction reduces and final decisions are made faster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005840" y="416966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8FA6"/>
                </a:solidFill>
              </a:rPr>
              <a:t>ASSUMPTION: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148840" y="4169664"/>
            <a:ext cx="6492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8FA6"/>
                </a:solidFill>
              </a:rPr>
              <a:t>Most delays come from misaligned preferences, not lack of options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05840" y="448970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8FA6"/>
                </a:solidFill>
              </a:rPr>
              <a:t>VALIDATION: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148840" y="4489704"/>
            <a:ext cx="6492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FA6"/>
                </a:solidFill>
              </a:rPr>
              <a:t>Track: Time from group link share to confirmed destination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B4D8"/>
                </a:solidFill>
              </a:rPr>
              <a:t>A decision-first travel recommendation app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914400" y="1600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0E0EF"/>
                </a:solidFill>
              </a:rPr>
              <a:t>Help users choose where to go in under 2 minutes by reducing cognitive load, limiting choices, and aligning group preferences early.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40280" y="228600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77B6"/>
                </a:solidFill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1737360" cy="246888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240280"/>
            <a:ext cx="173736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33172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30352" y="237744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30175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Quick Intake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42900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</a:rPr>
              <a:t>5 smart questions capture budget, time, style &amp; travel companions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43400" y="228600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77B6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560320" y="2240280"/>
            <a:ext cx="1737360" cy="246888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60320" y="2240280"/>
            <a:ext cx="173736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2560320" y="233172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633472" y="237744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02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51760" y="30175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AI Matching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651760" y="342900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</a:rPr>
              <a:t>Algorithm maps inputs to destination profiles with fit scores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46520" y="228600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77B6"/>
                </a:solidFill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4663440" y="2240280"/>
            <a:ext cx="1737360" cy="246888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2240280"/>
            <a:ext cx="173736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3" name="Text 21"/>
          <p:cNvSpPr/>
          <p:nvPr/>
        </p:nvSpPr>
        <p:spPr>
          <a:xfrm>
            <a:off x="4663440" y="233172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✅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4736592" y="237744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03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54880" y="30175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 Options Only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54880" y="342900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</a:rPr>
              <a:t>Exactly 3 curated picks with honest trade-offs displayed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766560" y="2240280"/>
            <a:ext cx="1737360" cy="246888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766560" y="2240280"/>
            <a:ext cx="173736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9" name="Text 27"/>
          <p:cNvSpPr/>
          <p:nvPr/>
        </p:nvSpPr>
        <p:spPr>
          <a:xfrm>
            <a:off x="6766560" y="233172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🔗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839712" y="237744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04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858000" y="30175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Group Sync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858000" y="342900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</a:rPr>
              <a:t>Shareable link merges preferences into group-optimized choices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14400" y="4800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A8FA6"/>
                </a:solidFill>
              </a:rPr>
              <a:t>Complements, not competes with Tripadvisor — solves the upstream decision problem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01  ·  Quick Trip Snapshot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384048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3840480" cy="54864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801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3C"/>
                </a:solidFill>
              </a:rPr>
              <a:t>5-Question Intake → 3 Picks in 30s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FA6"/>
                </a:solidFill>
              </a:rPr>
              <a:t>Eliminates endless research by capturing exactly what matters through a structured questionnaire.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450592"/>
            <a:ext cx="3474720" cy="347472"/>
          </a:xfrm>
          <a:prstGeom prst="rect">
            <a:avLst/>
          </a:prstGeom>
          <a:solidFill>
            <a:srgbClr val="EAF4FC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245059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</a:rPr>
              <a:t>💰 What's your budget range?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880360"/>
            <a:ext cx="3474720" cy="347472"/>
          </a:xfrm>
          <a:prstGeom prst="rect">
            <a:avLst/>
          </a:prstGeom>
          <a:solidFill>
            <a:srgbClr val="EAF4FC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" y="288036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</a:rPr>
              <a:t>📅 How many days?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310128"/>
            <a:ext cx="3474720" cy="347472"/>
          </a:xfrm>
          <a:prstGeom prst="rect">
            <a:avLst/>
          </a:prstGeom>
          <a:solidFill>
            <a:srgbClr val="EAF4FC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" y="331012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</a:rPr>
              <a:t>🌍 Vibe: Adventure / Relax / Culture / Food?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739896"/>
            <a:ext cx="3474720" cy="347472"/>
          </a:xfrm>
          <a:prstGeom prst="rect">
            <a:avLst/>
          </a:prstGeom>
          <a:solidFill>
            <a:srgbClr val="EAF4FC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373989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</a:rPr>
              <a:t>👥 Solo / Couple / Friends / Family?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169664"/>
            <a:ext cx="3474720" cy="347472"/>
          </a:xfrm>
          <a:prstGeom prst="rect">
            <a:avLst/>
          </a:prstGeom>
          <a:solidFill>
            <a:srgbClr val="EAF4FC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" y="416966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</a:rPr>
              <a:t>📍 Preferred travel distance?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1143000"/>
            <a:ext cx="4206240" cy="109728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0" y="1143000"/>
            <a:ext cx="64008" cy="10972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12344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&lt; 2 min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800600" y="17373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FA6"/>
                </a:solidFill>
              </a:rPr>
              <a:t>Target time to first shortlist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0" y="2377440"/>
            <a:ext cx="4206240" cy="109728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0" y="2377440"/>
            <a:ext cx="64008" cy="10972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4" name="Text 22"/>
          <p:cNvSpPr/>
          <p:nvPr/>
        </p:nvSpPr>
        <p:spPr>
          <a:xfrm>
            <a:off x="4800600" y="24688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 picks only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4800600" y="29718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FA6"/>
                </a:solidFill>
              </a:rPr>
              <a:t>Strict limit reduces cognitive load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0" y="3611880"/>
            <a:ext cx="4206240" cy="109728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0" y="3611880"/>
            <a:ext cx="64008" cy="109728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8" name="Text 26"/>
          <p:cNvSpPr/>
          <p:nvPr/>
        </p:nvSpPr>
        <p:spPr>
          <a:xfrm>
            <a:off x="4800600" y="37033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Personalized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4800600" y="42062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FA6"/>
                </a:solidFill>
              </a:rPr>
              <a:t>Destination fit score shown per result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0" y="3977640"/>
            <a:ext cx="4206240" cy="68580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31" name="Text 29"/>
          <p:cNvSpPr/>
          <p:nvPr/>
        </p:nvSpPr>
        <p:spPr>
          <a:xfrm>
            <a:off x="4709160" y="397764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</a:rPr>
              <a:t>PM Note: Limited choices increase conversion — inspired by the Paradox of Choice (Schwartz, 2004)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02  ·  Group Preference Alignment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2011680" cy="822960"/>
          </a:xfrm>
          <a:prstGeom prst="ellipse">
            <a:avLst/>
          </a:prstGeom>
          <a:solidFill>
            <a:srgbClr val="0077B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28016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User A fills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preferences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423160" y="1280160"/>
            <a:ext cx="365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77B6"/>
                </a:solidFill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651760" y="1280160"/>
            <a:ext cx="2011680" cy="822960"/>
          </a:xfrm>
          <a:prstGeom prst="ellipse">
            <a:avLst/>
          </a:prstGeom>
          <a:solidFill>
            <a:srgbClr val="0077B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51760" y="128016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Shareable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link sent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09160" y="1280160"/>
            <a:ext cx="365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77B6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937760" y="1280160"/>
            <a:ext cx="2011680" cy="822960"/>
          </a:xfrm>
          <a:prstGeom prst="ellipse">
            <a:avLst/>
          </a:prstGeom>
          <a:solidFill>
            <a:srgbClr val="0077B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128016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Group B &amp; 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fill independently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995160" y="1280160"/>
            <a:ext cx="365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77B6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040880" y="1280160"/>
            <a:ext cx="2011680" cy="822960"/>
          </a:xfrm>
          <a:prstGeom prst="ellipse">
            <a:avLst/>
          </a:prstGeom>
          <a:solidFill>
            <a:srgbClr val="0077B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040880" y="128016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Algorithm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merges inputs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926080" y="2377440"/>
            <a:ext cx="3291840" cy="640080"/>
          </a:xfrm>
          <a:prstGeom prst="rect">
            <a:avLst/>
          </a:prstGeom>
          <a:solidFill>
            <a:srgbClr val="06D6A0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926080" y="23774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2–3 Group-Optimised Destinations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320040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200400"/>
            <a:ext cx="2651760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32918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75488" y="382219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B3C"/>
                </a:solidFill>
              </a:rPr>
              <a:t>Agreement Indicators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" y="4169664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FA6"/>
                </a:solidFill>
              </a:rPr>
              <a:t>Visual overlay showing which destinations get thumbs-up from all members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91840" y="320040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91840" y="3200400"/>
            <a:ext cx="2651760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4" name="Text 22"/>
          <p:cNvSpPr/>
          <p:nvPr/>
        </p:nvSpPr>
        <p:spPr>
          <a:xfrm>
            <a:off x="3291840" y="32918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3401568" y="382219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B3C"/>
                </a:solidFill>
              </a:rPr>
              <a:t>Conflict Surfacing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401568" y="4169664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FA6"/>
                </a:solidFill>
              </a:rPr>
              <a:t>Highlights mismatched preferences upfront, reducing circular group chats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17920" y="320040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17920" y="3200400"/>
            <a:ext cx="2651760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9" name="Text 27"/>
          <p:cNvSpPr/>
          <p:nvPr/>
        </p:nvSpPr>
        <p:spPr>
          <a:xfrm>
            <a:off x="6217920" y="32918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📅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6327648" y="382219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B3C"/>
                </a:solidFill>
              </a:rPr>
              <a:t>Date Availability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327648" y="4169664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FA6"/>
                </a:solidFill>
              </a:rPr>
              <a:t>Members mark availability; only dates that work for all are highlighted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 &amp; KPIs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023360" cy="169164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402336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2801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🚀  Activation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Time to First Shortlist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017520" y="1783080"/>
            <a:ext cx="914400" cy="320040"/>
          </a:xfrm>
          <a:prstGeom prst="rect">
            <a:avLst/>
          </a:prstGeom>
          <a:solidFill>
            <a:srgbClr val="0077B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017520" y="1783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&lt; 2 minutes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26771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Onboarding Completion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017520" y="2313432"/>
            <a:ext cx="914400" cy="320040"/>
          </a:xfrm>
          <a:prstGeom prst="rect">
            <a:avLst/>
          </a:prstGeom>
          <a:solidFill>
            <a:srgbClr val="0077B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017520" y="231343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&gt; 75%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188720"/>
            <a:ext cx="4023360" cy="169164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188720"/>
            <a:ext cx="402336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12801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💬  Engagement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17373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Shortlists per User / Month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406640" y="1783080"/>
            <a:ext cx="914400" cy="320040"/>
          </a:xfrm>
          <a:prstGeom prst="rect">
            <a:avLst/>
          </a:prstGeom>
          <a:solidFill>
            <a:srgbClr val="0077B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06640" y="1783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&gt; 2.5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0" y="226771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Group Links Shared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406640" y="2313432"/>
            <a:ext cx="914400" cy="320040"/>
          </a:xfrm>
          <a:prstGeom prst="rect">
            <a:avLst/>
          </a:prstGeom>
          <a:solidFill>
            <a:srgbClr val="2A3F52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406640" y="231343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&gt; 30% of sessions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017520"/>
            <a:ext cx="4023360" cy="169164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017520"/>
            <a:ext cx="402336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31089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⭐  Satisfaction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" y="35661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Confidence Score (self-reported)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017520" y="3611880"/>
            <a:ext cx="914400" cy="320040"/>
          </a:xfrm>
          <a:prstGeom prst="rect">
            <a:avLst/>
          </a:prstGeom>
          <a:solidFill>
            <a:srgbClr val="0077B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017520" y="3611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&gt; 4.0 / 5.0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409651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7-Day Retention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017520" y="4142232"/>
            <a:ext cx="914400" cy="320040"/>
          </a:xfrm>
          <a:prstGeom prst="rect">
            <a:avLst/>
          </a:prstGeom>
          <a:solidFill>
            <a:srgbClr val="0077B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017520" y="414223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&gt; 40%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3017520"/>
            <a:ext cx="4023360" cy="169164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3017520"/>
            <a:ext cx="402336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3" name="Text 31"/>
          <p:cNvSpPr/>
          <p:nvPr/>
        </p:nvSpPr>
        <p:spPr>
          <a:xfrm>
            <a:off x="4892040" y="31089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💰  Business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937760" y="35661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Booking Redirect Click-through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406640" y="3611880"/>
            <a:ext cx="914400" cy="320040"/>
          </a:xfrm>
          <a:prstGeom prst="rect">
            <a:avLst/>
          </a:prstGeom>
          <a:solidFill>
            <a:srgbClr val="2A3F52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406640" y="3611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&gt; 20%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937760" y="409651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MAU Growth (M3–M6)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406640" y="4142232"/>
            <a:ext cx="914400" cy="320040"/>
          </a:xfrm>
          <a:prstGeom prst="rect">
            <a:avLst/>
          </a:prstGeom>
          <a:solidFill>
            <a:srgbClr val="0077B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406640" y="414223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&gt; 15% MoM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ROADMAP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8412480" cy="73152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115568"/>
            <a:ext cx="219456" cy="219456"/>
          </a:xfrm>
          <a:prstGeom prst="ellipse">
            <a:avLst/>
          </a:prstGeom>
          <a:solidFill>
            <a:srgbClr val="0077B6"/>
          </a:solidFill>
          <a:ln/>
        </p:spPr>
      </p:sp>
      <p:sp>
        <p:nvSpPr>
          <p:cNvPr id="6" name="Shape 4"/>
          <p:cNvSpPr/>
          <p:nvPr/>
        </p:nvSpPr>
        <p:spPr>
          <a:xfrm>
            <a:off x="3246120" y="1115568"/>
            <a:ext cx="219456" cy="219456"/>
          </a:xfrm>
          <a:prstGeom prst="ellipse">
            <a:avLst/>
          </a:prstGeom>
          <a:solidFill>
            <a:srgbClr val="0077B6"/>
          </a:solidFill>
          <a:ln/>
        </p:spPr>
      </p:sp>
      <p:sp>
        <p:nvSpPr>
          <p:cNvPr id="7" name="Shape 5"/>
          <p:cNvSpPr/>
          <p:nvPr/>
        </p:nvSpPr>
        <p:spPr>
          <a:xfrm>
            <a:off x="6172200" y="1115568"/>
            <a:ext cx="219456" cy="219456"/>
          </a:xfrm>
          <a:prstGeom prst="ellipse">
            <a:avLst/>
          </a:prstGeom>
          <a:solidFill>
            <a:srgbClr val="0077B6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1463040"/>
            <a:ext cx="274320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463040"/>
            <a:ext cx="2743200" cy="54864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" y="15727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B6"/>
                </a:solidFill>
              </a:rPr>
              <a:t>Phase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11680" y="157276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FA6"/>
                </a:solidFill>
              </a:rPr>
              <a:t>Month 1–2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" y="19202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</a:rPr>
              <a:t>MVP – Core Decision Flow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24231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B6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</a:rPr>
              <a:t>5-question intake form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2834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B6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</a:rPr>
              <a:t>3 destination recommendations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2461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B6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</a:rPr>
              <a:t>Basic fit scoring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36576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B6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</a:rPr>
              <a:t>Solo user flow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4434840"/>
            <a:ext cx="2743200" cy="27432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4348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🎯 Validate H1: Time to Decision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91840" y="1463040"/>
            <a:ext cx="274320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91840" y="1463040"/>
            <a:ext cx="274320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1" name="Text 19"/>
          <p:cNvSpPr/>
          <p:nvPr/>
        </p:nvSpPr>
        <p:spPr>
          <a:xfrm>
            <a:off x="3401568" y="15727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</a:rPr>
              <a:t>Phase 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157276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FA6"/>
                </a:solidFill>
              </a:rPr>
              <a:t>Month 3–4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01568" y="19202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</a:rPr>
              <a:t>Group Planning + Confidence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29000" y="24231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</a:rPr>
              <a:t>Shareable group link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429000" y="2834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</a:rPr>
              <a:t>Preference merge algorithm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429000" y="32461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</a:rPr>
              <a:t>Agreement / conflict indicators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29000" y="36576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</a:rPr>
              <a:t>Date availability matrix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91840" y="4434840"/>
            <a:ext cx="2743200" cy="2743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9" name="Text 27"/>
          <p:cNvSpPr/>
          <p:nvPr/>
        </p:nvSpPr>
        <p:spPr>
          <a:xfrm>
            <a:off x="3383280" y="44348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🎯 Validate H2 + H3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17920" y="1463040"/>
            <a:ext cx="274320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17920" y="1463040"/>
            <a:ext cx="2743200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2" name="Text 30"/>
          <p:cNvSpPr/>
          <p:nvPr/>
        </p:nvSpPr>
        <p:spPr>
          <a:xfrm>
            <a:off x="6327648" y="15727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</a:rPr>
              <a:t>Phase 3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863840" y="157276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FA6"/>
                </a:solidFill>
              </a:rPr>
              <a:t>Month 5–6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27648" y="19202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</a:rPr>
              <a:t>Monetisation + Retention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355080" y="24231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</a:rPr>
              <a:t>Booking redirect with commission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355080" y="2834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</a:rPr>
              <a:t>Partner promoted listings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355080" y="32461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</a:rPr>
              <a:t>Travel demand data product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355080" y="36576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</a:rPr>
              <a:t>Push notifications &amp; reactivation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217920" y="4434840"/>
            <a:ext cx="2743200" cy="27432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40" name="Text 38"/>
          <p:cNvSpPr/>
          <p:nvPr/>
        </p:nvSpPr>
        <p:spPr>
          <a:xfrm>
            <a:off x="6309360" y="44348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🎯 Revenue + Growth Loops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&amp; MONETISATION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0E0EF"/>
                </a:solidFill>
              </a:rPr>
              <a:t>Free-to-use with platform monetisation — aligned with user value, not against it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2651760" cy="320040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508760"/>
            <a:ext cx="265176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60020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🏨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960120" y="224028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06D6A0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2402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Primary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" y="2624328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Affiliate Commission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306324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0E0EF"/>
                </a:solidFill>
              </a:rPr>
              <a:t>Earn 4–8% commission on hotel &amp; flight bookings redirected from Tripzy after destination selection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" y="4297680"/>
            <a:ext cx="2423160" cy="320040"/>
          </a:xfrm>
          <a:prstGeom prst="rect">
            <a:avLst/>
          </a:prstGeom>
          <a:solidFill>
            <a:srgbClr val="1C2E3F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" y="42976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</a:rPr>
              <a:t>Est. ₹200–500 per booking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46120" y="1508760"/>
            <a:ext cx="2651760" cy="320040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1508760"/>
            <a:ext cx="265176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3246120" y="160020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📣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3840480" y="224028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FF6B35"/>
          </a:solidFill>
          <a:ln/>
        </p:spPr>
      </p:sp>
      <p:sp>
        <p:nvSpPr>
          <p:cNvPr id="18" name="Text 16"/>
          <p:cNvSpPr/>
          <p:nvPr/>
        </p:nvSpPr>
        <p:spPr>
          <a:xfrm>
            <a:off x="3840480" y="22402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Secondary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55848" y="2624328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Promoted Listings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383280" y="306324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0E0EF"/>
                </a:solidFill>
              </a:rPr>
              <a:t>Hotels and experience providers pay to appear in curated results when their profile matches the user's travel style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355848" y="4297680"/>
            <a:ext cx="2423160" cy="320040"/>
          </a:xfrm>
          <a:prstGeom prst="rect">
            <a:avLst/>
          </a:prstGeom>
          <a:solidFill>
            <a:srgbClr val="1C2E3F"/>
          </a:solidFill>
          <a:ln/>
        </p:spPr>
      </p:sp>
      <p:sp>
        <p:nvSpPr>
          <p:cNvPr id="22" name="Text 20"/>
          <p:cNvSpPr/>
          <p:nvPr/>
        </p:nvSpPr>
        <p:spPr>
          <a:xfrm>
            <a:off x="3355848" y="42976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</a:rPr>
              <a:t>Est. ₹15K–50K per month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26480" y="1508760"/>
            <a:ext cx="2651760" cy="320040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26480" y="1508760"/>
            <a:ext cx="265176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5" name="Text 23"/>
          <p:cNvSpPr/>
          <p:nvPr/>
        </p:nvSpPr>
        <p:spPr>
          <a:xfrm>
            <a:off x="6126480" y="160020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📊</a:t>
            </a:r>
            <a:endParaRPr lang="en-US" sz="3000" dirty="0"/>
          </a:p>
        </p:txBody>
      </p:sp>
      <p:sp>
        <p:nvSpPr>
          <p:cNvPr id="26" name="Shape 24"/>
          <p:cNvSpPr/>
          <p:nvPr/>
        </p:nvSpPr>
        <p:spPr>
          <a:xfrm>
            <a:off x="6720840" y="224028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3A3A6A"/>
          </a:solidFill>
          <a:ln/>
        </p:spPr>
      </p:sp>
      <p:sp>
        <p:nvSpPr>
          <p:cNvPr id="27" name="Text 25"/>
          <p:cNvSpPr/>
          <p:nvPr/>
        </p:nvSpPr>
        <p:spPr>
          <a:xfrm>
            <a:off x="6720840" y="22402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Future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36208" y="2624328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Demand Intelligence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263640" y="306324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0E0EF"/>
                </a:solidFill>
              </a:rPr>
              <a:t>Anonymised, aggregated travel intent data sold to hospitality brands and tourism boards for demand forecasting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36208" y="4297680"/>
            <a:ext cx="2423160" cy="320040"/>
          </a:xfrm>
          <a:prstGeom prst="rect">
            <a:avLst/>
          </a:prstGeom>
          <a:solidFill>
            <a:srgbClr val="1C2E3F"/>
          </a:solidFill>
          <a:ln/>
        </p:spPr>
      </p:sp>
      <p:sp>
        <p:nvSpPr>
          <p:cNvPr id="31" name="Text 29"/>
          <p:cNvSpPr/>
          <p:nvPr/>
        </p:nvSpPr>
        <p:spPr>
          <a:xfrm>
            <a:off x="6236208" y="42976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</a:rPr>
              <a:t>Est. ₹2L–10L per dataset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TRIPZY WORKS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023360" cy="160020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34440"/>
            <a:ext cx="502920" cy="160020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32588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13716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Solves upstream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737360"/>
            <a:ext cx="3337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E0EF"/>
                </a:solidFill>
              </a:rPr>
              <a:t>While OTAs and blogs give information, Tripzy solves the decision problem that happens before booking. It's a new layer, not a competitor.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234440"/>
            <a:ext cx="4023360" cy="160020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234440"/>
            <a:ext cx="502920" cy="160020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32588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349240" y="13716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Psychology-backed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49240" y="1737360"/>
            <a:ext cx="3337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E0EF"/>
                </a:solidFill>
              </a:rPr>
              <a:t>Limits choices to 3 (Paradox of Choice), uses preference-matching (Jobs-to-be-Done), and reduces group coordination cost (social friction theory).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971800"/>
            <a:ext cx="4023360" cy="160020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971800"/>
            <a:ext cx="502920" cy="160020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306324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60120" y="310896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Speed as feature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3474720"/>
            <a:ext cx="3337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E0EF"/>
                </a:solidFill>
              </a:rPr>
              <a:t>2-minute end-to-end flow matches the browsing pattern of mobile-first users who abandon apps with long onboarding.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2971800"/>
            <a:ext cx="4023360" cy="160020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971800"/>
            <a:ext cx="502920" cy="160020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306324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349240" y="310896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Network effects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49240" y="3474720"/>
            <a:ext cx="3337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E0EF"/>
                </a:solidFill>
              </a:rPr>
              <a:t>Group planning creates organic virality — every shared link is a new acquisition touchpoint with embedded social proof.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25" name="Text 2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Tripzy  ·  PM Portfolio Case Study  ·  2024  ·  Conceptual Product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Tripzy – PM Portfolio</dc:title>
  <dc:subject>PptxGenJS Presentation</dc:subject>
  <dc:creator>Product Manager</dc:creator>
  <cp:lastModifiedBy>Product Manager</cp:lastModifiedBy>
  <cp:revision>1</cp:revision>
  <dcterms:created xsi:type="dcterms:W3CDTF">2026-04-03T11:45:21Z</dcterms:created>
  <dcterms:modified xsi:type="dcterms:W3CDTF">2026-04-03T11:45:21Z</dcterms:modified>
</cp:coreProperties>
</file>