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5029200" cy="5029200"/>
          </a:xfrm>
          <a:prstGeom prst="ellipse">
            <a:avLst/>
          </a:prstGeom>
          <a:solidFill>
            <a:srgbClr val="5A7A6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457200"/>
            <a:ext cx="2743200" cy="2743200"/>
          </a:xfrm>
          <a:prstGeom prst="ellipse">
            <a:avLst/>
          </a:prstGeom>
          <a:solidFill>
            <a:srgbClr val="B8924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3474720"/>
            <a:ext cx="4572000" cy="4572000"/>
          </a:xfrm>
          <a:prstGeom prst="ellipse">
            <a:avLst/>
          </a:prstGeom>
          <a:solidFill>
            <a:srgbClr val="8FAF94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840480"/>
            <a:ext cx="3200400" cy="3200400"/>
          </a:xfrm>
          <a:prstGeom prst="ellipse">
            <a:avLst/>
          </a:prstGeom>
          <a:solidFill>
            <a:srgbClr val="5A7A62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  ·  BEAUTY &amp; SKINCARE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768096"/>
            <a:ext cx="2377440" cy="502920"/>
          </a:xfrm>
          <a:prstGeom prst="rect">
            <a:avLst/>
          </a:prstGeom>
          <a:solidFill>
            <a:srgbClr val="5A7A6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7680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SYLVER  SKIN CARE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44368" y="8229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"Grace your Glow, Glow with Sylver"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Serum.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7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Steps. Simplified.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a multi-benefit D2C skincare serum that replaces cluttered routines with science-backed simplicity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828800" cy="36576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566160"/>
            <a:ext cx="1993392" cy="804672"/>
          </a:xfrm>
          <a:prstGeom prst="rect">
            <a:avLst/>
          </a:prstGeom>
          <a:solidFill>
            <a:srgbClr val="16221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5935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5-in-1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Consolidation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33472" y="3566160"/>
            <a:ext cx="1993392" cy="804672"/>
          </a:xfrm>
          <a:prstGeom prst="rect">
            <a:avLst/>
          </a:prstGeom>
          <a:solidFill>
            <a:srgbClr val="16221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33472" y="35935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Key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633472" y="395020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Ingredients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9744" y="3566160"/>
            <a:ext cx="1993392" cy="804672"/>
          </a:xfrm>
          <a:prstGeom prst="rect">
            <a:avLst/>
          </a:prstGeom>
          <a:solidFill>
            <a:srgbClr val="16221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9744" y="35935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Types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9744" y="395020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Compatibility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86016" y="3566160"/>
            <a:ext cx="1993392" cy="804672"/>
          </a:xfrm>
          <a:prstGeom prst="rect">
            <a:avLst/>
          </a:prstGeom>
          <a:solidFill>
            <a:srgbClr val="16221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86016" y="35935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D2C + Retail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86016" y="395020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Sylver Skin Care  ·  PM Portfolio  ·  Product Launch Strategy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4A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9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Sylver Skin Care  ·  Market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Skincare is Exhausting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overwhelmed by 5-step routines. They spend more time managing products than seeing results. The question is no longer "what should I use?" — it's "how do I stop using so much?"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32120" y="8046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tired of…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32120" y="1115568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32120" y="1115568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Cleanser  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02552" y="1115568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02552" y="1115568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Toner  ×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72984" y="1115568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72984" y="1115568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 ×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32120" y="1591056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32120" y="1591056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Moisturizer  ×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02552" y="1591056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02552" y="1591056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Sunscreen  ×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304288"/>
            <a:ext cx="274320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304288"/>
            <a:ext cx="2743200" cy="73152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423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29768" y="3072384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7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 Overload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3438144"/>
            <a:ext cx="1188720" cy="36576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478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average 6–8 skincare products daily. The average routine costs $80–200/month and takes 10+ minutes.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304288"/>
            <a:ext cx="274320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304288"/>
            <a:ext cx="2743200" cy="73152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2423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55848" y="3072384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Ingredient Confusion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23360" y="3438144"/>
            <a:ext cx="1188720" cy="36576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5478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know which ingredients work together, what order to apply, or if they're overdoing active ingredients.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304288"/>
            <a:ext cx="274320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304288"/>
            <a:ext cx="2743200" cy="7315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423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281928" y="3072384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Fatigue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49440" y="3438144"/>
            <a:ext cx="1188720" cy="36576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35478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brand subscriptions, conflicting routines, and wasted half-used bottles create frustration and financial waste.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992624"/>
            <a:ext cx="8503920" cy="54864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C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Sylver's opportunity: Be the last product they ever need to add to their routine.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4A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291840" cy="4041648"/>
          </a:xfrm>
          <a:prstGeom prst="rect">
            <a:avLst/>
          </a:prstGeom>
          <a:solidFill>
            <a:srgbClr val="2C4A3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960120"/>
            <a:ext cx="1737360" cy="1737360"/>
          </a:xfrm>
          <a:prstGeom prst="ellipse">
            <a:avLst/>
          </a:prstGeom>
          <a:solidFill>
            <a:srgbClr val="5A7A62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87552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✨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7889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Overwhelmed Optimiser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31821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· Age 22–38 · Skincare-Aware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639312"/>
            <a:ext cx="128016" cy="128016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6210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₹3,000–₹8,000/month on skincare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913632"/>
            <a:ext cx="128016" cy="128016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8953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beauty influencers &amp; Reddit threads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187952"/>
            <a:ext cx="128016" cy="128016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1696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Skin-aware but not dermatologist-guided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128016" cy="128016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44398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Cruelty-free &amp; clean beauty preference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736592"/>
            <a:ext cx="128016" cy="128016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47183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results with less effort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94760" y="822960"/>
            <a:ext cx="5074920" cy="329184"/>
          </a:xfrm>
          <a:prstGeom prst="rect">
            <a:avLst/>
          </a:prstGeom>
          <a:solidFill>
            <a:srgbClr val="5A7A62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8229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Needs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13632" y="1243584"/>
            <a:ext cx="109728" cy="109728"/>
          </a:xfrm>
          <a:prstGeom prst="ellipse">
            <a:avLst/>
          </a:prstGeom>
          <a:solidFill>
            <a:srgbClr val="5A7A6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115214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skin improvements (glow, texture, clarity)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13632" y="1554480"/>
            <a:ext cx="109728" cy="109728"/>
          </a:xfrm>
          <a:prstGeom prst="ellipse">
            <a:avLst/>
          </a:prstGeom>
          <a:solidFill>
            <a:srgbClr val="5A7A62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146304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that fits in under 5 minutes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13632" y="1865376"/>
            <a:ext cx="109728" cy="109728"/>
          </a:xfrm>
          <a:prstGeom prst="ellipse">
            <a:avLst/>
          </a:prstGeom>
          <a:solidFill>
            <a:srgbClr val="5A7A6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177393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backed by real science, not just marketing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94760" y="2249424"/>
            <a:ext cx="5074920" cy="329184"/>
          </a:xfrm>
          <a:prstGeom prst="rect">
            <a:avLst/>
          </a:prstGeom>
          <a:solidFill>
            <a:srgbClr val="D4A5A5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224942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913632" y="2670048"/>
            <a:ext cx="109728" cy="109728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0" y="257860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Over-buying products that sit half-used on the shelf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913632" y="2980944"/>
            <a:ext cx="109728" cy="109728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288950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ingredient advice from different influencers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13632" y="3291840"/>
            <a:ext cx="109728" cy="109728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0" y="320040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seeing results despite spending more and more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94760" y="3675888"/>
            <a:ext cx="5074920" cy="329184"/>
          </a:xfrm>
          <a:prstGeom prst="rect">
            <a:avLst/>
          </a:prstGeom>
          <a:solidFill>
            <a:srgbClr val="B8924A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0" y="367588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Signals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913632" y="4096512"/>
            <a:ext cx="109728" cy="109728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0" y="400507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'simplified skincare routine' and 'is serum enough?'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13632" y="4407408"/>
            <a:ext cx="109728" cy="109728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0" y="431596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Abandons cart when routine seems 'too complicated'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13632" y="4718304"/>
            <a:ext cx="109728" cy="109728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0" y="462686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loyalty once a product actually delivers results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4A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Sylver Serum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multi-benefit serum that replaces five products. Not a compromise — an upgrade.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8503920" cy="960120"/>
          </a:xfrm>
          <a:prstGeom prst="rect">
            <a:avLst/>
          </a:prstGeom>
          <a:solidFill>
            <a:srgbClr val="2C4A3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28800"/>
            <a:ext cx="146304" cy="96012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01952"/>
            <a:ext cx="8092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"For the skincare-aware urban woman who is tired of complicated routines, Sylver is the one serum that delivers brightening, barrier repair, and anti-aging — replacing cleanser prep, toner, actives, moisturiser, and sun protection base — in a single cruelty-free, clinically-backed formula."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44368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944368"/>
            <a:ext cx="2029968" cy="54864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301752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36027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Niacinamide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Brightening &amp; pore minimising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2793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concentration — clinical grade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96312" y="2944368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2944368"/>
            <a:ext cx="2029968" cy="54864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7" name="Text 15"/>
          <p:cNvSpPr/>
          <p:nvPr/>
        </p:nvSpPr>
        <p:spPr>
          <a:xfrm>
            <a:off x="2496312" y="301752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587752" y="36027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Retinol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87752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Anti-aging &amp; cell turnover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87752" y="42793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for all skin types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72584" y="2944368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72584" y="2944368"/>
            <a:ext cx="2029968" cy="54864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23" name="Text 21"/>
          <p:cNvSpPr/>
          <p:nvPr/>
        </p:nvSpPr>
        <p:spPr>
          <a:xfrm>
            <a:off x="4672584" y="301752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764024" y="36027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Ceramides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64024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repair &amp; hydration lock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64024" y="42793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natural skin lipids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48856" y="2944368"/>
            <a:ext cx="202996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48856" y="2944368"/>
            <a:ext cx="2029968" cy="54864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29" name="Text 27"/>
          <p:cNvSpPr/>
          <p:nvPr/>
        </p:nvSpPr>
        <p:spPr>
          <a:xfrm>
            <a:off x="6848856" y="301752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940296" y="36027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Rare Botanicals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0296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Soothing &amp; antioxidant protection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0296" y="42793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Sustainably sourced actives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5A7A6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2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 FEATURES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Sylver D2C Experience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33502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digital pillars that support the product — personalisation, transparency, and loyalty.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788920" cy="3063240"/>
          </a:xfrm>
          <a:prstGeom prst="rect">
            <a:avLst/>
          </a:prstGeom>
          <a:solidFill>
            <a:srgbClr val="1A2E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4440" y="1920240"/>
            <a:ext cx="868680" cy="868680"/>
          </a:xfrm>
          <a:prstGeom prst="ellipse">
            <a:avLst/>
          </a:prstGeom>
          <a:solidFill>
            <a:srgbClr val="5A7A62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947672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288036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Quiz &amp; Match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3328416"/>
            <a:ext cx="1417320" cy="36576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" y="3474720"/>
            <a:ext cx="91440" cy="91440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456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skin type &amp; concern quiz on landing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3895344"/>
            <a:ext cx="91440" cy="91440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8770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match score shown per product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4315968"/>
            <a:ext cx="91440" cy="91440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routine simplification report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1828800"/>
            <a:ext cx="2788920" cy="3063240"/>
          </a:xfrm>
          <a:prstGeom prst="rect">
            <a:avLst/>
          </a:prstGeom>
          <a:solidFill>
            <a:srgbClr val="1A2E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78808" y="1920240"/>
            <a:ext cx="868680" cy="868680"/>
          </a:xfrm>
          <a:prstGeom prst="ellipse">
            <a:avLst/>
          </a:prstGeom>
          <a:solidFill>
            <a:srgbClr val="B8924A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78808" y="1947672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28416" y="288036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Transparency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04488" y="3328416"/>
            <a:ext cx="1417320" cy="36576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3" name="Shape 21"/>
          <p:cNvSpPr/>
          <p:nvPr/>
        </p:nvSpPr>
        <p:spPr>
          <a:xfrm>
            <a:off x="3419856" y="3474720"/>
            <a:ext cx="91440" cy="914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4" name="Text 22"/>
          <p:cNvSpPr/>
          <p:nvPr/>
        </p:nvSpPr>
        <p:spPr>
          <a:xfrm>
            <a:off x="3602736" y="3456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clinical evidence card per ingredient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19856" y="3895344"/>
            <a:ext cx="91440" cy="914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6" name="Text 24"/>
          <p:cNvSpPr/>
          <p:nvPr/>
        </p:nvSpPr>
        <p:spPr>
          <a:xfrm>
            <a:off x="3602736" y="38770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checker (safe to layer?)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19856" y="4315968"/>
            <a:ext cx="91440" cy="914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8" name="Text 26"/>
          <p:cNvSpPr/>
          <p:nvPr/>
        </p:nvSpPr>
        <p:spPr>
          <a:xfrm>
            <a:off x="3602736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skin goal tracker in-app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63056" y="1828800"/>
            <a:ext cx="2788920" cy="3063240"/>
          </a:xfrm>
          <a:prstGeom prst="rect">
            <a:avLst/>
          </a:prstGeom>
          <a:solidFill>
            <a:srgbClr val="1A2E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23176" y="1920240"/>
            <a:ext cx="868680" cy="868680"/>
          </a:xfrm>
          <a:prstGeom prst="ellipse">
            <a:avLst/>
          </a:prstGeom>
          <a:solidFill>
            <a:srgbClr val="D4A5A5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123176" y="1947672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72784" y="288036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+ Loyalty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8856" y="3328416"/>
            <a:ext cx="1417320" cy="36576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4" name="Shape 32"/>
          <p:cNvSpPr/>
          <p:nvPr/>
        </p:nvSpPr>
        <p:spPr>
          <a:xfrm>
            <a:off x="6364224" y="3474720"/>
            <a:ext cx="91440" cy="9144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5" name="Text 33"/>
          <p:cNvSpPr/>
          <p:nvPr/>
        </p:nvSpPr>
        <p:spPr>
          <a:xfrm>
            <a:off x="6547104" y="3456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&amp; save model (15–20% off)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64224" y="3895344"/>
            <a:ext cx="91440" cy="9144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7" name="Text 35"/>
          <p:cNvSpPr/>
          <p:nvPr/>
        </p:nvSpPr>
        <p:spPr>
          <a:xfrm>
            <a:off x="6547104" y="38770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Points loyalty program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64224" y="4315968"/>
            <a:ext cx="91440" cy="9144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9" name="Text 37"/>
          <p:cNvSpPr/>
          <p:nvPr/>
        </p:nvSpPr>
        <p:spPr>
          <a:xfrm>
            <a:off x="6547104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Refillable packaging for sustainability story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4A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87782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in 3 Phases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2788920" cy="3364992"/>
          </a:xfrm>
          <a:prstGeom prst="rect">
            <a:avLst/>
          </a:prstGeom>
          <a:solidFill>
            <a:srgbClr val="EEF5E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81328"/>
            <a:ext cx="2788920" cy="548640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996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&amp; 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76272" y="15361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Month 1–2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109728" cy="109728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1488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Micro-influencer seeding (10K–100K audience)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109728" cy="109728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8892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UGC content campaign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109728" cy="109728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4290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+ early access landing page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33088"/>
            <a:ext cx="109728" cy="109728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406908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 partnership for credibility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18688" y="1481328"/>
            <a:ext cx="2788920" cy="3364992"/>
          </a:xfrm>
          <a:prstGeom prst="rect">
            <a:avLst/>
          </a:prstGeom>
          <a:solidFill>
            <a:srgbClr val="FDF5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481328"/>
            <a:ext cx="2788920" cy="548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14996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28416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&amp; Scale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5361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Month 3–5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01568" y="2212848"/>
            <a:ext cx="109728" cy="109728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21024" y="21488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website launch + DTC Meta/Instagram ads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2852928"/>
            <a:ext cx="109728" cy="109728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7" name="Text 25"/>
          <p:cNvSpPr/>
          <p:nvPr/>
        </p:nvSpPr>
        <p:spPr>
          <a:xfrm>
            <a:off x="3621024" y="278892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/ Sephora partnership listing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3493008"/>
            <a:ext cx="109728" cy="109728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29" name="Text 27"/>
          <p:cNvSpPr/>
          <p:nvPr/>
        </p:nvSpPr>
        <p:spPr>
          <a:xfrm>
            <a:off x="3621024" y="34290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to beauty editors + earned media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1568" y="4133088"/>
            <a:ext cx="109728" cy="109728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31" name="Text 29"/>
          <p:cNvSpPr/>
          <p:nvPr/>
        </p:nvSpPr>
        <p:spPr>
          <a:xfrm>
            <a:off x="3621024" y="406908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targeting competitor keywords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63056" y="1481328"/>
            <a:ext cx="2788920" cy="3364992"/>
          </a:xfrm>
          <a:prstGeom prst="rect">
            <a:avLst/>
          </a:prstGeom>
          <a:solidFill>
            <a:srgbClr val="FDF0E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3056" y="1481328"/>
            <a:ext cx="2788920" cy="54864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4" name="Text 32"/>
          <p:cNvSpPr/>
          <p:nvPr/>
        </p:nvSpPr>
        <p:spPr>
          <a:xfrm>
            <a:off x="6272784" y="14996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72784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 &amp; Grow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065008" y="15361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Month 6+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45936" y="2212848"/>
            <a:ext cx="109728" cy="10972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8" name="Text 36"/>
          <p:cNvSpPr/>
          <p:nvPr/>
        </p:nvSpPr>
        <p:spPr>
          <a:xfrm>
            <a:off x="6565392" y="214884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 activation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5936" y="2852928"/>
            <a:ext cx="109728" cy="10972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278892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program (Glow Points)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45936" y="3493008"/>
            <a:ext cx="109728" cy="10972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42" name="Text 40"/>
          <p:cNvSpPr/>
          <p:nvPr/>
        </p:nvSpPr>
        <p:spPr>
          <a:xfrm>
            <a:off x="6565392" y="34290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D2C expansion (UAE, SEA)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45936" y="4133088"/>
            <a:ext cx="109728" cy="10972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44" name="Text 42"/>
          <p:cNvSpPr/>
          <p:nvPr/>
        </p:nvSpPr>
        <p:spPr>
          <a:xfrm>
            <a:off x="6565392" y="406908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extension (SPF serum, eye serum)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4A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Define Glow-Up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ladders up to one goal: a user who sees visible results and never goes back to 5 products.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4114800" cy="3200400"/>
          </a:xfrm>
          <a:prstGeom prst="rect">
            <a:avLst/>
          </a:prstGeom>
          <a:solidFill>
            <a:srgbClr val="2C4A34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4114800" cy="402336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7373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METRICS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249424"/>
            <a:ext cx="3822192" cy="566928"/>
          </a:xfrm>
          <a:prstGeom prst="rect">
            <a:avLst/>
          </a:prstGeom>
          <a:solidFill>
            <a:srgbClr val="1A2E1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67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5237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55%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95728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9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" y="2907792"/>
            <a:ext cx="3822192" cy="566928"/>
          </a:xfrm>
          <a:prstGeom prst="rect">
            <a:avLst/>
          </a:prstGeom>
          <a:solidFill>
            <a:srgbClr val="1A2E1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Simplification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65%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95728" y="29443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9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dropped 2+ products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0624" y="3566160"/>
            <a:ext cx="3822192" cy="566928"/>
          </a:xfrm>
          <a:prstGeom prst="rect">
            <a:avLst/>
          </a:prstGeom>
          <a:solidFill>
            <a:srgbClr val="1A2E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84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Goal Achievement Score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4.4 / 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95728" y="36027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9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8-week in-app tracker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" y="4224528"/>
            <a:ext cx="3822192" cy="566928"/>
          </a:xfrm>
          <a:prstGeom prst="rect">
            <a:avLst/>
          </a:prstGeom>
          <a:solidFill>
            <a:srgbClr val="1A2E1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42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Conversion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30%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95728" y="42611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9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first buyers to subscribe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1737360"/>
            <a:ext cx="42519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737360"/>
            <a:ext cx="4251960" cy="402336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7373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DIGITAL METRICS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36592" y="2249424"/>
            <a:ext cx="4005072" cy="566928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227685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21808" y="2267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Quiz Completion Rate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21808" y="25237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70%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36592" y="2907792"/>
            <a:ext cx="4005072" cy="566928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29352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21808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(Customer Acquisition Cost)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21808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₹800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36592" y="3566160"/>
            <a:ext cx="4005072" cy="566928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59359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21808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Revenue vs Retail Mix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21808" y="3840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60/40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36592" y="4224528"/>
            <a:ext cx="4005072" cy="566928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425196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21808" y="4242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(Net Promoter Score)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21808" y="4498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65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4A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Sylver Wins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8595360" cy="347472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463040"/>
                <a:gridCol w="1645920"/>
                <a:gridCol w="1280160"/>
                <a:gridCol w="1389888"/>
              </a:tblGrid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Multi-benefit?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Cruelty-Free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Botanicals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D2C 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C4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Sylver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4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 (5-in-1)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4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4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Unique USP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4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4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mid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Ordinary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Single actives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Paula's Choice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Single actives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Kiehl's / Origins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Varies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Retail-first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983480"/>
            <a:ext cx="8595360" cy="73152"/>
          </a:xfrm>
          <a:prstGeom prst="rect">
            <a:avLst/>
          </a:prstGeom>
          <a:solidFill>
            <a:srgbClr val="5A7A62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7183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C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Sylver's moat: the only cruelty-free, multi-benefit, botanically-powered serum built for D2C-first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5A7A6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B892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21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SUMMARY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Sylver Thesis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1170432"/>
          </a:xfrm>
          <a:prstGeom prst="rect">
            <a:avLst/>
          </a:prstGeom>
          <a:solidFill>
            <a:srgbClr val="1A2E1E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63040"/>
            <a:ext cx="128016" cy="1170432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36192"/>
            <a:ext cx="8001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skincare market is drowning in complexity. Sylver wins not by adding more, but by being the confident last step — one bottle that earns permanent shelf space by actually delivering."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41648" cy="658368"/>
          </a:xfrm>
          <a:prstGeom prst="rect">
            <a:avLst/>
          </a:prstGeom>
          <a:solidFill>
            <a:srgbClr val="1A2E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907792"/>
            <a:ext cx="512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907792"/>
            <a:ext cx="32552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is real: skincare overload drives churn and category fatigue, especially among 22–38 urban users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041648" cy="658368"/>
          </a:xfrm>
          <a:prstGeom prst="rect">
            <a:avLst/>
          </a:prstGeom>
          <a:solidFill>
            <a:srgbClr val="1A2E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2907792"/>
            <a:ext cx="512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21808" y="2907792"/>
            <a:ext cx="32552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is differentiated: 4-active stack (Niacinamide + Retinol + Ceramides + Botanicals) is clinically compelling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4041648" cy="658368"/>
          </a:xfrm>
          <a:prstGeom prst="rect">
            <a:avLst/>
          </a:prstGeom>
          <a:solidFill>
            <a:srgbClr val="1A2E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712464"/>
            <a:ext cx="512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3712464"/>
            <a:ext cx="32552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is sequenced: influencer seeding → D2C launch → retail expand → subscription flywheel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639312"/>
            <a:ext cx="4041648" cy="658368"/>
          </a:xfrm>
          <a:prstGeom prst="rect">
            <a:avLst/>
          </a:prstGeom>
          <a:solidFill>
            <a:srgbClr val="1A2E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3712464"/>
            <a:ext cx="512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21808" y="3712464"/>
            <a:ext cx="32552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focus on retention: repeat purchase rate and routine simplification rate are the true north stars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Sylver Skin Care  ·  'Grace your Glow, Glow with Sylver'  ·  PM Portfolio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Sylver Skin Care — Product Launch PRD</dc:title>
  <dc:subject>PptxGenJS Presentation</dc:subject>
  <dc:creator>PptxGenJS</dc:creator>
  <cp:lastModifiedBy>PptxGenJS</cp:lastModifiedBy>
  <cp:revision>1</cp:revision>
  <dcterms:created xsi:type="dcterms:W3CDTF">2026-04-04T04:31:33Z</dcterms:created>
  <dcterms:modified xsi:type="dcterms:W3CDTF">2026-04-04T04:31:33Z</dcterms:modified>
</cp:coreProperties>
</file>